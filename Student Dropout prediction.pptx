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59" r:id="rId4"/>
    <p:sldId id="262" r:id="rId5"/>
    <p:sldId id="260" r:id="rId6"/>
    <p:sldId id="261" r:id="rId7"/>
    <p:sldId id="263" r:id="rId8"/>
    <p:sldId id="266" r:id="rId9"/>
    <p:sldId id="265" r:id="rId10"/>
    <p:sldId id="276" r:id="rId11"/>
    <p:sldId id="267" r:id="rId12"/>
    <p:sldId id="268" r:id="rId13"/>
    <p:sldId id="269" r:id="rId14"/>
    <p:sldId id="270" r:id="rId15"/>
    <p:sldId id="273" r:id="rId16"/>
    <p:sldId id="274" r:id="rId17"/>
    <p:sldId id="275" r:id="rId18"/>
    <p:sldId id="271" r:id="rId19"/>
    <p:sldId id="272" r:id="rId20"/>
    <p:sldId id="277" r:id="rId21"/>
    <p:sldId id="264"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15F9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4" d="100"/>
          <a:sy n="74" d="100"/>
        </p:scale>
        <p:origin x="1042"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324B62F-1D1E-4552-8DB8-71EA37B7C556}" type="doc">
      <dgm:prSet loTypeId="urn:microsoft.com/office/officeart/2005/8/layout/list1" loCatId="list" qsTypeId="urn:microsoft.com/office/officeart/2005/8/quickstyle/simple1" qsCatId="simple" csTypeId="urn:microsoft.com/office/officeart/2005/8/colors/colorful1" csCatId="colorful"/>
      <dgm:spPr/>
      <dgm:t>
        <a:bodyPr/>
        <a:lstStyle/>
        <a:p>
          <a:endParaRPr lang="en-US"/>
        </a:p>
      </dgm:t>
    </dgm:pt>
    <dgm:pt modelId="{3556B05E-0284-458D-A5F5-EF1AF46F915A}">
      <dgm:prSet custT="1"/>
      <dgm:spPr/>
      <dgm:t>
        <a:bodyPr/>
        <a:lstStyle/>
        <a:p>
          <a:r>
            <a:rPr lang="en-GB" sz="2800">
              <a:latin typeface="Times New Roman" panose="02020603050405020304" pitchFamily="18" charset="0"/>
              <a:cs typeface="Times New Roman" panose="02020603050405020304" pitchFamily="18" charset="0"/>
            </a:rPr>
            <a:t>Data quality &amp; imbalance </a:t>
          </a:r>
          <a:endParaRPr lang="en-US" sz="2800">
            <a:latin typeface="Times New Roman" panose="02020603050405020304" pitchFamily="18" charset="0"/>
            <a:cs typeface="Times New Roman" panose="02020603050405020304" pitchFamily="18" charset="0"/>
          </a:endParaRPr>
        </a:p>
      </dgm:t>
    </dgm:pt>
    <dgm:pt modelId="{1B7ABC00-7653-45D5-B870-AFF75E66376C}" type="parTrans" cxnId="{2662F5FC-0CCC-4C58-B009-9A84548DF4DA}">
      <dgm:prSet/>
      <dgm:spPr/>
      <dgm:t>
        <a:bodyPr/>
        <a:lstStyle/>
        <a:p>
          <a:endParaRPr lang="en-US"/>
        </a:p>
      </dgm:t>
    </dgm:pt>
    <dgm:pt modelId="{BF8E4372-B85D-4002-A17F-9E43A7C0115B}" type="sibTrans" cxnId="{2662F5FC-0CCC-4C58-B009-9A84548DF4DA}">
      <dgm:prSet/>
      <dgm:spPr/>
      <dgm:t>
        <a:bodyPr/>
        <a:lstStyle/>
        <a:p>
          <a:endParaRPr lang="en-US"/>
        </a:p>
      </dgm:t>
    </dgm:pt>
    <dgm:pt modelId="{DAE68B35-D9A5-452C-9FCB-D1D0C7E0655A}">
      <dgm:prSet custT="1"/>
      <dgm:spPr/>
      <dgm:t>
        <a:bodyPr/>
        <a:lstStyle/>
        <a:p>
          <a:r>
            <a:rPr lang="en-GB" sz="2800">
              <a:latin typeface="Times New Roman" panose="02020603050405020304" pitchFamily="18" charset="0"/>
              <a:cs typeface="Times New Roman" panose="02020603050405020304" pitchFamily="18" charset="0"/>
            </a:rPr>
            <a:t>Model assumptions (LDA) </a:t>
          </a:r>
          <a:endParaRPr lang="en-US" sz="2800">
            <a:latin typeface="Times New Roman" panose="02020603050405020304" pitchFamily="18" charset="0"/>
            <a:cs typeface="Times New Roman" panose="02020603050405020304" pitchFamily="18" charset="0"/>
          </a:endParaRPr>
        </a:p>
      </dgm:t>
    </dgm:pt>
    <dgm:pt modelId="{F94B22EE-CF6E-4B12-8DD3-CA803E3AC434}" type="parTrans" cxnId="{1BE8DC51-7D86-472A-9D30-058A4637DCFB}">
      <dgm:prSet/>
      <dgm:spPr/>
      <dgm:t>
        <a:bodyPr/>
        <a:lstStyle/>
        <a:p>
          <a:endParaRPr lang="en-US"/>
        </a:p>
      </dgm:t>
    </dgm:pt>
    <dgm:pt modelId="{D1DF1592-7982-4CC2-BB04-B26698A33AF4}" type="sibTrans" cxnId="{1BE8DC51-7D86-472A-9D30-058A4637DCFB}">
      <dgm:prSet/>
      <dgm:spPr/>
      <dgm:t>
        <a:bodyPr/>
        <a:lstStyle/>
        <a:p>
          <a:endParaRPr lang="en-US"/>
        </a:p>
      </dgm:t>
    </dgm:pt>
    <dgm:pt modelId="{CFED8515-3DA4-4127-B84B-EBBDB9D4676C}">
      <dgm:prSet custT="1"/>
      <dgm:spPr/>
      <dgm:t>
        <a:bodyPr/>
        <a:lstStyle/>
        <a:p>
          <a:r>
            <a:rPr lang="en-GB" sz="2800">
              <a:latin typeface="Times New Roman" panose="02020603050405020304" pitchFamily="18" charset="0"/>
              <a:cs typeface="Times New Roman" panose="02020603050405020304" pitchFamily="18" charset="0"/>
            </a:rPr>
            <a:t>Limited real-world features </a:t>
          </a:r>
          <a:endParaRPr lang="en-US" sz="2800">
            <a:latin typeface="Times New Roman" panose="02020603050405020304" pitchFamily="18" charset="0"/>
            <a:cs typeface="Times New Roman" panose="02020603050405020304" pitchFamily="18" charset="0"/>
          </a:endParaRPr>
        </a:p>
      </dgm:t>
    </dgm:pt>
    <dgm:pt modelId="{F634A2D4-BE6C-41CC-B537-F87B435CC313}" type="parTrans" cxnId="{DD55943E-1057-4492-9998-4D6764105141}">
      <dgm:prSet/>
      <dgm:spPr/>
      <dgm:t>
        <a:bodyPr/>
        <a:lstStyle/>
        <a:p>
          <a:endParaRPr lang="en-US"/>
        </a:p>
      </dgm:t>
    </dgm:pt>
    <dgm:pt modelId="{B0D07B41-582B-48F2-8C28-F4401DA4738B}" type="sibTrans" cxnId="{DD55943E-1057-4492-9998-4D6764105141}">
      <dgm:prSet/>
      <dgm:spPr/>
      <dgm:t>
        <a:bodyPr/>
        <a:lstStyle/>
        <a:p>
          <a:endParaRPr lang="en-US"/>
        </a:p>
      </dgm:t>
    </dgm:pt>
    <dgm:pt modelId="{C485E4FF-E207-4810-A20D-D5EE2B97418C}">
      <dgm:prSet custT="1"/>
      <dgm:spPr/>
      <dgm:t>
        <a:bodyPr/>
        <a:lstStyle/>
        <a:p>
          <a:r>
            <a:rPr lang="en-GB" sz="2800">
              <a:latin typeface="Times New Roman" panose="02020603050405020304" pitchFamily="18" charset="0"/>
              <a:cs typeface="Times New Roman" panose="02020603050405020304" pitchFamily="18" charset="0"/>
            </a:rPr>
            <a:t>Overfitting &amp; interpretability trade-off  </a:t>
          </a:r>
          <a:endParaRPr lang="en-US" sz="2800">
            <a:latin typeface="Times New Roman" panose="02020603050405020304" pitchFamily="18" charset="0"/>
            <a:cs typeface="Times New Roman" panose="02020603050405020304" pitchFamily="18" charset="0"/>
          </a:endParaRPr>
        </a:p>
      </dgm:t>
    </dgm:pt>
    <dgm:pt modelId="{E6FE8209-CD6D-4B86-88C0-2567C003E838}" type="parTrans" cxnId="{B0C5C4EF-CAF1-4735-96A3-E860F76FC945}">
      <dgm:prSet/>
      <dgm:spPr/>
      <dgm:t>
        <a:bodyPr/>
        <a:lstStyle/>
        <a:p>
          <a:endParaRPr lang="en-US"/>
        </a:p>
      </dgm:t>
    </dgm:pt>
    <dgm:pt modelId="{88CED002-30B5-4E3C-87D8-7FC3EAE4DF29}" type="sibTrans" cxnId="{B0C5C4EF-CAF1-4735-96A3-E860F76FC945}">
      <dgm:prSet/>
      <dgm:spPr/>
      <dgm:t>
        <a:bodyPr/>
        <a:lstStyle/>
        <a:p>
          <a:endParaRPr lang="en-US"/>
        </a:p>
      </dgm:t>
    </dgm:pt>
    <dgm:pt modelId="{B1E53046-2F36-4694-8631-192469A8DE38}">
      <dgm:prSet custT="1"/>
      <dgm:spPr/>
      <dgm:t>
        <a:bodyPr/>
        <a:lstStyle/>
        <a:p>
          <a:r>
            <a:rPr lang="en-GB" sz="2800">
              <a:latin typeface="Times New Roman" panose="02020603050405020304" pitchFamily="18" charset="0"/>
              <a:cs typeface="Times New Roman" panose="02020603050405020304" pitchFamily="18" charset="0"/>
            </a:rPr>
            <a:t>Privacy &amp; deployment issues</a:t>
          </a:r>
          <a:endParaRPr lang="en-US" sz="2800">
            <a:latin typeface="Times New Roman" panose="02020603050405020304" pitchFamily="18" charset="0"/>
            <a:cs typeface="Times New Roman" panose="02020603050405020304" pitchFamily="18" charset="0"/>
          </a:endParaRPr>
        </a:p>
      </dgm:t>
    </dgm:pt>
    <dgm:pt modelId="{9DC93A4A-CD22-4B76-A190-8E1014159C94}" type="parTrans" cxnId="{F7933F80-6AF1-45D5-A96C-55BEE48522BC}">
      <dgm:prSet/>
      <dgm:spPr/>
      <dgm:t>
        <a:bodyPr/>
        <a:lstStyle/>
        <a:p>
          <a:endParaRPr lang="en-US"/>
        </a:p>
      </dgm:t>
    </dgm:pt>
    <dgm:pt modelId="{CA7027F8-CA5E-4838-9A39-CBDC4F368462}" type="sibTrans" cxnId="{F7933F80-6AF1-45D5-A96C-55BEE48522BC}">
      <dgm:prSet/>
      <dgm:spPr/>
      <dgm:t>
        <a:bodyPr/>
        <a:lstStyle/>
        <a:p>
          <a:endParaRPr lang="en-US"/>
        </a:p>
      </dgm:t>
    </dgm:pt>
    <dgm:pt modelId="{8D3DF6F0-EC9D-450A-B45F-FA006B7A0D7F}" type="pres">
      <dgm:prSet presAssocID="{2324B62F-1D1E-4552-8DB8-71EA37B7C556}" presName="linear" presStyleCnt="0">
        <dgm:presLayoutVars>
          <dgm:dir/>
          <dgm:animLvl val="lvl"/>
          <dgm:resizeHandles val="exact"/>
        </dgm:presLayoutVars>
      </dgm:prSet>
      <dgm:spPr/>
    </dgm:pt>
    <dgm:pt modelId="{DF33C137-ECE6-44C4-94B6-075178877E10}" type="pres">
      <dgm:prSet presAssocID="{3556B05E-0284-458D-A5F5-EF1AF46F915A}" presName="parentLin" presStyleCnt="0"/>
      <dgm:spPr/>
    </dgm:pt>
    <dgm:pt modelId="{B9DE9C13-69ED-4AAC-88AC-DD0B410A3D21}" type="pres">
      <dgm:prSet presAssocID="{3556B05E-0284-458D-A5F5-EF1AF46F915A}" presName="parentLeftMargin" presStyleLbl="node1" presStyleIdx="0" presStyleCnt="5"/>
      <dgm:spPr/>
    </dgm:pt>
    <dgm:pt modelId="{951DF986-876B-4DF9-AC79-2E2E92CBDF45}" type="pres">
      <dgm:prSet presAssocID="{3556B05E-0284-458D-A5F5-EF1AF46F915A}" presName="parentText" presStyleLbl="node1" presStyleIdx="0" presStyleCnt="5">
        <dgm:presLayoutVars>
          <dgm:chMax val="0"/>
          <dgm:bulletEnabled val="1"/>
        </dgm:presLayoutVars>
      </dgm:prSet>
      <dgm:spPr/>
    </dgm:pt>
    <dgm:pt modelId="{2AF010A4-6543-4553-9B90-5781652EA180}" type="pres">
      <dgm:prSet presAssocID="{3556B05E-0284-458D-A5F5-EF1AF46F915A}" presName="negativeSpace" presStyleCnt="0"/>
      <dgm:spPr/>
    </dgm:pt>
    <dgm:pt modelId="{DBA72957-0CA7-49B8-B5EB-08396D33E304}" type="pres">
      <dgm:prSet presAssocID="{3556B05E-0284-458D-A5F5-EF1AF46F915A}" presName="childText" presStyleLbl="conFgAcc1" presStyleIdx="0" presStyleCnt="5">
        <dgm:presLayoutVars>
          <dgm:bulletEnabled val="1"/>
        </dgm:presLayoutVars>
      </dgm:prSet>
      <dgm:spPr/>
    </dgm:pt>
    <dgm:pt modelId="{C3A9C4AC-39FC-449B-9C6B-96A23218C74F}" type="pres">
      <dgm:prSet presAssocID="{BF8E4372-B85D-4002-A17F-9E43A7C0115B}" presName="spaceBetweenRectangles" presStyleCnt="0"/>
      <dgm:spPr/>
    </dgm:pt>
    <dgm:pt modelId="{248B99E0-08D5-4FC2-A0F7-471C6FFDCEF7}" type="pres">
      <dgm:prSet presAssocID="{DAE68B35-D9A5-452C-9FCB-D1D0C7E0655A}" presName="parentLin" presStyleCnt="0"/>
      <dgm:spPr/>
    </dgm:pt>
    <dgm:pt modelId="{D252590C-97E4-4305-B386-903E7CF3AF38}" type="pres">
      <dgm:prSet presAssocID="{DAE68B35-D9A5-452C-9FCB-D1D0C7E0655A}" presName="parentLeftMargin" presStyleLbl="node1" presStyleIdx="0" presStyleCnt="5"/>
      <dgm:spPr/>
    </dgm:pt>
    <dgm:pt modelId="{CCEBD960-F660-4F8B-8554-64DCC620B9A4}" type="pres">
      <dgm:prSet presAssocID="{DAE68B35-D9A5-452C-9FCB-D1D0C7E0655A}" presName="parentText" presStyleLbl="node1" presStyleIdx="1" presStyleCnt="5">
        <dgm:presLayoutVars>
          <dgm:chMax val="0"/>
          <dgm:bulletEnabled val="1"/>
        </dgm:presLayoutVars>
      </dgm:prSet>
      <dgm:spPr/>
    </dgm:pt>
    <dgm:pt modelId="{D0529BF8-F2B7-462D-B55C-F5EFD1889EBD}" type="pres">
      <dgm:prSet presAssocID="{DAE68B35-D9A5-452C-9FCB-D1D0C7E0655A}" presName="negativeSpace" presStyleCnt="0"/>
      <dgm:spPr/>
    </dgm:pt>
    <dgm:pt modelId="{1550A0F8-36F5-408D-BDF9-6299D1EBD80C}" type="pres">
      <dgm:prSet presAssocID="{DAE68B35-D9A5-452C-9FCB-D1D0C7E0655A}" presName="childText" presStyleLbl="conFgAcc1" presStyleIdx="1" presStyleCnt="5">
        <dgm:presLayoutVars>
          <dgm:bulletEnabled val="1"/>
        </dgm:presLayoutVars>
      </dgm:prSet>
      <dgm:spPr/>
    </dgm:pt>
    <dgm:pt modelId="{F028BBA9-FF93-45AD-B9CA-23C625E8EA4A}" type="pres">
      <dgm:prSet presAssocID="{D1DF1592-7982-4CC2-BB04-B26698A33AF4}" presName="spaceBetweenRectangles" presStyleCnt="0"/>
      <dgm:spPr/>
    </dgm:pt>
    <dgm:pt modelId="{3703470F-6DE8-4F3F-A8DA-00F215DD98DC}" type="pres">
      <dgm:prSet presAssocID="{CFED8515-3DA4-4127-B84B-EBBDB9D4676C}" presName="parentLin" presStyleCnt="0"/>
      <dgm:spPr/>
    </dgm:pt>
    <dgm:pt modelId="{BA31EFDA-2559-4225-9A2A-276BE002A734}" type="pres">
      <dgm:prSet presAssocID="{CFED8515-3DA4-4127-B84B-EBBDB9D4676C}" presName="parentLeftMargin" presStyleLbl="node1" presStyleIdx="1" presStyleCnt="5"/>
      <dgm:spPr/>
    </dgm:pt>
    <dgm:pt modelId="{5FA8D8D4-5A24-4DBF-9BB0-2F6223B63623}" type="pres">
      <dgm:prSet presAssocID="{CFED8515-3DA4-4127-B84B-EBBDB9D4676C}" presName="parentText" presStyleLbl="node1" presStyleIdx="2" presStyleCnt="5">
        <dgm:presLayoutVars>
          <dgm:chMax val="0"/>
          <dgm:bulletEnabled val="1"/>
        </dgm:presLayoutVars>
      </dgm:prSet>
      <dgm:spPr/>
    </dgm:pt>
    <dgm:pt modelId="{911498F6-B349-46AB-A7F8-654093480E61}" type="pres">
      <dgm:prSet presAssocID="{CFED8515-3DA4-4127-B84B-EBBDB9D4676C}" presName="negativeSpace" presStyleCnt="0"/>
      <dgm:spPr/>
    </dgm:pt>
    <dgm:pt modelId="{93D5C888-9175-47D2-BCA5-3C3E6B0BCF2F}" type="pres">
      <dgm:prSet presAssocID="{CFED8515-3DA4-4127-B84B-EBBDB9D4676C}" presName="childText" presStyleLbl="conFgAcc1" presStyleIdx="2" presStyleCnt="5">
        <dgm:presLayoutVars>
          <dgm:bulletEnabled val="1"/>
        </dgm:presLayoutVars>
      </dgm:prSet>
      <dgm:spPr/>
    </dgm:pt>
    <dgm:pt modelId="{8EC9BEA0-9FCD-4EEC-89FE-D5D5903D0ADD}" type="pres">
      <dgm:prSet presAssocID="{B0D07B41-582B-48F2-8C28-F4401DA4738B}" presName="spaceBetweenRectangles" presStyleCnt="0"/>
      <dgm:spPr/>
    </dgm:pt>
    <dgm:pt modelId="{FA480E84-508B-4ABB-9A6B-D7873C8A5167}" type="pres">
      <dgm:prSet presAssocID="{C485E4FF-E207-4810-A20D-D5EE2B97418C}" presName="parentLin" presStyleCnt="0"/>
      <dgm:spPr/>
    </dgm:pt>
    <dgm:pt modelId="{EE51B8A5-4F4C-4BA6-A52C-7B4E661C8344}" type="pres">
      <dgm:prSet presAssocID="{C485E4FF-E207-4810-A20D-D5EE2B97418C}" presName="parentLeftMargin" presStyleLbl="node1" presStyleIdx="2" presStyleCnt="5"/>
      <dgm:spPr/>
    </dgm:pt>
    <dgm:pt modelId="{E01D176F-2643-46D5-BC4A-4A7B3D0F212A}" type="pres">
      <dgm:prSet presAssocID="{C485E4FF-E207-4810-A20D-D5EE2B97418C}" presName="parentText" presStyleLbl="node1" presStyleIdx="3" presStyleCnt="5">
        <dgm:presLayoutVars>
          <dgm:chMax val="0"/>
          <dgm:bulletEnabled val="1"/>
        </dgm:presLayoutVars>
      </dgm:prSet>
      <dgm:spPr/>
    </dgm:pt>
    <dgm:pt modelId="{2A29E78D-2CD0-4B65-ADC6-5A11AD21131A}" type="pres">
      <dgm:prSet presAssocID="{C485E4FF-E207-4810-A20D-D5EE2B97418C}" presName="negativeSpace" presStyleCnt="0"/>
      <dgm:spPr/>
    </dgm:pt>
    <dgm:pt modelId="{FF912136-020C-48A4-A2E4-8797DF77FBAF}" type="pres">
      <dgm:prSet presAssocID="{C485E4FF-E207-4810-A20D-D5EE2B97418C}" presName="childText" presStyleLbl="conFgAcc1" presStyleIdx="3" presStyleCnt="5">
        <dgm:presLayoutVars>
          <dgm:bulletEnabled val="1"/>
        </dgm:presLayoutVars>
      </dgm:prSet>
      <dgm:spPr/>
    </dgm:pt>
    <dgm:pt modelId="{6BC2D4EF-73AB-45BF-A2EE-8190F1952331}" type="pres">
      <dgm:prSet presAssocID="{88CED002-30B5-4E3C-87D8-7FC3EAE4DF29}" presName="spaceBetweenRectangles" presStyleCnt="0"/>
      <dgm:spPr/>
    </dgm:pt>
    <dgm:pt modelId="{A2ADA53B-8B8E-45A3-8B8B-A07D543A3ED8}" type="pres">
      <dgm:prSet presAssocID="{B1E53046-2F36-4694-8631-192469A8DE38}" presName="parentLin" presStyleCnt="0"/>
      <dgm:spPr/>
    </dgm:pt>
    <dgm:pt modelId="{845639F7-1C2F-4828-8893-7125288FD627}" type="pres">
      <dgm:prSet presAssocID="{B1E53046-2F36-4694-8631-192469A8DE38}" presName="parentLeftMargin" presStyleLbl="node1" presStyleIdx="3" presStyleCnt="5"/>
      <dgm:spPr/>
    </dgm:pt>
    <dgm:pt modelId="{7B3AED32-4A91-4FC5-A5B0-15617CFE3FF1}" type="pres">
      <dgm:prSet presAssocID="{B1E53046-2F36-4694-8631-192469A8DE38}" presName="parentText" presStyleLbl="node1" presStyleIdx="4" presStyleCnt="5">
        <dgm:presLayoutVars>
          <dgm:chMax val="0"/>
          <dgm:bulletEnabled val="1"/>
        </dgm:presLayoutVars>
      </dgm:prSet>
      <dgm:spPr/>
    </dgm:pt>
    <dgm:pt modelId="{D0C99731-056F-4D4B-9938-3494334F3E3C}" type="pres">
      <dgm:prSet presAssocID="{B1E53046-2F36-4694-8631-192469A8DE38}" presName="negativeSpace" presStyleCnt="0"/>
      <dgm:spPr/>
    </dgm:pt>
    <dgm:pt modelId="{9971FCA0-8C66-452D-80F5-AE6008A93A19}" type="pres">
      <dgm:prSet presAssocID="{B1E53046-2F36-4694-8631-192469A8DE38}" presName="childText" presStyleLbl="conFgAcc1" presStyleIdx="4" presStyleCnt="5">
        <dgm:presLayoutVars>
          <dgm:bulletEnabled val="1"/>
        </dgm:presLayoutVars>
      </dgm:prSet>
      <dgm:spPr/>
    </dgm:pt>
  </dgm:ptLst>
  <dgm:cxnLst>
    <dgm:cxn modelId="{C70FE431-0FB9-44D6-AF16-138EFC34E1A5}" type="presOf" srcId="{CFED8515-3DA4-4127-B84B-EBBDB9D4676C}" destId="{5FA8D8D4-5A24-4DBF-9BB0-2F6223B63623}" srcOrd="1" destOrd="0" presId="urn:microsoft.com/office/officeart/2005/8/layout/list1"/>
    <dgm:cxn modelId="{DD55943E-1057-4492-9998-4D6764105141}" srcId="{2324B62F-1D1E-4552-8DB8-71EA37B7C556}" destId="{CFED8515-3DA4-4127-B84B-EBBDB9D4676C}" srcOrd="2" destOrd="0" parTransId="{F634A2D4-BE6C-41CC-B537-F87B435CC313}" sibTransId="{B0D07B41-582B-48F2-8C28-F4401DA4738B}"/>
    <dgm:cxn modelId="{B4A1903F-935D-476E-9023-9B93DCB9AB4E}" type="presOf" srcId="{DAE68B35-D9A5-452C-9FCB-D1D0C7E0655A}" destId="{D252590C-97E4-4305-B386-903E7CF3AF38}" srcOrd="0" destOrd="0" presId="urn:microsoft.com/office/officeart/2005/8/layout/list1"/>
    <dgm:cxn modelId="{67EB3D5E-709C-43C7-9AD3-60BC46891299}" type="presOf" srcId="{B1E53046-2F36-4694-8631-192469A8DE38}" destId="{7B3AED32-4A91-4FC5-A5B0-15617CFE3FF1}" srcOrd="1" destOrd="0" presId="urn:microsoft.com/office/officeart/2005/8/layout/list1"/>
    <dgm:cxn modelId="{1BE8DC51-7D86-472A-9D30-058A4637DCFB}" srcId="{2324B62F-1D1E-4552-8DB8-71EA37B7C556}" destId="{DAE68B35-D9A5-452C-9FCB-D1D0C7E0655A}" srcOrd="1" destOrd="0" parTransId="{F94B22EE-CF6E-4B12-8DD3-CA803E3AC434}" sibTransId="{D1DF1592-7982-4CC2-BB04-B26698A33AF4}"/>
    <dgm:cxn modelId="{F7933F80-6AF1-45D5-A96C-55BEE48522BC}" srcId="{2324B62F-1D1E-4552-8DB8-71EA37B7C556}" destId="{B1E53046-2F36-4694-8631-192469A8DE38}" srcOrd="4" destOrd="0" parTransId="{9DC93A4A-CD22-4B76-A190-8E1014159C94}" sibTransId="{CA7027F8-CA5E-4838-9A39-CBDC4F368462}"/>
    <dgm:cxn modelId="{ABDA2D8C-6120-4261-BC8A-F8A1375AA965}" type="presOf" srcId="{CFED8515-3DA4-4127-B84B-EBBDB9D4676C}" destId="{BA31EFDA-2559-4225-9A2A-276BE002A734}" srcOrd="0" destOrd="0" presId="urn:microsoft.com/office/officeart/2005/8/layout/list1"/>
    <dgm:cxn modelId="{807BC9BB-D04B-44CF-9559-3DBEEF251A78}" type="presOf" srcId="{DAE68B35-D9A5-452C-9FCB-D1D0C7E0655A}" destId="{CCEBD960-F660-4F8B-8554-64DCC620B9A4}" srcOrd="1" destOrd="0" presId="urn:microsoft.com/office/officeart/2005/8/layout/list1"/>
    <dgm:cxn modelId="{614E94C9-674B-428E-B1C2-89905EAC4DD0}" type="presOf" srcId="{3556B05E-0284-458D-A5F5-EF1AF46F915A}" destId="{B9DE9C13-69ED-4AAC-88AC-DD0B410A3D21}" srcOrd="0" destOrd="0" presId="urn:microsoft.com/office/officeart/2005/8/layout/list1"/>
    <dgm:cxn modelId="{8E7102CA-4892-408D-9FBE-7DBB771CFBD4}" type="presOf" srcId="{C485E4FF-E207-4810-A20D-D5EE2B97418C}" destId="{EE51B8A5-4F4C-4BA6-A52C-7B4E661C8344}" srcOrd="0" destOrd="0" presId="urn:microsoft.com/office/officeart/2005/8/layout/list1"/>
    <dgm:cxn modelId="{E3628FCF-138B-426D-9515-89848234CC6D}" type="presOf" srcId="{2324B62F-1D1E-4552-8DB8-71EA37B7C556}" destId="{8D3DF6F0-EC9D-450A-B45F-FA006B7A0D7F}" srcOrd="0" destOrd="0" presId="urn:microsoft.com/office/officeart/2005/8/layout/list1"/>
    <dgm:cxn modelId="{D3D968D8-3085-4900-82B4-511768026E11}" type="presOf" srcId="{3556B05E-0284-458D-A5F5-EF1AF46F915A}" destId="{951DF986-876B-4DF9-AC79-2E2E92CBDF45}" srcOrd="1" destOrd="0" presId="urn:microsoft.com/office/officeart/2005/8/layout/list1"/>
    <dgm:cxn modelId="{B5AFB5DE-5D4B-4750-BCB1-C93B52174D8C}" type="presOf" srcId="{B1E53046-2F36-4694-8631-192469A8DE38}" destId="{845639F7-1C2F-4828-8893-7125288FD627}" srcOrd="0" destOrd="0" presId="urn:microsoft.com/office/officeart/2005/8/layout/list1"/>
    <dgm:cxn modelId="{83B168EA-6FFE-4F8C-9B1D-9ECCC7A7A3D6}" type="presOf" srcId="{C485E4FF-E207-4810-A20D-D5EE2B97418C}" destId="{E01D176F-2643-46D5-BC4A-4A7B3D0F212A}" srcOrd="1" destOrd="0" presId="urn:microsoft.com/office/officeart/2005/8/layout/list1"/>
    <dgm:cxn modelId="{B0C5C4EF-CAF1-4735-96A3-E860F76FC945}" srcId="{2324B62F-1D1E-4552-8DB8-71EA37B7C556}" destId="{C485E4FF-E207-4810-A20D-D5EE2B97418C}" srcOrd="3" destOrd="0" parTransId="{E6FE8209-CD6D-4B86-88C0-2567C003E838}" sibTransId="{88CED002-30B5-4E3C-87D8-7FC3EAE4DF29}"/>
    <dgm:cxn modelId="{2662F5FC-0CCC-4C58-B009-9A84548DF4DA}" srcId="{2324B62F-1D1E-4552-8DB8-71EA37B7C556}" destId="{3556B05E-0284-458D-A5F5-EF1AF46F915A}" srcOrd="0" destOrd="0" parTransId="{1B7ABC00-7653-45D5-B870-AFF75E66376C}" sibTransId="{BF8E4372-B85D-4002-A17F-9E43A7C0115B}"/>
    <dgm:cxn modelId="{1C7756D0-AD0A-4BD9-8B2B-776AA9C445BD}" type="presParOf" srcId="{8D3DF6F0-EC9D-450A-B45F-FA006B7A0D7F}" destId="{DF33C137-ECE6-44C4-94B6-075178877E10}" srcOrd="0" destOrd="0" presId="urn:microsoft.com/office/officeart/2005/8/layout/list1"/>
    <dgm:cxn modelId="{E2E41F1A-FAE0-4BB0-B7CA-D2A10AAA5060}" type="presParOf" srcId="{DF33C137-ECE6-44C4-94B6-075178877E10}" destId="{B9DE9C13-69ED-4AAC-88AC-DD0B410A3D21}" srcOrd="0" destOrd="0" presId="urn:microsoft.com/office/officeart/2005/8/layout/list1"/>
    <dgm:cxn modelId="{D0332DA5-AB9E-4CB6-AE0D-032DA88141B4}" type="presParOf" srcId="{DF33C137-ECE6-44C4-94B6-075178877E10}" destId="{951DF986-876B-4DF9-AC79-2E2E92CBDF45}" srcOrd="1" destOrd="0" presId="urn:microsoft.com/office/officeart/2005/8/layout/list1"/>
    <dgm:cxn modelId="{F001EA8A-CDD3-48A4-9E3A-3F80C77DBB04}" type="presParOf" srcId="{8D3DF6F0-EC9D-450A-B45F-FA006B7A0D7F}" destId="{2AF010A4-6543-4553-9B90-5781652EA180}" srcOrd="1" destOrd="0" presId="urn:microsoft.com/office/officeart/2005/8/layout/list1"/>
    <dgm:cxn modelId="{0FE75470-6C80-4C3A-8279-601ABC7BE826}" type="presParOf" srcId="{8D3DF6F0-EC9D-450A-B45F-FA006B7A0D7F}" destId="{DBA72957-0CA7-49B8-B5EB-08396D33E304}" srcOrd="2" destOrd="0" presId="urn:microsoft.com/office/officeart/2005/8/layout/list1"/>
    <dgm:cxn modelId="{D70849FF-83A8-481A-8EC7-423DBE0EE585}" type="presParOf" srcId="{8D3DF6F0-EC9D-450A-B45F-FA006B7A0D7F}" destId="{C3A9C4AC-39FC-449B-9C6B-96A23218C74F}" srcOrd="3" destOrd="0" presId="urn:microsoft.com/office/officeart/2005/8/layout/list1"/>
    <dgm:cxn modelId="{57C47796-AEFB-4664-9558-121543561649}" type="presParOf" srcId="{8D3DF6F0-EC9D-450A-B45F-FA006B7A0D7F}" destId="{248B99E0-08D5-4FC2-A0F7-471C6FFDCEF7}" srcOrd="4" destOrd="0" presId="urn:microsoft.com/office/officeart/2005/8/layout/list1"/>
    <dgm:cxn modelId="{3DDE1A8E-D140-49EF-8265-C6A0C17856DA}" type="presParOf" srcId="{248B99E0-08D5-4FC2-A0F7-471C6FFDCEF7}" destId="{D252590C-97E4-4305-B386-903E7CF3AF38}" srcOrd="0" destOrd="0" presId="urn:microsoft.com/office/officeart/2005/8/layout/list1"/>
    <dgm:cxn modelId="{28DE0FC2-B1CA-4C48-924B-192D57588416}" type="presParOf" srcId="{248B99E0-08D5-4FC2-A0F7-471C6FFDCEF7}" destId="{CCEBD960-F660-4F8B-8554-64DCC620B9A4}" srcOrd="1" destOrd="0" presId="urn:microsoft.com/office/officeart/2005/8/layout/list1"/>
    <dgm:cxn modelId="{1A1B268D-296E-4081-B92F-60E339F0858F}" type="presParOf" srcId="{8D3DF6F0-EC9D-450A-B45F-FA006B7A0D7F}" destId="{D0529BF8-F2B7-462D-B55C-F5EFD1889EBD}" srcOrd="5" destOrd="0" presId="urn:microsoft.com/office/officeart/2005/8/layout/list1"/>
    <dgm:cxn modelId="{1C61CF38-03A0-4037-9938-179D8154C77E}" type="presParOf" srcId="{8D3DF6F0-EC9D-450A-B45F-FA006B7A0D7F}" destId="{1550A0F8-36F5-408D-BDF9-6299D1EBD80C}" srcOrd="6" destOrd="0" presId="urn:microsoft.com/office/officeart/2005/8/layout/list1"/>
    <dgm:cxn modelId="{91A51B39-7346-4922-8175-22056AE1BBE2}" type="presParOf" srcId="{8D3DF6F0-EC9D-450A-B45F-FA006B7A0D7F}" destId="{F028BBA9-FF93-45AD-B9CA-23C625E8EA4A}" srcOrd="7" destOrd="0" presId="urn:microsoft.com/office/officeart/2005/8/layout/list1"/>
    <dgm:cxn modelId="{699B8FBB-B33E-4F3D-A655-E313518A313A}" type="presParOf" srcId="{8D3DF6F0-EC9D-450A-B45F-FA006B7A0D7F}" destId="{3703470F-6DE8-4F3F-A8DA-00F215DD98DC}" srcOrd="8" destOrd="0" presId="urn:microsoft.com/office/officeart/2005/8/layout/list1"/>
    <dgm:cxn modelId="{A506031F-E049-45F4-A30A-CD6935CDAC35}" type="presParOf" srcId="{3703470F-6DE8-4F3F-A8DA-00F215DD98DC}" destId="{BA31EFDA-2559-4225-9A2A-276BE002A734}" srcOrd="0" destOrd="0" presId="urn:microsoft.com/office/officeart/2005/8/layout/list1"/>
    <dgm:cxn modelId="{7C98865A-98DA-4C1D-A9B6-AD4A96851566}" type="presParOf" srcId="{3703470F-6DE8-4F3F-A8DA-00F215DD98DC}" destId="{5FA8D8D4-5A24-4DBF-9BB0-2F6223B63623}" srcOrd="1" destOrd="0" presId="urn:microsoft.com/office/officeart/2005/8/layout/list1"/>
    <dgm:cxn modelId="{015C9DC8-ACA5-428D-9414-AD9FDC75635E}" type="presParOf" srcId="{8D3DF6F0-EC9D-450A-B45F-FA006B7A0D7F}" destId="{911498F6-B349-46AB-A7F8-654093480E61}" srcOrd="9" destOrd="0" presId="urn:microsoft.com/office/officeart/2005/8/layout/list1"/>
    <dgm:cxn modelId="{DCCEA416-C280-44CB-9E69-02801D4CEDBB}" type="presParOf" srcId="{8D3DF6F0-EC9D-450A-B45F-FA006B7A0D7F}" destId="{93D5C888-9175-47D2-BCA5-3C3E6B0BCF2F}" srcOrd="10" destOrd="0" presId="urn:microsoft.com/office/officeart/2005/8/layout/list1"/>
    <dgm:cxn modelId="{97C69420-FCBF-4D22-8A42-E89349704018}" type="presParOf" srcId="{8D3DF6F0-EC9D-450A-B45F-FA006B7A0D7F}" destId="{8EC9BEA0-9FCD-4EEC-89FE-D5D5903D0ADD}" srcOrd="11" destOrd="0" presId="urn:microsoft.com/office/officeart/2005/8/layout/list1"/>
    <dgm:cxn modelId="{32479B15-A841-4F5A-8400-607205197551}" type="presParOf" srcId="{8D3DF6F0-EC9D-450A-B45F-FA006B7A0D7F}" destId="{FA480E84-508B-4ABB-9A6B-D7873C8A5167}" srcOrd="12" destOrd="0" presId="urn:microsoft.com/office/officeart/2005/8/layout/list1"/>
    <dgm:cxn modelId="{A8A6DC10-386F-480B-ADC2-5EF6CCCB3188}" type="presParOf" srcId="{FA480E84-508B-4ABB-9A6B-D7873C8A5167}" destId="{EE51B8A5-4F4C-4BA6-A52C-7B4E661C8344}" srcOrd="0" destOrd="0" presId="urn:microsoft.com/office/officeart/2005/8/layout/list1"/>
    <dgm:cxn modelId="{24CE2F95-9C62-4A80-98E3-898981CF1668}" type="presParOf" srcId="{FA480E84-508B-4ABB-9A6B-D7873C8A5167}" destId="{E01D176F-2643-46D5-BC4A-4A7B3D0F212A}" srcOrd="1" destOrd="0" presId="urn:microsoft.com/office/officeart/2005/8/layout/list1"/>
    <dgm:cxn modelId="{5BBFF90C-1EC5-47D4-B5F7-4CFF50D80B5E}" type="presParOf" srcId="{8D3DF6F0-EC9D-450A-B45F-FA006B7A0D7F}" destId="{2A29E78D-2CD0-4B65-ADC6-5A11AD21131A}" srcOrd="13" destOrd="0" presId="urn:microsoft.com/office/officeart/2005/8/layout/list1"/>
    <dgm:cxn modelId="{0DB4885B-5080-4C2E-993D-D8053121CF81}" type="presParOf" srcId="{8D3DF6F0-EC9D-450A-B45F-FA006B7A0D7F}" destId="{FF912136-020C-48A4-A2E4-8797DF77FBAF}" srcOrd="14" destOrd="0" presId="urn:microsoft.com/office/officeart/2005/8/layout/list1"/>
    <dgm:cxn modelId="{F0B91260-68A8-4A9E-BBF4-8460826D1FCC}" type="presParOf" srcId="{8D3DF6F0-EC9D-450A-B45F-FA006B7A0D7F}" destId="{6BC2D4EF-73AB-45BF-A2EE-8190F1952331}" srcOrd="15" destOrd="0" presId="urn:microsoft.com/office/officeart/2005/8/layout/list1"/>
    <dgm:cxn modelId="{9317835E-0CE4-45A1-B80A-DD511E2E0D05}" type="presParOf" srcId="{8D3DF6F0-EC9D-450A-B45F-FA006B7A0D7F}" destId="{A2ADA53B-8B8E-45A3-8B8B-A07D543A3ED8}" srcOrd="16" destOrd="0" presId="urn:microsoft.com/office/officeart/2005/8/layout/list1"/>
    <dgm:cxn modelId="{C4AE448B-E7B9-4547-A85E-A27B01BE915F}" type="presParOf" srcId="{A2ADA53B-8B8E-45A3-8B8B-A07D543A3ED8}" destId="{845639F7-1C2F-4828-8893-7125288FD627}" srcOrd="0" destOrd="0" presId="urn:microsoft.com/office/officeart/2005/8/layout/list1"/>
    <dgm:cxn modelId="{26E86744-EEEF-4CC2-836A-7156CF33D5EC}" type="presParOf" srcId="{A2ADA53B-8B8E-45A3-8B8B-A07D543A3ED8}" destId="{7B3AED32-4A91-4FC5-A5B0-15617CFE3FF1}" srcOrd="1" destOrd="0" presId="urn:microsoft.com/office/officeart/2005/8/layout/list1"/>
    <dgm:cxn modelId="{8AC4DFB8-F140-4A06-A230-323F09433AF5}" type="presParOf" srcId="{8D3DF6F0-EC9D-450A-B45F-FA006B7A0D7F}" destId="{D0C99731-056F-4D4B-9938-3494334F3E3C}" srcOrd="17" destOrd="0" presId="urn:microsoft.com/office/officeart/2005/8/layout/list1"/>
    <dgm:cxn modelId="{A6FDCE53-A92A-4E6F-8478-144D8BEB8103}" type="presParOf" srcId="{8D3DF6F0-EC9D-450A-B45F-FA006B7A0D7F}" destId="{9971FCA0-8C66-452D-80F5-AE6008A93A19}" srcOrd="18"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F99436CC-1658-4A70-A306-05B9DD516037}" type="doc">
      <dgm:prSet loTypeId="urn:microsoft.com/office/officeart/2005/8/layout/list1" loCatId="list" qsTypeId="urn:microsoft.com/office/officeart/2005/8/quickstyle/simple1" qsCatId="simple" csTypeId="urn:microsoft.com/office/officeart/2005/8/colors/colorful5" csCatId="colorful" phldr="1"/>
      <dgm:spPr/>
      <dgm:t>
        <a:bodyPr/>
        <a:lstStyle/>
        <a:p>
          <a:endParaRPr lang="en-US"/>
        </a:p>
      </dgm:t>
    </dgm:pt>
    <dgm:pt modelId="{708DC22E-22CD-477B-8205-F3FAC1FC2B67}">
      <dgm:prSet custT="1"/>
      <dgm:spPr/>
      <dgm:t>
        <a:bodyPr/>
        <a:lstStyle/>
        <a:p>
          <a:r>
            <a:rPr lang="en-GB" sz="2800" dirty="0">
              <a:latin typeface="Times New Roman" panose="02020603050405020304" pitchFamily="18" charset="0"/>
              <a:cs typeface="Times New Roman" panose="02020603050405020304" pitchFamily="18" charset="0"/>
            </a:rPr>
            <a:t>Advanced ML models (RF, XGBoost) </a:t>
          </a:r>
          <a:endParaRPr lang="en-US" sz="2800" dirty="0">
            <a:latin typeface="Times New Roman" panose="02020603050405020304" pitchFamily="18" charset="0"/>
            <a:cs typeface="Times New Roman" panose="02020603050405020304" pitchFamily="18" charset="0"/>
          </a:endParaRPr>
        </a:p>
      </dgm:t>
    </dgm:pt>
    <dgm:pt modelId="{62D94B93-D006-475E-A22D-9D0183EA4F26}" type="parTrans" cxnId="{73B45C3C-99B4-4450-8BC6-904707C70718}">
      <dgm:prSet/>
      <dgm:spPr/>
      <dgm:t>
        <a:bodyPr/>
        <a:lstStyle/>
        <a:p>
          <a:endParaRPr lang="en-US"/>
        </a:p>
      </dgm:t>
    </dgm:pt>
    <dgm:pt modelId="{63E8BB6D-12A5-4C3F-A1E3-F228B71210CB}" type="sibTrans" cxnId="{73B45C3C-99B4-4450-8BC6-904707C70718}">
      <dgm:prSet/>
      <dgm:spPr/>
      <dgm:t>
        <a:bodyPr/>
        <a:lstStyle/>
        <a:p>
          <a:endParaRPr lang="en-US"/>
        </a:p>
      </dgm:t>
    </dgm:pt>
    <dgm:pt modelId="{509401C5-D6CE-4834-9B26-71450DFA8EDE}">
      <dgm:prSet custT="1"/>
      <dgm:spPr/>
      <dgm:t>
        <a:bodyPr/>
        <a:lstStyle/>
        <a:p>
          <a:r>
            <a:rPr lang="en-GB" sz="2800">
              <a:latin typeface="Times New Roman" panose="02020603050405020304" pitchFamily="18" charset="0"/>
              <a:cs typeface="Times New Roman" panose="02020603050405020304" pitchFamily="18" charset="0"/>
            </a:rPr>
            <a:t>Real-time prediction systems </a:t>
          </a:r>
          <a:endParaRPr lang="en-US" sz="2800">
            <a:latin typeface="Times New Roman" panose="02020603050405020304" pitchFamily="18" charset="0"/>
            <a:cs typeface="Times New Roman" panose="02020603050405020304" pitchFamily="18" charset="0"/>
          </a:endParaRPr>
        </a:p>
      </dgm:t>
    </dgm:pt>
    <dgm:pt modelId="{BC105386-3E3F-4AEA-81AB-0C076F3CE44E}" type="parTrans" cxnId="{9CD8275D-754F-40C8-A6B4-53664DDECB03}">
      <dgm:prSet/>
      <dgm:spPr/>
      <dgm:t>
        <a:bodyPr/>
        <a:lstStyle/>
        <a:p>
          <a:endParaRPr lang="en-US"/>
        </a:p>
      </dgm:t>
    </dgm:pt>
    <dgm:pt modelId="{07F43925-2D92-4A8E-8278-8DAE2592C065}" type="sibTrans" cxnId="{9CD8275D-754F-40C8-A6B4-53664DDECB03}">
      <dgm:prSet/>
      <dgm:spPr/>
      <dgm:t>
        <a:bodyPr/>
        <a:lstStyle/>
        <a:p>
          <a:endParaRPr lang="en-US"/>
        </a:p>
      </dgm:t>
    </dgm:pt>
    <dgm:pt modelId="{A6041B2B-82D5-4BBE-B68D-14CECD07DDB1}">
      <dgm:prSet custT="1"/>
      <dgm:spPr/>
      <dgm:t>
        <a:bodyPr/>
        <a:lstStyle/>
        <a:p>
          <a:r>
            <a:rPr lang="en-GB" sz="2800">
              <a:latin typeface="Times New Roman" panose="02020603050405020304" pitchFamily="18" charset="0"/>
              <a:cs typeface="Times New Roman" panose="02020603050405020304" pitchFamily="18" charset="0"/>
            </a:rPr>
            <a:t>Integration with university systems </a:t>
          </a:r>
          <a:endParaRPr lang="en-US" sz="2800">
            <a:latin typeface="Times New Roman" panose="02020603050405020304" pitchFamily="18" charset="0"/>
            <a:cs typeface="Times New Roman" panose="02020603050405020304" pitchFamily="18" charset="0"/>
          </a:endParaRPr>
        </a:p>
      </dgm:t>
    </dgm:pt>
    <dgm:pt modelId="{A07FFC19-715C-4FBD-AB55-436D37978D28}" type="parTrans" cxnId="{F4CF5E7F-FAE4-4136-8931-B8207D19CCFB}">
      <dgm:prSet/>
      <dgm:spPr/>
      <dgm:t>
        <a:bodyPr/>
        <a:lstStyle/>
        <a:p>
          <a:endParaRPr lang="en-US"/>
        </a:p>
      </dgm:t>
    </dgm:pt>
    <dgm:pt modelId="{985A75A1-C45B-4C87-9994-7CCD1CD5C37F}" type="sibTrans" cxnId="{F4CF5E7F-FAE4-4136-8931-B8207D19CCFB}">
      <dgm:prSet/>
      <dgm:spPr/>
      <dgm:t>
        <a:bodyPr/>
        <a:lstStyle/>
        <a:p>
          <a:endParaRPr lang="en-US"/>
        </a:p>
      </dgm:t>
    </dgm:pt>
    <dgm:pt modelId="{D3C4BF31-AED3-48EE-9A21-12C4C7A2EEBE}">
      <dgm:prSet custT="1"/>
      <dgm:spPr/>
      <dgm:t>
        <a:bodyPr/>
        <a:lstStyle/>
        <a:p>
          <a:r>
            <a:rPr lang="en-GB" sz="2800">
              <a:latin typeface="Times New Roman" panose="02020603050405020304" pitchFamily="18" charset="0"/>
              <a:cs typeface="Times New Roman" panose="02020603050405020304" pitchFamily="18" charset="0"/>
            </a:rPr>
            <a:t>Use of behavioral &amp; multi-source data </a:t>
          </a:r>
          <a:endParaRPr lang="en-US" sz="2800">
            <a:latin typeface="Times New Roman" panose="02020603050405020304" pitchFamily="18" charset="0"/>
            <a:cs typeface="Times New Roman" panose="02020603050405020304" pitchFamily="18" charset="0"/>
          </a:endParaRPr>
        </a:p>
      </dgm:t>
    </dgm:pt>
    <dgm:pt modelId="{25080BE1-A874-4250-B68D-704127B5753F}" type="parTrans" cxnId="{E4812FE7-AC54-4393-87D6-AABBEB21D249}">
      <dgm:prSet/>
      <dgm:spPr/>
      <dgm:t>
        <a:bodyPr/>
        <a:lstStyle/>
        <a:p>
          <a:endParaRPr lang="en-US"/>
        </a:p>
      </dgm:t>
    </dgm:pt>
    <dgm:pt modelId="{E8367D67-9CA0-4B2D-9141-0513A528A594}" type="sibTrans" cxnId="{E4812FE7-AC54-4393-87D6-AABBEB21D249}">
      <dgm:prSet/>
      <dgm:spPr/>
      <dgm:t>
        <a:bodyPr/>
        <a:lstStyle/>
        <a:p>
          <a:endParaRPr lang="en-US"/>
        </a:p>
      </dgm:t>
    </dgm:pt>
    <dgm:pt modelId="{C56B7905-B000-41B5-8314-FCF3FB036F6D}">
      <dgm:prSet custT="1"/>
      <dgm:spPr/>
      <dgm:t>
        <a:bodyPr/>
        <a:lstStyle/>
        <a:p>
          <a:r>
            <a:rPr lang="en-GB" sz="2800" dirty="0">
              <a:latin typeface="Times New Roman" panose="02020603050405020304" pitchFamily="18" charset="0"/>
              <a:cs typeface="Times New Roman" panose="02020603050405020304" pitchFamily="18" charset="0"/>
            </a:rPr>
            <a:t>Deep Learning &amp; AI-Based Systems</a:t>
          </a:r>
          <a:endParaRPr lang="en-US" sz="2800" dirty="0">
            <a:latin typeface="Times New Roman" panose="02020603050405020304" pitchFamily="18" charset="0"/>
            <a:cs typeface="Times New Roman" panose="02020603050405020304" pitchFamily="18" charset="0"/>
          </a:endParaRPr>
        </a:p>
      </dgm:t>
    </dgm:pt>
    <dgm:pt modelId="{6514F95E-7909-4426-8527-D60B4A146803}" type="parTrans" cxnId="{C5E7B6FF-6787-41E6-96E6-A54555ABF981}">
      <dgm:prSet/>
      <dgm:spPr/>
      <dgm:t>
        <a:bodyPr/>
        <a:lstStyle/>
        <a:p>
          <a:endParaRPr lang="en-US"/>
        </a:p>
      </dgm:t>
    </dgm:pt>
    <dgm:pt modelId="{995E0BC5-BBBB-4217-BABD-6A688A88ACA5}" type="sibTrans" cxnId="{C5E7B6FF-6787-41E6-96E6-A54555ABF981}">
      <dgm:prSet/>
      <dgm:spPr/>
      <dgm:t>
        <a:bodyPr/>
        <a:lstStyle/>
        <a:p>
          <a:endParaRPr lang="en-US"/>
        </a:p>
      </dgm:t>
    </dgm:pt>
    <dgm:pt modelId="{5413B8CF-E176-4B13-A19D-AE50A65DB0F3}" type="pres">
      <dgm:prSet presAssocID="{F99436CC-1658-4A70-A306-05B9DD516037}" presName="linear" presStyleCnt="0">
        <dgm:presLayoutVars>
          <dgm:dir/>
          <dgm:animLvl val="lvl"/>
          <dgm:resizeHandles val="exact"/>
        </dgm:presLayoutVars>
      </dgm:prSet>
      <dgm:spPr/>
    </dgm:pt>
    <dgm:pt modelId="{F5D1C487-C121-4511-B0D1-9860465C8350}" type="pres">
      <dgm:prSet presAssocID="{708DC22E-22CD-477B-8205-F3FAC1FC2B67}" presName="parentLin" presStyleCnt="0"/>
      <dgm:spPr/>
    </dgm:pt>
    <dgm:pt modelId="{34845965-6B0D-44AC-AA2A-F30FE416D414}" type="pres">
      <dgm:prSet presAssocID="{708DC22E-22CD-477B-8205-F3FAC1FC2B67}" presName="parentLeftMargin" presStyleLbl="node1" presStyleIdx="0" presStyleCnt="5"/>
      <dgm:spPr/>
    </dgm:pt>
    <dgm:pt modelId="{59FD779C-9915-454E-BDE8-11EF8AFB3F8F}" type="pres">
      <dgm:prSet presAssocID="{708DC22E-22CD-477B-8205-F3FAC1FC2B67}" presName="parentText" presStyleLbl="node1" presStyleIdx="0" presStyleCnt="5">
        <dgm:presLayoutVars>
          <dgm:chMax val="0"/>
          <dgm:bulletEnabled val="1"/>
        </dgm:presLayoutVars>
      </dgm:prSet>
      <dgm:spPr/>
    </dgm:pt>
    <dgm:pt modelId="{D6E791F8-D123-4B56-A586-9F15D8D10D84}" type="pres">
      <dgm:prSet presAssocID="{708DC22E-22CD-477B-8205-F3FAC1FC2B67}" presName="negativeSpace" presStyleCnt="0"/>
      <dgm:spPr/>
    </dgm:pt>
    <dgm:pt modelId="{73A7E9D6-6443-4F4C-AF40-A79BA720AAAE}" type="pres">
      <dgm:prSet presAssocID="{708DC22E-22CD-477B-8205-F3FAC1FC2B67}" presName="childText" presStyleLbl="conFgAcc1" presStyleIdx="0" presStyleCnt="5">
        <dgm:presLayoutVars>
          <dgm:bulletEnabled val="1"/>
        </dgm:presLayoutVars>
      </dgm:prSet>
      <dgm:spPr/>
    </dgm:pt>
    <dgm:pt modelId="{45CA942C-7E89-41D6-8EC1-7C632D9F7BA3}" type="pres">
      <dgm:prSet presAssocID="{63E8BB6D-12A5-4C3F-A1E3-F228B71210CB}" presName="spaceBetweenRectangles" presStyleCnt="0"/>
      <dgm:spPr/>
    </dgm:pt>
    <dgm:pt modelId="{5092EC62-10B0-45C4-B8E0-DCA4FE9C3758}" type="pres">
      <dgm:prSet presAssocID="{509401C5-D6CE-4834-9B26-71450DFA8EDE}" presName="parentLin" presStyleCnt="0"/>
      <dgm:spPr/>
    </dgm:pt>
    <dgm:pt modelId="{028A5B98-6DB3-4B17-B48E-5891806AE565}" type="pres">
      <dgm:prSet presAssocID="{509401C5-D6CE-4834-9B26-71450DFA8EDE}" presName="parentLeftMargin" presStyleLbl="node1" presStyleIdx="0" presStyleCnt="5"/>
      <dgm:spPr/>
    </dgm:pt>
    <dgm:pt modelId="{3C78F078-6B52-480F-BAF1-0CB3E1FD8124}" type="pres">
      <dgm:prSet presAssocID="{509401C5-D6CE-4834-9B26-71450DFA8EDE}" presName="parentText" presStyleLbl="node1" presStyleIdx="1" presStyleCnt="5">
        <dgm:presLayoutVars>
          <dgm:chMax val="0"/>
          <dgm:bulletEnabled val="1"/>
        </dgm:presLayoutVars>
      </dgm:prSet>
      <dgm:spPr/>
    </dgm:pt>
    <dgm:pt modelId="{375154E9-6944-4215-8DA4-FF6177D27384}" type="pres">
      <dgm:prSet presAssocID="{509401C5-D6CE-4834-9B26-71450DFA8EDE}" presName="negativeSpace" presStyleCnt="0"/>
      <dgm:spPr/>
    </dgm:pt>
    <dgm:pt modelId="{1084D504-60B5-4ACC-8648-91000BC83E16}" type="pres">
      <dgm:prSet presAssocID="{509401C5-D6CE-4834-9B26-71450DFA8EDE}" presName="childText" presStyleLbl="conFgAcc1" presStyleIdx="1" presStyleCnt="5">
        <dgm:presLayoutVars>
          <dgm:bulletEnabled val="1"/>
        </dgm:presLayoutVars>
      </dgm:prSet>
      <dgm:spPr/>
    </dgm:pt>
    <dgm:pt modelId="{546336DF-6A3E-48FC-88DE-A464729D06E7}" type="pres">
      <dgm:prSet presAssocID="{07F43925-2D92-4A8E-8278-8DAE2592C065}" presName="spaceBetweenRectangles" presStyleCnt="0"/>
      <dgm:spPr/>
    </dgm:pt>
    <dgm:pt modelId="{0496D3A1-568C-462F-8878-5AAC75B1300F}" type="pres">
      <dgm:prSet presAssocID="{A6041B2B-82D5-4BBE-B68D-14CECD07DDB1}" presName="parentLin" presStyleCnt="0"/>
      <dgm:spPr/>
    </dgm:pt>
    <dgm:pt modelId="{58A7340C-0518-4365-90A5-FE9D31F7042A}" type="pres">
      <dgm:prSet presAssocID="{A6041B2B-82D5-4BBE-B68D-14CECD07DDB1}" presName="parentLeftMargin" presStyleLbl="node1" presStyleIdx="1" presStyleCnt="5"/>
      <dgm:spPr/>
    </dgm:pt>
    <dgm:pt modelId="{4A35160D-127A-4646-AADE-E236D636530E}" type="pres">
      <dgm:prSet presAssocID="{A6041B2B-82D5-4BBE-B68D-14CECD07DDB1}" presName="parentText" presStyleLbl="node1" presStyleIdx="2" presStyleCnt="5">
        <dgm:presLayoutVars>
          <dgm:chMax val="0"/>
          <dgm:bulletEnabled val="1"/>
        </dgm:presLayoutVars>
      </dgm:prSet>
      <dgm:spPr/>
    </dgm:pt>
    <dgm:pt modelId="{D1EF00DB-857C-46C0-8B30-F7A867A21B2B}" type="pres">
      <dgm:prSet presAssocID="{A6041B2B-82D5-4BBE-B68D-14CECD07DDB1}" presName="negativeSpace" presStyleCnt="0"/>
      <dgm:spPr/>
    </dgm:pt>
    <dgm:pt modelId="{2857F111-116C-4125-AD5D-5C0425663A28}" type="pres">
      <dgm:prSet presAssocID="{A6041B2B-82D5-4BBE-B68D-14CECD07DDB1}" presName="childText" presStyleLbl="conFgAcc1" presStyleIdx="2" presStyleCnt="5">
        <dgm:presLayoutVars>
          <dgm:bulletEnabled val="1"/>
        </dgm:presLayoutVars>
      </dgm:prSet>
      <dgm:spPr/>
    </dgm:pt>
    <dgm:pt modelId="{1FBDD6E2-5CD9-4337-A64A-E85BDF4F6160}" type="pres">
      <dgm:prSet presAssocID="{985A75A1-C45B-4C87-9994-7CCD1CD5C37F}" presName="spaceBetweenRectangles" presStyleCnt="0"/>
      <dgm:spPr/>
    </dgm:pt>
    <dgm:pt modelId="{5AE330EB-0BC6-46A7-A403-1082F2BFD008}" type="pres">
      <dgm:prSet presAssocID="{D3C4BF31-AED3-48EE-9A21-12C4C7A2EEBE}" presName="parentLin" presStyleCnt="0"/>
      <dgm:spPr/>
    </dgm:pt>
    <dgm:pt modelId="{3DD97830-99DC-4428-AFBD-4189190CEA8B}" type="pres">
      <dgm:prSet presAssocID="{D3C4BF31-AED3-48EE-9A21-12C4C7A2EEBE}" presName="parentLeftMargin" presStyleLbl="node1" presStyleIdx="2" presStyleCnt="5"/>
      <dgm:spPr/>
    </dgm:pt>
    <dgm:pt modelId="{AE1E908E-46B8-44FF-B4BF-5064D403BC71}" type="pres">
      <dgm:prSet presAssocID="{D3C4BF31-AED3-48EE-9A21-12C4C7A2EEBE}" presName="parentText" presStyleLbl="node1" presStyleIdx="3" presStyleCnt="5">
        <dgm:presLayoutVars>
          <dgm:chMax val="0"/>
          <dgm:bulletEnabled val="1"/>
        </dgm:presLayoutVars>
      </dgm:prSet>
      <dgm:spPr/>
    </dgm:pt>
    <dgm:pt modelId="{4FFF2E20-DF46-4720-A2A3-1AD6C9A01B15}" type="pres">
      <dgm:prSet presAssocID="{D3C4BF31-AED3-48EE-9A21-12C4C7A2EEBE}" presName="negativeSpace" presStyleCnt="0"/>
      <dgm:spPr/>
    </dgm:pt>
    <dgm:pt modelId="{9CAFDC42-85E4-48DF-9C75-26B5E5BD0728}" type="pres">
      <dgm:prSet presAssocID="{D3C4BF31-AED3-48EE-9A21-12C4C7A2EEBE}" presName="childText" presStyleLbl="conFgAcc1" presStyleIdx="3" presStyleCnt="5">
        <dgm:presLayoutVars>
          <dgm:bulletEnabled val="1"/>
        </dgm:presLayoutVars>
      </dgm:prSet>
      <dgm:spPr/>
    </dgm:pt>
    <dgm:pt modelId="{A39792B3-1595-41D8-856E-FAF74E240C3B}" type="pres">
      <dgm:prSet presAssocID="{E8367D67-9CA0-4B2D-9141-0513A528A594}" presName="spaceBetweenRectangles" presStyleCnt="0"/>
      <dgm:spPr/>
    </dgm:pt>
    <dgm:pt modelId="{8CC781B7-527C-4299-8561-E16DF74BAA99}" type="pres">
      <dgm:prSet presAssocID="{C56B7905-B000-41B5-8314-FCF3FB036F6D}" presName="parentLin" presStyleCnt="0"/>
      <dgm:spPr/>
    </dgm:pt>
    <dgm:pt modelId="{DF55A28E-9191-426D-80F8-7525B0F4ED8E}" type="pres">
      <dgm:prSet presAssocID="{C56B7905-B000-41B5-8314-FCF3FB036F6D}" presName="parentLeftMargin" presStyleLbl="node1" presStyleIdx="3" presStyleCnt="5"/>
      <dgm:spPr/>
    </dgm:pt>
    <dgm:pt modelId="{CCE7E9EF-5ED1-4D5F-9E5E-E8A2F9B9DC66}" type="pres">
      <dgm:prSet presAssocID="{C56B7905-B000-41B5-8314-FCF3FB036F6D}" presName="parentText" presStyleLbl="node1" presStyleIdx="4" presStyleCnt="5">
        <dgm:presLayoutVars>
          <dgm:chMax val="0"/>
          <dgm:bulletEnabled val="1"/>
        </dgm:presLayoutVars>
      </dgm:prSet>
      <dgm:spPr/>
    </dgm:pt>
    <dgm:pt modelId="{001FA472-12FE-48D0-9E92-7F485494B36A}" type="pres">
      <dgm:prSet presAssocID="{C56B7905-B000-41B5-8314-FCF3FB036F6D}" presName="negativeSpace" presStyleCnt="0"/>
      <dgm:spPr/>
    </dgm:pt>
    <dgm:pt modelId="{1893785A-E9DC-40B6-AE56-7008F9B836E1}" type="pres">
      <dgm:prSet presAssocID="{C56B7905-B000-41B5-8314-FCF3FB036F6D}" presName="childText" presStyleLbl="conFgAcc1" presStyleIdx="4" presStyleCnt="5">
        <dgm:presLayoutVars>
          <dgm:bulletEnabled val="1"/>
        </dgm:presLayoutVars>
      </dgm:prSet>
      <dgm:spPr/>
    </dgm:pt>
  </dgm:ptLst>
  <dgm:cxnLst>
    <dgm:cxn modelId="{39446723-F815-4CF1-A108-97AA905A1DFC}" type="presOf" srcId="{708DC22E-22CD-477B-8205-F3FAC1FC2B67}" destId="{34845965-6B0D-44AC-AA2A-F30FE416D414}" srcOrd="0" destOrd="0" presId="urn:microsoft.com/office/officeart/2005/8/layout/list1"/>
    <dgm:cxn modelId="{73B45C3C-99B4-4450-8BC6-904707C70718}" srcId="{F99436CC-1658-4A70-A306-05B9DD516037}" destId="{708DC22E-22CD-477B-8205-F3FAC1FC2B67}" srcOrd="0" destOrd="0" parTransId="{62D94B93-D006-475E-A22D-9D0183EA4F26}" sibTransId="{63E8BB6D-12A5-4C3F-A1E3-F228B71210CB}"/>
    <dgm:cxn modelId="{9CD8275D-754F-40C8-A6B4-53664DDECB03}" srcId="{F99436CC-1658-4A70-A306-05B9DD516037}" destId="{509401C5-D6CE-4834-9B26-71450DFA8EDE}" srcOrd="1" destOrd="0" parTransId="{BC105386-3E3F-4AEA-81AB-0C076F3CE44E}" sibTransId="{07F43925-2D92-4A8E-8278-8DAE2592C065}"/>
    <dgm:cxn modelId="{F4CF5E7F-FAE4-4136-8931-B8207D19CCFB}" srcId="{F99436CC-1658-4A70-A306-05B9DD516037}" destId="{A6041B2B-82D5-4BBE-B68D-14CECD07DDB1}" srcOrd="2" destOrd="0" parTransId="{A07FFC19-715C-4FBD-AB55-436D37978D28}" sibTransId="{985A75A1-C45B-4C87-9994-7CCD1CD5C37F}"/>
    <dgm:cxn modelId="{1EBFB181-2B6B-4D28-9E88-AB6602DA03C9}" type="presOf" srcId="{D3C4BF31-AED3-48EE-9A21-12C4C7A2EEBE}" destId="{3DD97830-99DC-4428-AFBD-4189190CEA8B}" srcOrd="0" destOrd="0" presId="urn:microsoft.com/office/officeart/2005/8/layout/list1"/>
    <dgm:cxn modelId="{4217CA81-567D-4DB0-9102-60F51B048658}" type="presOf" srcId="{708DC22E-22CD-477B-8205-F3FAC1FC2B67}" destId="{59FD779C-9915-454E-BDE8-11EF8AFB3F8F}" srcOrd="1" destOrd="0" presId="urn:microsoft.com/office/officeart/2005/8/layout/list1"/>
    <dgm:cxn modelId="{C46AAB83-AAA9-4274-930B-0EB329F9BC2F}" type="presOf" srcId="{A6041B2B-82D5-4BBE-B68D-14CECD07DDB1}" destId="{58A7340C-0518-4365-90A5-FE9D31F7042A}" srcOrd="0" destOrd="0" presId="urn:microsoft.com/office/officeart/2005/8/layout/list1"/>
    <dgm:cxn modelId="{DBAE8188-9630-4B60-92CB-B45440AAD75F}" type="presOf" srcId="{C56B7905-B000-41B5-8314-FCF3FB036F6D}" destId="{CCE7E9EF-5ED1-4D5F-9E5E-E8A2F9B9DC66}" srcOrd="1" destOrd="0" presId="urn:microsoft.com/office/officeart/2005/8/layout/list1"/>
    <dgm:cxn modelId="{EFF0798B-426F-4B6F-92F6-F571A3CCA26A}" type="presOf" srcId="{D3C4BF31-AED3-48EE-9A21-12C4C7A2EEBE}" destId="{AE1E908E-46B8-44FF-B4BF-5064D403BC71}" srcOrd="1" destOrd="0" presId="urn:microsoft.com/office/officeart/2005/8/layout/list1"/>
    <dgm:cxn modelId="{F9A7CD96-F258-4CB0-852C-A1042D9862F0}" type="presOf" srcId="{509401C5-D6CE-4834-9B26-71450DFA8EDE}" destId="{3C78F078-6B52-480F-BAF1-0CB3E1FD8124}" srcOrd="1" destOrd="0" presId="urn:microsoft.com/office/officeart/2005/8/layout/list1"/>
    <dgm:cxn modelId="{B11EFDD0-4448-4D14-BADC-3CFC0A6B4844}" type="presOf" srcId="{A6041B2B-82D5-4BBE-B68D-14CECD07DDB1}" destId="{4A35160D-127A-4646-AADE-E236D636530E}" srcOrd="1" destOrd="0" presId="urn:microsoft.com/office/officeart/2005/8/layout/list1"/>
    <dgm:cxn modelId="{E4812FE7-AC54-4393-87D6-AABBEB21D249}" srcId="{F99436CC-1658-4A70-A306-05B9DD516037}" destId="{D3C4BF31-AED3-48EE-9A21-12C4C7A2EEBE}" srcOrd="3" destOrd="0" parTransId="{25080BE1-A874-4250-B68D-704127B5753F}" sibTransId="{E8367D67-9CA0-4B2D-9141-0513A528A594}"/>
    <dgm:cxn modelId="{31DAD0FE-01FA-471A-B726-307D8642FB4C}" type="presOf" srcId="{C56B7905-B000-41B5-8314-FCF3FB036F6D}" destId="{DF55A28E-9191-426D-80F8-7525B0F4ED8E}" srcOrd="0" destOrd="0" presId="urn:microsoft.com/office/officeart/2005/8/layout/list1"/>
    <dgm:cxn modelId="{980ED3FE-D478-48E2-ACA5-2CDECC845216}" type="presOf" srcId="{509401C5-D6CE-4834-9B26-71450DFA8EDE}" destId="{028A5B98-6DB3-4B17-B48E-5891806AE565}" srcOrd="0" destOrd="0" presId="urn:microsoft.com/office/officeart/2005/8/layout/list1"/>
    <dgm:cxn modelId="{C4B60FFF-863C-486D-972D-83B8820579B0}" type="presOf" srcId="{F99436CC-1658-4A70-A306-05B9DD516037}" destId="{5413B8CF-E176-4B13-A19D-AE50A65DB0F3}" srcOrd="0" destOrd="0" presId="urn:microsoft.com/office/officeart/2005/8/layout/list1"/>
    <dgm:cxn modelId="{C5E7B6FF-6787-41E6-96E6-A54555ABF981}" srcId="{F99436CC-1658-4A70-A306-05B9DD516037}" destId="{C56B7905-B000-41B5-8314-FCF3FB036F6D}" srcOrd="4" destOrd="0" parTransId="{6514F95E-7909-4426-8527-D60B4A146803}" sibTransId="{995E0BC5-BBBB-4217-BABD-6A688A88ACA5}"/>
    <dgm:cxn modelId="{E31B492C-9AB1-4BFF-AC1E-65FF54C36571}" type="presParOf" srcId="{5413B8CF-E176-4B13-A19D-AE50A65DB0F3}" destId="{F5D1C487-C121-4511-B0D1-9860465C8350}" srcOrd="0" destOrd="0" presId="urn:microsoft.com/office/officeart/2005/8/layout/list1"/>
    <dgm:cxn modelId="{61135374-A11D-4753-A95F-4F758B413509}" type="presParOf" srcId="{F5D1C487-C121-4511-B0D1-9860465C8350}" destId="{34845965-6B0D-44AC-AA2A-F30FE416D414}" srcOrd="0" destOrd="0" presId="urn:microsoft.com/office/officeart/2005/8/layout/list1"/>
    <dgm:cxn modelId="{9290C13A-12BE-4593-81B7-BFA1283C6540}" type="presParOf" srcId="{F5D1C487-C121-4511-B0D1-9860465C8350}" destId="{59FD779C-9915-454E-BDE8-11EF8AFB3F8F}" srcOrd="1" destOrd="0" presId="urn:microsoft.com/office/officeart/2005/8/layout/list1"/>
    <dgm:cxn modelId="{634A2FC2-26CF-4BEE-8400-4B782707B83B}" type="presParOf" srcId="{5413B8CF-E176-4B13-A19D-AE50A65DB0F3}" destId="{D6E791F8-D123-4B56-A586-9F15D8D10D84}" srcOrd="1" destOrd="0" presId="urn:microsoft.com/office/officeart/2005/8/layout/list1"/>
    <dgm:cxn modelId="{2295983D-F102-4D74-82D4-F418416D4F10}" type="presParOf" srcId="{5413B8CF-E176-4B13-A19D-AE50A65DB0F3}" destId="{73A7E9D6-6443-4F4C-AF40-A79BA720AAAE}" srcOrd="2" destOrd="0" presId="urn:microsoft.com/office/officeart/2005/8/layout/list1"/>
    <dgm:cxn modelId="{BF7B0BB5-89A8-4D9C-809F-1E1AB233E723}" type="presParOf" srcId="{5413B8CF-E176-4B13-A19D-AE50A65DB0F3}" destId="{45CA942C-7E89-41D6-8EC1-7C632D9F7BA3}" srcOrd="3" destOrd="0" presId="urn:microsoft.com/office/officeart/2005/8/layout/list1"/>
    <dgm:cxn modelId="{91E38779-4791-49B5-B25B-C3E4084C0E95}" type="presParOf" srcId="{5413B8CF-E176-4B13-A19D-AE50A65DB0F3}" destId="{5092EC62-10B0-45C4-B8E0-DCA4FE9C3758}" srcOrd="4" destOrd="0" presId="urn:microsoft.com/office/officeart/2005/8/layout/list1"/>
    <dgm:cxn modelId="{728028A4-DABA-473A-B8EF-AD3895C622B3}" type="presParOf" srcId="{5092EC62-10B0-45C4-B8E0-DCA4FE9C3758}" destId="{028A5B98-6DB3-4B17-B48E-5891806AE565}" srcOrd="0" destOrd="0" presId="urn:microsoft.com/office/officeart/2005/8/layout/list1"/>
    <dgm:cxn modelId="{4CE84A32-F607-47A9-AF18-1C5B1A595C2A}" type="presParOf" srcId="{5092EC62-10B0-45C4-B8E0-DCA4FE9C3758}" destId="{3C78F078-6B52-480F-BAF1-0CB3E1FD8124}" srcOrd="1" destOrd="0" presId="urn:microsoft.com/office/officeart/2005/8/layout/list1"/>
    <dgm:cxn modelId="{CD577953-7929-47EB-9180-7B26701070E2}" type="presParOf" srcId="{5413B8CF-E176-4B13-A19D-AE50A65DB0F3}" destId="{375154E9-6944-4215-8DA4-FF6177D27384}" srcOrd="5" destOrd="0" presId="urn:microsoft.com/office/officeart/2005/8/layout/list1"/>
    <dgm:cxn modelId="{763ABCB5-6B08-4CEF-93B2-4CA032CE132C}" type="presParOf" srcId="{5413B8CF-E176-4B13-A19D-AE50A65DB0F3}" destId="{1084D504-60B5-4ACC-8648-91000BC83E16}" srcOrd="6" destOrd="0" presId="urn:microsoft.com/office/officeart/2005/8/layout/list1"/>
    <dgm:cxn modelId="{4473C8CD-390F-4BAC-A943-3DBDCD906AEC}" type="presParOf" srcId="{5413B8CF-E176-4B13-A19D-AE50A65DB0F3}" destId="{546336DF-6A3E-48FC-88DE-A464729D06E7}" srcOrd="7" destOrd="0" presId="urn:microsoft.com/office/officeart/2005/8/layout/list1"/>
    <dgm:cxn modelId="{C04F51F4-CF35-426B-97F3-1225A6B6C639}" type="presParOf" srcId="{5413B8CF-E176-4B13-A19D-AE50A65DB0F3}" destId="{0496D3A1-568C-462F-8878-5AAC75B1300F}" srcOrd="8" destOrd="0" presId="urn:microsoft.com/office/officeart/2005/8/layout/list1"/>
    <dgm:cxn modelId="{2497E9B8-5CEB-4C6A-BEFA-116E9E27B6DB}" type="presParOf" srcId="{0496D3A1-568C-462F-8878-5AAC75B1300F}" destId="{58A7340C-0518-4365-90A5-FE9D31F7042A}" srcOrd="0" destOrd="0" presId="urn:microsoft.com/office/officeart/2005/8/layout/list1"/>
    <dgm:cxn modelId="{7A7A57B2-3609-4BAF-8F83-79C3A8ADC778}" type="presParOf" srcId="{0496D3A1-568C-462F-8878-5AAC75B1300F}" destId="{4A35160D-127A-4646-AADE-E236D636530E}" srcOrd="1" destOrd="0" presId="urn:microsoft.com/office/officeart/2005/8/layout/list1"/>
    <dgm:cxn modelId="{B03EBFB1-9AE6-47F2-AE5E-2672AB93C263}" type="presParOf" srcId="{5413B8CF-E176-4B13-A19D-AE50A65DB0F3}" destId="{D1EF00DB-857C-46C0-8B30-F7A867A21B2B}" srcOrd="9" destOrd="0" presId="urn:microsoft.com/office/officeart/2005/8/layout/list1"/>
    <dgm:cxn modelId="{6F831BAF-0C4A-4450-A06C-1F5A46640BC0}" type="presParOf" srcId="{5413B8CF-E176-4B13-A19D-AE50A65DB0F3}" destId="{2857F111-116C-4125-AD5D-5C0425663A28}" srcOrd="10" destOrd="0" presId="urn:microsoft.com/office/officeart/2005/8/layout/list1"/>
    <dgm:cxn modelId="{54358C1B-5AB7-41B2-9E8C-9E04C0397A1B}" type="presParOf" srcId="{5413B8CF-E176-4B13-A19D-AE50A65DB0F3}" destId="{1FBDD6E2-5CD9-4337-A64A-E85BDF4F6160}" srcOrd="11" destOrd="0" presId="urn:microsoft.com/office/officeart/2005/8/layout/list1"/>
    <dgm:cxn modelId="{0C4F3C6B-10FB-4C6D-B5D1-905CBFF82975}" type="presParOf" srcId="{5413B8CF-E176-4B13-A19D-AE50A65DB0F3}" destId="{5AE330EB-0BC6-46A7-A403-1082F2BFD008}" srcOrd="12" destOrd="0" presId="urn:microsoft.com/office/officeart/2005/8/layout/list1"/>
    <dgm:cxn modelId="{EF666022-1458-44AA-8CCA-E4B4E6BE019E}" type="presParOf" srcId="{5AE330EB-0BC6-46A7-A403-1082F2BFD008}" destId="{3DD97830-99DC-4428-AFBD-4189190CEA8B}" srcOrd="0" destOrd="0" presId="urn:microsoft.com/office/officeart/2005/8/layout/list1"/>
    <dgm:cxn modelId="{CC26034A-952F-4122-8CD2-A2DB562CDEA7}" type="presParOf" srcId="{5AE330EB-0BC6-46A7-A403-1082F2BFD008}" destId="{AE1E908E-46B8-44FF-B4BF-5064D403BC71}" srcOrd="1" destOrd="0" presId="urn:microsoft.com/office/officeart/2005/8/layout/list1"/>
    <dgm:cxn modelId="{36DBE0AD-27D3-406E-8D85-1078473E08A8}" type="presParOf" srcId="{5413B8CF-E176-4B13-A19D-AE50A65DB0F3}" destId="{4FFF2E20-DF46-4720-A2A3-1AD6C9A01B15}" srcOrd="13" destOrd="0" presId="urn:microsoft.com/office/officeart/2005/8/layout/list1"/>
    <dgm:cxn modelId="{F06A7F07-7572-435C-86D4-4C57387771E2}" type="presParOf" srcId="{5413B8CF-E176-4B13-A19D-AE50A65DB0F3}" destId="{9CAFDC42-85E4-48DF-9C75-26B5E5BD0728}" srcOrd="14" destOrd="0" presId="urn:microsoft.com/office/officeart/2005/8/layout/list1"/>
    <dgm:cxn modelId="{F913B263-F06D-4B42-B8DF-C6957D2E9E03}" type="presParOf" srcId="{5413B8CF-E176-4B13-A19D-AE50A65DB0F3}" destId="{A39792B3-1595-41D8-856E-FAF74E240C3B}" srcOrd="15" destOrd="0" presId="urn:microsoft.com/office/officeart/2005/8/layout/list1"/>
    <dgm:cxn modelId="{3A952152-A73E-4DE5-91EB-A89B892A9BE9}" type="presParOf" srcId="{5413B8CF-E176-4B13-A19D-AE50A65DB0F3}" destId="{8CC781B7-527C-4299-8561-E16DF74BAA99}" srcOrd="16" destOrd="0" presId="urn:microsoft.com/office/officeart/2005/8/layout/list1"/>
    <dgm:cxn modelId="{1FC72B21-1725-4B3E-B036-FC08679A28C8}" type="presParOf" srcId="{8CC781B7-527C-4299-8561-E16DF74BAA99}" destId="{DF55A28E-9191-426D-80F8-7525B0F4ED8E}" srcOrd="0" destOrd="0" presId="urn:microsoft.com/office/officeart/2005/8/layout/list1"/>
    <dgm:cxn modelId="{DE434A2B-B0D5-4BD8-B4D5-FB274F06D7EB}" type="presParOf" srcId="{8CC781B7-527C-4299-8561-E16DF74BAA99}" destId="{CCE7E9EF-5ED1-4D5F-9E5E-E8A2F9B9DC66}" srcOrd="1" destOrd="0" presId="urn:microsoft.com/office/officeart/2005/8/layout/list1"/>
    <dgm:cxn modelId="{763B954E-9D65-4231-948C-42D3F01BA0BF}" type="presParOf" srcId="{5413B8CF-E176-4B13-A19D-AE50A65DB0F3}" destId="{001FA472-12FE-48D0-9E92-7F485494B36A}" srcOrd="17" destOrd="0" presId="urn:microsoft.com/office/officeart/2005/8/layout/list1"/>
    <dgm:cxn modelId="{932F579B-81DA-4E65-8543-95FD89645D78}" type="presParOf" srcId="{5413B8CF-E176-4B13-A19D-AE50A65DB0F3}" destId="{1893785A-E9DC-40B6-AE56-7008F9B836E1}" srcOrd="18"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BA72957-0CA7-49B8-B5EB-08396D33E304}">
      <dsp:nvSpPr>
        <dsp:cNvPr id="0" name=""/>
        <dsp:cNvSpPr/>
      </dsp:nvSpPr>
      <dsp:spPr>
        <a:xfrm>
          <a:off x="0" y="398724"/>
          <a:ext cx="10515600" cy="554400"/>
        </a:xfrm>
        <a:prstGeom prst="rect">
          <a:avLst/>
        </a:prstGeom>
        <a:solidFill>
          <a:schemeClr val="lt1">
            <a:alpha val="90000"/>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951DF986-876B-4DF9-AC79-2E2E92CBDF45}">
      <dsp:nvSpPr>
        <dsp:cNvPr id="0" name=""/>
        <dsp:cNvSpPr/>
      </dsp:nvSpPr>
      <dsp:spPr>
        <a:xfrm>
          <a:off x="525780" y="74004"/>
          <a:ext cx="7360920" cy="649440"/>
        </a:xfrm>
        <a:prstGeom prst="round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78225" tIns="0" rIns="278225" bIns="0" numCol="1" spcCol="1270" anchor="ctr" anchorCtr="0">
          <a:noAutofit/>
        </a:bodyPr>
        <a:lstStyle/>
        <a:p>
          <a:pPr marL="0" lvl="0" indent="0" algn="l" defTabSz="1244600">
            <a:lnSpc>
              <a:spcPct val="90000"/>
            </a:lnSpc>
            <a:spcBef>
              <a:spcPct val="0"/>
            </a:spcBef>
            <a:spcAft>
              <a:spcPct val="35000"/>
            </a:spcAft>
            <a:buNone/>
          </a:pPr>
          <a:r>
            <a:rPr lang="en-GB" sz="2800" kern="1200">
              <a:latin typeface="Times New Roman" panose="02020603050405020304" pitchFamily="18" charset="0"/>
              <a:cs typeface="Times New Roman" panose="02020603050405020304" pitchFamily="18" charset="0"/>
            </a:rPr>
            <a:t>Data quality &amp; imbalance </a:t>
          </a:r>
          <a:endParaRPr lang="en-US" sz="2800" kern="1200">
            <a:latin typeface="Times New Roman" panose="02020603050405020304" pitchFamily="18" charset="0"/>
            <a:cs typeface="Times New Roman" panose="02020603050405020304" pitchFamily="18" charset="0"/>
          </a:endParaRPr>
        </a:p>
      </dsp:txBody>
      <dsp:txXfrm>
        <a:off x="557483" y="105707"/>
        <a:ext cx="7297514" cy="586034"/>
      </dsp:txXfrm>
    </dsp:sp>
    <dsp:sp modelId="{1550A0F8-36F5-408D-BDF9-6299D1EBD80C}">
      <dsp:nvSpPr>
        <dsp:cNvPr id="0" name=""/>
        <dsp:cNvSpPr/>
      </dsp:nvSpPr>
      <dsp:spPr>
        <a:xfrm>
          <a:off x="0" y="1396644"/>
          <a:ext cx="10515600" cy="554400"/>
        </a:xfrm>
        <a:prstGeom prst="rect">
          <a:avLst/>
        </a:prstGeom>
        <a:solidFill>
          <a:schemeClr val="lt1">
            <a:alpha val="90000"/>
            <a:hueOff val="0"/>
            <a:satOff val="0"/>
            <a:lumOff val="0"/>
            <a:alphaOff val="0"/>
          </a:schemeClr>
        </a:solidFill>
        <a:ln w="1905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CCEBD960-F660-4F8B-8554-64DCC620B9A4}">
      <dsp:nvSpPr>
        <dsp:cNvPr id="0" name=""/>
        <dsp:cNvSpPr/>
      </dsp:nvSpPr>
      <dsp:spPr>
        <a:xfrm>
          <a:off x="525780" y="1071924"/>
          <a:ext cx="7360920" cy="649440"/>
        </a:xfrm>
        <a:prstGeom prst="round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78225" tIns="0" rIns="278225" bIns="0" numCol="1" spcCol="1270" anchor="ctr" anchorCtr="0">
          <a:noAutofit/>
        </a:bodyPr>
        <a:lstStyle/>
        <a:p>
          <a:pPr marL="0" lvl="0" indent="0" algn="l" defTabSz="1244600">
            <a:lnSpc>
              <a:spcPct val="90000"/>
            </a:lnSpc>
            <a:spcBef>
              <a:spcPct val="0"/>
            </a:spcBef>
            <a:spcAft>
              <a:spcPct val="35000"/>
            </a:spcAft>
            <a:buNone/>
          </a:pPr>
          <a:r>
            <a:rPr lang="en-GB" sz="2800" kern="1200">
              <a:latin typeface="Times New Roman" panose="02020603050405020304" pitchFamily="18" charset="0"/>
              <a:cs typeface="Times New Roman" panose="02020603050405020304" pitchFamily="18" charset="0"/>
            </a:rPr>
            <a:t>Model assumptions (LDA) </a:t>
          </a:r>
          <a:endParaRPr lang="en-US" sz="2800" kern="1200">
            <a:latin typeface="Times New Roman" panose="02020603050405020304" pitchFamily="18" charset="0"/>
            <a:cs typeface="Times New Roman" panose="02020603050405020304" pitchFamily="18" charset="0"/>
          </a:endParaRPr>
        </a:p>
      </dsp:txBody>
      <dsp:txXfrm>
        <a:off x="557483" y="1103627"/>
        <a:ext cx="7297514" cy="586034"/>
      </dsp:txXfrm>
    </dsp:sp>
    <dsp:sp modelId="{93D5C888-9175-47D2-BCA5-3C3E6B0BCF2F}">
      <dsp:nvSpPr>
        <dsp:cNvPr id="0" name=""/>
        <dsp:cNvSpPr/>
      </dsp:nvSpPr>
      <dsp:spPr>
        <a:xfrm>
          <a:off x="0" y="2394564"/>
          <a:ext cx="10515600" cy="554400"/>
        </a:xfrm>
        <a:prstGeom prst="rect">
          <a:avLst/>
        </a:prstGeom>
        <a:solidFill>
          <a:schemeClr val="lt1">
            <a:alpha val="90000"/>
            <a:hueOff val="0"/>
            <a:satOff val="0"/>
            <a:lumOff val="0"/>
            <a:alphaOff val="0"/>
          </a:schemeClr>
        </a:solidFill>
        <a:ln w="1905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5FA8D8D4-5A24-4DBF-9BB0-2F6223B63623}">
      <dsp:nvSpPr>
        <dsp:cNvPr id="0" name=""/>
        <dsp:cNvSpPr/>
      </dsp:nvSpPr>
      <dsp:spPr>
        <a:xfrm>
          <a:off x="525780" y="2069844"/>
          <a:ext cx="7360920" cy="649440"/>
        </a:xfrm>
        <a:prstGeom prst="roundRect">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78225" tIns="0" rIns="278225" bIns="0" numCol="1" spcCol="1270" anchor="ctr" anchorCtr="0">
          <a:noAutofit/>
        </a:bodyPr>
        <a:lstStyle/>
        <a:p>
          <a:pPr marL="0" lvl="0" indent="0" algn="l" defTabSz="1244600">
            <a:lnSpc>
              <a:spcPct val="90000"/>
            </a:lnSpc>
            <a:spcBef>
              <a:spcPct val="0"/>
            </a:spcBef>
            <a:spcAft>
              <a:spcPct val="35000"/>
            </a:spcAft>
            <a:buNone/>
          </a:pPr>
          <a:r>
            <a:rPr lang="en-GB" sz="2800" kern="1200">
              <a:latin typeface="Times New Roman" panose="02020603050405020304" pitchFamily="18" charset="0"/>
              <a:cs typeface="Times New Roman" panose="02020603050405020304" pitchFamily="18" charset="0"/>
            </a:rPr>
            <a:t>Limited real-world features </a:t>
          </a:r>
          <a:endParaRPr lang="en-US" sz="2800" kern="1200">
            <a:latin typeface="Times New Roman" panose="02020603050405020304" pitchFamily="18" charset="0"/>
            <a:cs typeface="Times New Roman" panose="02020603050405020304" pitchFamily="18" charset="0"/>
          </a:endParaRPr>
        </a:p>
      </dsp:txBody>
      <dsp:txXfrm>
        <a:off x="557483" y="2101547"/>
        <a:ext cx="7297514" cy="586034"/>
      </dsp:txXfrm>
    </dsp:sp>
    <dsp:sp modelId="{FF912136-020C-48A4-A2E4-8797DF77FBAF}">
      <dsp:nvSpPr>
        <dsp:cNvPr id="0" name=""/>
        <dsp:cNvSpPr/>
      </dsp:nvSpPr>
      <dsp:spPr>
        <a:xfrm>
          <a:off x="0" y="3392484"/>
          <a:ext cx="10515600" cy="554400"/>
        </a:xfrm>
        <a:prstGeom prst="rect">
          <a:avLst/>
        </a:prstGeom>
        <a:solidFill>
          <a:schemeClr val="lt1">
            <a:alpha val="90000"/>
            <a:hueOff val="0"/>
            <a:satOff val="0"/>
            <a:lumOff val="0"/>
            <a:alphaOff val="0"/>
          </a:schemeClr>
        </a:solidFill>
        <a:ln w="1905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E01D176F-2643-46D5-BC4A-4A7B3D0F212A}">
      <dsp:nvSpPr>
        <dsp:cNvPr id="0" name=""/>
        <dsp:cNvSpPr/>
      </dsp:nvSpPr>
      <dsp:spPr>
        <a:xfrm>
          <a:off x="525780" y="3067764"/>
          <a:ext cx="7360920" cy="649440"/>
        </a:xfrm>
        <a:prstGeom prst="roundRect">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78225" tIns="0" rIns="278225" bIns="0" numCol="1" spcCol="1270" anchor="ctr" anchorCtr="0">
          <a:noAutofit/>
        </a:bodyPr>
        <a:lstStyle/>
        <a:p>
          <a:pPr marL="0" lvl="0" indent="0" algn="l" defTabSz="1244600">
            <a:lnSpc>
              <a:spcPct val="90000"/>
            </a:lnSpc>
            <a:spcBef>
              <a:spcPct val="0"/>
            </a:spcBef>
            <a:spcAft>
              <a:spcPct val="35000"/>
            </a:spcAft>
            <a:buNone/>
          </a:pPr>
          <a:r>
            <a:rPr lang="en-GB" sz="2800" kern="1200">
              <a:latin typeface="Times New Roman" panose="02020603050405020304" pitchFamily="18" charset="0"/>
              <a:cs typeface="Times New Roman" panose="02020603050405020304" pitchFamily="18" charset="0"/>
            </a:rPr>
            <a:t>Overfitting &amp; interpretability trade-off  </a:t>
          </a:r>
          <a:endParaRPr lang="en-US" sz="2800" kern="1200">
            <a:latin typeface="Times New Roman" panose="02020603050405020304" pitchFamily="18" charset="0"/>
            <a:cs typeface="Times New Roman" panose="02020603050405020304" pitchFamily="18" charset="0"/>
          </a:endParaRPr>
        </a:p>
      </dsp:txBody>
      <dsp:txXfrm>
        <a:off x="557483" y="3099467"/>
        <a:ext cx="7297514" cy="586034"/>
      </dsp:txXfrm>
    </dsp:sp>
    <dsp:sp modelId="{9971FCA0-8C66-452D-80F5-AE6008A93A19}">
      <dsp:nvSpPr>
        <dsp:cNvPr id="0" name=""/>
        <dsp:cNvSpPr/>
      </dsp:nvSpPr>
      <dsp:spPr>
        <a:xfrm>
          <a:off x="0" y="4390404"/>
          <a:ext cx="10515600" cy="554400"/>
        </a:xfrm>
        <a:prstGeom prst="rect">
          <a:avLst/>
        </a:prstGeom>
        <a:solidFill>
          <a:schemeClr val="lt1">
            <a:alpha val="90000"/>
            <a:hueOff val="0"/>
            <a:satOff val="0"/>
            <a:lumOff val="0"/>
            <a:alphaOff val="0"/>
          </a:schemeClr>
        </a:solidFill>
        <a:ln w="1905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7B3AED32-4A91-4FC5-A5B0-15617CFE3FF1}">
      <dsp:nvSpPr>
        <dsp:cNvPr id="0" name=""/>
        <dsp:cNvSpPr/>
      </dsp:nvSpPr>
      <dsp:spPr>
        <a:xfrm>
          <a:off x="525780" y="4065684"/>
          <a:ext cx="7360920" cy="649440"/>
        </a:xfrm>
        <a:prstGeom prst="roundRect">
          <a:avLst/>
        </a:prstGeom>
        <a:solidFill>
          <a:schemeClr val="accent6">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78225" tIns="0" rIns="278225" bIns="0" numCol="1" spcCol="1270" anchor="ctr" anchorCtr="0">
          <a:noAutofit/>
        </a:bodyPr>
        <a:lstStyle/>
        <a:p>
          <a:pPr marL="0" lvl="0" indent="0" algn="l" defTabSz="1244600">
            <a:lnSpc>
              <a:spcPct val="90000"/>
            </a:lnSpc>
            <a:spcBef>
              <a:spcPct val="0"/>
            </a:spcBef>
            <a:spcAft>
              <a:spcPct val="35000"/>
            </a:spcAft>
            <a:buNone/>
          </a:pPr>
          <a:r>
            <a:rPr lang="en-GB" sz="2800" kern="1200">
              <a:latin typeface="Times New Roman" panose="02020603050405020304" pitchFamily="18" charset="0"/>
              <a:cs typeface="Times New Roman" panose="02020603050405020304" pitchFamily="18" charset="0"/>
            </a:rPr>
            <a:t>Privacy &amp; deployment issues</a:t>
          </a:r>
          <a:endParaRPr lang="en-US" sz="2800" kern="1200">
            <a:latin typeface="Times New Roman" panose="02020603050405020304" pitchFamily="18" charset="0"/>
            <a:cs typeface="Times New Roman" panose="02020603050405020304" pitchFamily="18" charset="0"/>
          </a:endParaRPr>
        </a:p>
      </dsp:txBody>
      <dsp:txXfrm>
        <a:off x="557483" y="4097387"/>
        <a:ext cx="7297514" cy="58603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3A7E9D6-6443-4F4C-AF40-A79BA720AAAE}">
      <dsp:nvSpPr>
        <dsp:cNvPr id="0" name=""/>
        <dsp:cNvSpPr/>
      </dsp:nvSpPr>
      <dsp:spPr>
        <a:xfrm>
          <a:off x="0" y="364731"/>
          <a:ext cx="10515600" cy="554400"/>
        </a:xfrm>
        <a:prstGeom prst="rect">
          <a:avLst/>
        </a:prstGeom>
        <a:solidFill>
          <a:schemeClr val="lt1">
            <a:alpha val="90000"/>
            <a:hueOff val="0"/>
            <a:satOff val="0"/>
            <a:lumOff val="0"/>
            <a:alphaOff val="0"/>
          </a:schemeClr>
        </a:solidFill>
        <a:ln w="1905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59FD779C-9915-454E-BDE8-11EF8AFB3F8F}">
      <dsp:nvSpPr>
        <dsp:cNvPr id="0" name=""/>
        <dsp:cNvSpPr/>
      </dsp:nvSpPr>
      <dsp:spPr>
        <a:xfrm>
          <a:off x="525780" y="40011"/>
          <a:ext cx="7360920" cy="649440"/>
        </a:xfrm>
        <a:prstGeom prst="roundRect">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78225" tIns="0" rIns="278225" bIns="0" numCol="1" spcCol="1270" anchor="ctr" anchorCtr="0">
          <a:noAutofit/>
        </a:bodyPr>
        <a:lstStyle/>
        <a:p>
          <a:pPr marL="0" lvl="0" indent="0" algn="l" defTabSz="1244600">
            <a:lnSpc>
              <a:spcPct val="90000"/>
            </a:lnSpc>
            <a:spcBef>
              <a:spcPct val="0"/>
            </a:spcBef>
            <a:spcAft>
              <a:spcPct val="35000"/>
            </a:spcAft>
            <a:buNone/>
          </a:pPr>
          <a:r>
            <a:rPr lang="en-GB" sz="2800" kern="1200" dirty="0">
              <a:latin typeface="Times New Roman" panose="02020603050405020304" pitchFamily="18" charset="0"/>
              <a:cs typeface="Times New Roman" panose="02020603050405020304" pitchFamily="18" charset="0"/>
            </a:rPr>
            <a:t>Advanced ML models (RF, XGBoost) </a:t>
          </a:r>
          <a:endParaRPr lang="en-US" sz="2800" kern="1200" dirty="0">
            <a:latin typeface="Times New Roman" panose="02020603050405020304" pitchFamily="18" charset="0"/>
            <a:cs typeface="Times New Roman" panose="02020603050405020304" pitchFamily="18" charset="0"/>
          </a:endParaRPr>
        </a:p>
      </dsp:txBody>
      <dsp:txXfrm>
        <a:off x="557483" y="71714"/>
        <a:ext cx="7297514" cy="586034"/>
      </dsp:txXfrm>
    </dsp:sp>
    <dsp:sp modelId="{1084D504-60B5-4ACC-8648-91000BC83E16}">
      <dsp:nvSpPr>
        <dsp:cNvPr id="0" name=""/>
        <dsp:cNvSpPr/>
      </dsp:nvSpPr>
      <dsp:spPr>
        <a:xfrm>
          <a:off x="0" y="1362651"/>
          <a:ext cx="10515600" cy="554400"/>
        </a:xfrm>
        <a:prstGeom prst="rect">
          <a:avLst/>
        </a:prstGeom>
        <a:solidFill>
          <a:schemeClr val="lt1">
            <a:alpha val="90000"/>
            <a:hueOff val="0"/>
            <a:satOff val="0"/>
            <a:lumOff val="0"/>
            <a:alphaOff val="0"/>
          </a:schemeClr>
        </a:solidFill>
        <a:ln w="19050" cap="flat" cmpd="sng" algn="ctr">
          <a:solidFill>
            <a:schemeClr val="accent5">
              <a:hueOff val="-3038037"/>
              <a:satOff val="-207"/>
              <a:lumOff val="490"/>
              <a:alphaOff val="0"/>
            </a:schemeClr>
          </a:solidFill>
          <a:prstDash val="solid"/>
          <a:miter lim="800000"/>
        </a:ln>
        <a:effectLst/>
      </dsp:spPr>
      <dsp:style>
        <a:lnRef idx="2">
          <a:scrgbClr r="0" g="0" b="0"/>
        </a:lnRef>
        <a:fillRef idx="1">
          <a:scrgbClr r="0" g="0" b="0"/>
        </a:fillRef>
        <a:effectRef idx="0">
          <a:scrgbClr r="0" g="0" b="0"/>
        </a:effectRef>
        <a:fontRef idx="minor"/>
      </dsp:style>
    </dsp:sp>
    <dsp:sp modelId="{3C78F078-6B52-480F-BAF1-0CB3E1FD8124}">
      <dsp:nvSpPr>
        <dsp:cNvPr id="0" name=""/>
        <dsp:cNvSpPr/>
      </dsp:nvSpPr>
      <dsp:spPr>
        <a:xfrm>
          <a:off x="525780" y="1037931"/>
          <a:ext cx="7360920" cy="649440"/>
        </a:xfrm>
        <a:prstGeom prst="roundRect">
          <a:avLst/>
        </a:prstGeom>
        <a:solidFill>
          <a:schemeClr val="accent5">
            <a:hueOff val="-3038037"/>
            <a:satOff val="-207"/>
            <a:lumOff val="49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78225" tIns="0" rIns="278225" bIns="0" numCol="1" spcCol="1270" anchor="ctr" anchorCtr="0">
          <a:noAutofit/>
        </a:bodyPr>
        <a:lstStyle/>
        <a:p>
          <a:pPr marL="0" lvl="0" indent="0" algn="l" defTabSz="1244600">
            <a:lnSpc>
              <a:spcPct val="90000"/>
            </a:lnSpc>
            <a:spcBef>
              <a:spcPct val="0"/>
            </a:spcBef>
            <a:spcAft>
              <a:spcPct val="35000"/>
            </a:spcAft>
            <a:buNone/>
          </a:pPr>
          <a:r>
            <a:rPr lang="en-GB" sz="2800" kern="1200">
              <a:latin typeface="Times New Roman" panose="02020603050405020304" pitchFamily="18" charset="0"/>
              <a:cs typeface="Times New Roman" panose="02020603050405020304" pitchFamily="18" charset="0"/>
            </a:rPr>
            <a:t>Real-time prediction systems </a:t>
          </a:r>
          <a:endParaRPr lang="en-US" sz="2800" kern="1200">
            <a:latin typeface="Times New Roman" panose="02020603050405020304" pitchFamily="18" charset="0"/>
            <a:cs typeface="Times New Roman" panose="02020603050405020304" pitchFamily="18" charset="0"/>
          </a:endParaRPr>
        </a:p>
      </dsp:txBody>
      <dsp:txXfrm>
        <a:off x="557483" y="1069634"/>
        <a:ext cx="7297514" cy="586034"/>
      </dsp:txXfrm>
    </dsp:sp>
    <dsp:sp modelId="{2857F111-116C-4125-AD5D-5C0425663A28}">
      <dsp:nvSpPr>
        <dsp:cNvPr id="0" name=""/>
        <dsp:cNvSpPr/>
      </dsp:nvSpPr>
      <dsp:spPr>
        <a:xfrm>
          <a:off x="0" y="2360571"/>
          <a:ext cx="10515600" cy="554400"/>
        </a:xfrm>
        <a:prstGeom prst="rect">
          <a:avLst/>
        </a:prstGeom>
        <a:solidFill>
          <a:schemeClr val="lt1">
            <a:alpha val="90000"/>
            <a:hueOff val="0"/>
            <a:satOff val="0"/>
            <a:lumOff val="0"/>
            <a:alphaOff val="0"/>
          </a:schemeClr>
        </a:solidFill>
        <a:ln w="19050" cap="flat" cmpd="sng" algn="ctr">
          <a:solidFill>
            <a:schemeClr val="accent5">
              <a:hueOff val="-6076075"/>
              <a:satOff val="-413"/>
              <a:lumOff val="981"/>
              <a:alphaOff val="0"/>
            </a:schemeClr>
          </a:solidFill>
          <a:prstDash val="solid"/>
          <a:miter lim="800000"/>
        </a:ln>
        <a:effectLst/>
      </dsp:spPr>
      <dsp:style>
        <a:lnRef idx="2">
          <a:scrgbClr r="0" g="0" b="0"/>
        </a:lnRef>
        <a:fillRef idx="1">
          <a:scrgbClr r="0" g="0" b="0"/>
        </a:fillRef>
        <a:effectRef idx="0">
          <a:scrgbClr r="0" g="0" b="0"/>
        </a:effectRef>
        <a:fontRef idx="minor"/>
      </dsp:style>
    </dsp:sp>
    <dsp:sp modelId="{4A35160D-127A-4646-AADE-E236D636530E}">
      <dsp:nvSpPr>
        <dsp:cNvPr id="0" name=""/>
        <dsp:cNvSpPr/>
      </dsp:nvSpPr>
      <dsp:spPr>
        <a:xfrm>
          <a:off x="525780" y="2035851"/>
          <a:ext cx="7360920" cy="649440"/>
        </a:xfrm>
        <a:prstGeom prst="roundRect">
          <a:avLst/>
        </a:prstGeom>
        <a:solidFill>
          <a:schemeClr val="accent5">
            <a:hueOff val="-6076075"/>
            <a:satOff val="-413"/>
            <a:lumOff val="981"/>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78225" tIns="0" rIns="278225" bIns="0" numCol="1" spcCol="1270" anchor="ctr" anchorCtr="0">
          <a:noAutofit/>
        </a:bodyPr>
        <a:lstStyle/>
        <a:p>
          <a:pPr marL="0" lvl="0" indent="0" algn="l" defTabSz="1244600">
            <a:lnSpc>
              <a:spcPct val="90000"/>
            </a:lnSpc>
            <a:spcBef>
              <a:spcPct val="0"/>
            </a:spcBef>
            <a:spcAft>
              <a:spcPct val="35000"/>
            </a:spcAft>
            <a:buNone/>
          </a:pPr>
          <a:r>
            <a:rPr lang="en-GB" sz="2800" kern="1200">
              <a:latin typeface="Times New Roman" panose="02020603050405020304" pitchFamily="18" charset="0"/>
              <a:cs typeface="Times New Roman" panose="02020603050405020304" pitchFamily="18" charset="0"/>
            </a:rPr>
            <a:t>Integration with university systems </a:t>
          </a:r>
          <a:endParaRPr lang="en-US" sz="2800" kern="1200">
            <a:latin typeface="Times New Roman" panose="02020603050405020304" pitchFamily="18" charset="0"/>
            <a:cs typeface="Times New Roman" panose="02020603050405020304" pitchFamily="18" charset="0"/>
          </a:endParaRPr>
        </a:p>
      </dsp:txBody>
      <dsp:txXfrm>
        <a:off x="557483" y="2067554"/>
        <a:ext cx="7297514" cy="586034"/>
      </dsp:txXfrm>
    </dsp:sp>
    <dsp:sp modelId="{9CAFDC42-85E4-48DF-9C75-26B5E5BD0728}">
      <dsp:nvSpPr>
        <dsp:cNvPr id="0" name=""/>
        <dsp:cNvSpPr/>
      </dsp:nvSpPr>
      <dsp:spPr>
        <a:xfrm>
          <a:off x="0" y="3358491"/>
          <a:ext cx="10515600" cy="554400"/>
        </a:xfrm>
        <a:prstGeom prst="rect">
          <a:avLst/>
        </a:prstGeom>
        <a:solidFill>
          <a:schemeClr val="lt1">
            <a:alpha val="90000"/>
            <a:hueOff val="0"/>
            <a:satOff val="0"/>
            <a:lumOff val="0"/>
            <a:alphaOff val="0"/>
          </a:schemeClr>
        </a:solidFill>
        <a:ln w="19050" cap="flat" cmpd="sng" algn="ctr">
          <a:solidFill>
            <a:schemeClr val="accent5">
              <a:hueOff val="-9114112"/>
              <a:satOff val="-620"/>
              <a:lumOff val="1471"/>
              <a:alphaOff val="0"/>
            </a:schemeClr>
          </a:solidFill>
          <a:prstDash val="solid"/>
          <a:miter lim="800000"/>
        </a:ln>
        <a:effectLst/>
      </dsp:spPr>
      <dsp:style>
        <a:lnRef idx="2">
          <a:scrgbClr r="0" g="0" b="0"/>
        </a:lnRef>
        <a:fillRef idx="1">
          <a:scrgbClr r="0" g="0" b="0"/>
        </a:fillRef>
        <a:effectRef idx="0">
          <a:scrgbClr r="0" g="0" b="0"/>
        </a:effectRef>
        <a:fontRef idx="minor"/>
      </dsp:style>
    </dsp:sp>
    <dsp:sp modelId="{AE1E908E-46B8-44FF-B4BF-5064D403BC71}">
      <dsp:nvSpPr>
        <dsp:cNvPr id="0" name=""/>
        <dsp:cNvSpPr/>
      </dsp:nvSpPr>
      <dsp:spPr>
        <a:xfrm>
          <a:off x="525780" y="3033771"/>
          <a:ext cx="7360920" cy="649440"/>
        </a:xfrm>
        <a:prstGeom prst="roundRect">
          <a:avLst/>
        </a:prstGeom>
        <a:solidFill>
          <a:schemeClr val="accent5">
            <a:hueOff val="-9114112"/>
            <a:satOff val="-620"/>
            <a:lumOff val="1471"/>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78225" tIns="0" rIns="278225" bIns="0" numCol="1" spcCol="1270" anchor="ctr" anchorCtr="0">
          <a:noAutofit/>
        </a:bodyPr>
        <a:lstStyle/>
        <a:p>
          <a:pPr marL="0" lvl="0" indent="0" algn="l" defTabSz="1244600">
            <a:lnSpc>
              <a:spcPct val="90000"/>
            </a:lnSpc>
            <a:spcBef>
              <a:spcPct val="0"/>
            </a:spcBef>
            <a:spcAft>
              <a:spcPct val="35000"/>
            </a:spcAft>
            <a:buNone/>
          </a:pPr>
          <a:r>
            <a:rPr lang="en-GB" sz="2800" kern="1200">
              <a:latin typeface="Times New Roman" panose="02020603050405020304" pitchFamily="18" charset="0"/>
              <a:cs typeface="Times New Roman" panose="02020603050405020304" pitchFamily="18" charset="0"/>
            </a:rPr>
            <a:t>Use of behavioral &amp; multi-source data </a:t>
          </a:r>
          <a:endParaRPr lang="en-US" sz="2800" kern="1200">
            <a:latin typeface="Times New Roman" panose="02020603050405020304" pitchFamily="18" charset="0"/>
            <a:cs typeface="Times New Roman" panose="02020603050405020304" pitchFamily="18" charset="0"/>
          </a:endParaRPr>
        </a:p>
      </dsp:txBody>
      <dsp:txXfrm>
        <a:off x="557483" y="3065474"/>
        <a:ext cx="7297514" cy="586034"/>
      </dsp:txXfrm>
    </dsp:sp>
    <dsp:sp modelId="{1893785A-E9DC-40B6-AE56-7008F9B836E1}">
      <dsp:nvSpPr>
        <dsp:cNvPr id="0" name=""/>
        <dsp:cNvSpPr/>
      </dsp:nvSpPr>
      <dsp:spPr>
        <a:xfrm>
          <a:off x="0" y="4356411"/>
          <a:ext cx="10515600" cy="554400"/>
        </a:xfrm>
        <a:prstGeom prst="rect">
          <a:avLst/>
        </a:prstGeom>
        <a:solidFill>
          <a:schemeClr val="lt1">
            <a:alpha val="90000"/>
            <a:hueOff val="0"/>
            <a:satOff val="0"/>
            <a:lumOff val="0"/>
            <a:alphaOff val="0"/>
          </a:schemeClr>
        </a:solidFill>
        <a:ln w="19050" cap="flat" cmpd="sng" algn="ctr">
          <a:solidFill>
            <a:schemeClr val="accent5">
              <a:hueOff val="-12152150"/>
              <a:satOff val="-826"/>
              <a:lumOff val="1961"/>
              <a:alphaOff val="0"/>
            </a:schemeClr>
          </a:solidFill>
          <a:prstDash val="solid"/>
          <a:miter lim="800000"/>
        </a:ln>
        <a:effectLst/>
      </dsp:spPr>
      <dsp:style>
        <a:lnRef idx="2">
          <a:scrgbClr r="0" g="0" b="0"/>
        </a:lnRef>
        <a:fillRef idx="1">
          <a:scrgbClr r="0" g="0" b="0"/>
        </a:fillRef>
        <a:effectRef idx="0">
          <a:scrgbClr r="0" g="0" b="0"/>
        </a:effectRef>
        <a:fontRef idx="minor"/>
      </dsp:style>
    </dsp:sp>
    <dsp:sp modelId="{CCE7E9EF-5ED1-4D5F-9E5E-E8A2F9B9DC66}">
      <dsp:nvSpPr>
        <dsp:cNvPr id="0" name=""/>
        <dsp:cNvSpPr/>
      </dsp:nvSpPr>
      <dsp:spPr>
        <a:xfrm>
          <a:off x="525780" y="4031691"/>
          <a:ext cx="7360920" cy="649440"/>
        </a:xfrm>
        <a:prstGeom prst="roundRect">
          <a:avLst/>
        </a:prstGeom>
        <a:solidFill>
          <a:schemeClr val="accent5">
            <a:hueOff val="-12152150"/>
            <a:satOff val="-826"/>
            <a:lumOff val="1961"/>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78225" tIns="0" rIns="278225" bIns="0" numCol="1" spcCol="1270" anchor="ctr" anchorCtr="0">
          <a:noAutofit/>
        </a:bodyPr>
        <a:lstStyle/>
        <a:p>
          <a:pPr marL="0" lvl="0" indent="0" algn="l" defTabSz="1244600">
            <a:lnSpc>
              <a:spcPct val="90000"/>
            </a:lnSpc>
            <a:spcBef>
              <a:spcPct val="0"/>
            </a:spcBef>
            <a:spcAft>
              <a:spcPct val="35000"/>
            </a:spcAft>
            <a:buNone/>
          </a:pPr>
          <a:r>
            <a:rPr lang="en-GB" sz="2800" kern="1200" dirty="0">
              <a:latin typeface="Times New Roman" panose="02020603050405020304" pitchFamily="18" charset="0"/>
              <a:cs typeface="Times New Roman" panose="02020603050405020304" pitchFamily="18" charset="0"/>
            </a:rPr>
            <a:t>Deep Learning &amp; AI-Based Systems</a:t>
          </a:r>
          <a:endParaRPr lang="en-US" sz="2800" kern="1200" dirty="0">
            <a:latin typeface="Times New Roman" panose="02020603050405020304" pitchFamily="18" charset="0"/>
            <a:cs typeface="Times New Roman" panose="02020603050405020304" pitchFamily="18" charset="0"/>
          </a:endParaRPr>
        </a:p>
      </dsp:txBody>
      <dsp:txXfrm>
        <a:off x="557483" y="4063394"/>
        <a:ext cx="7297514" cy="586034"/>
      </dsp:txXfrm>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DDADA7-3AB7-9B98-0FE6-E8922E38CCF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913D16C2-C9E8-2E20-6BCE-8770B4A3FE7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9773AF18-6BD6-6277-C884-D0784BE69488}"/>
              </a:ext>
            </a:extLst>
          </p:cNvPr>
          <p:cNvSpPr>
            <a:spLocks noGrp="1"/>
          </p:cNvSpPr>
          <p:nvPr>
            <p:ph type="dt" sz="half" idx="10"/>
          </p:nvPr>
        </p:nvSpPr>
        <p:spPr/>
        <p:txBody>
          <a:bodyPr/>
          <a:lstStyle/>
          <a:p>
            <a:fld id="{CB499508-2631-4A69-82D6-5742C49B5FEF}" type="datetimeFigureOut">
              <a:rPr lang="en-GB" smtClean="0"/>
              <a:t>27/03/2026</a:t>
            </a:fld>
            <a:endParaRPr lang="en-GB"/>
          </a:p>
        </p:txBody>
      </p:sp>
      <p:sp>
        <p:nvSpPr>
          <p:cNvPr id="5" name="Footer Placeholder 4">
            <a:extLst>
              <a:ext uri="{FF2B5EF4-FFF2-40B4-BE49-F238E27FC236}">
                <a16:creationId xmlns:a16="http://schemas.microsoft.com/office/drawing/2014/main" id="{B338ACFC-241B-EC8D-F941-1046409836B0}"/>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B8F53DAB-2DAA-43E5-0A2B-BDCA9177C159}"/>
              </a:ext>
            </a:extLst>
          </p:cNvPr>
          <p:cNvSpPr>
            <a:spLocks noGrp="1"/>
          </p:cNvSpPr>
          <p:nvPr>
            <p:ph type="sldNum" sz="quarter" idx="12"/>
          </p:nvPr>
        </p:nvSpPr>
        <p:spPr/>
        <p:txBody>
          <a:bodyPr/>
          <a:lstStyle/>
          <a:p>
            <a:fld id="{A23C5B1F-B211-4374-AF05-807146D0E709}" type="slidenum">
              <a:rPr lang="en-GB" smtClean="0"/>
              <a:t>‹#›</a:t>
            </a:fld>
            <a:endParaRPr lang="en-GB"/>
          </a:p>
        </p:txBody>
      </p:sp>
    </p:spTree>
    <p:extLst>
      <p:ext uri="{BB962C8B-B14F-4D97-AF65-F5344CB8AC3E}">
        <p14:creationId xmlns:p14="http://schemas.microsoft.com/office/powerpoint/2010/main" val="31683275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9098CF-6207-7437-7923-1823C5AA83A3}"/>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32F19BF4-2DBA-A633-997B-B604E833502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F74CE97C-C581-2543-7FA6-A221B9E55E74}"/>
              </a:ext>
            </a:extLst>
          </p:cNvPr>
          <p:cNvSpPr>
            <a:spLocks noGrp="1"/>
          </p:cNvSpPr>
          <p:nvPr>
            <p:ph type="dt" sz="half" idx="10"/>
          </p:nvPr>
        </p:nvSpPr>
        <p:spPr/>
        <p:txBody>
          <a:bodyPr/>
          <a:lstStyle/>
          <a:p>
            <a:fld id="{CB499508-2631-4A69-82D6-5742C49B5FEF}" type="datetimeFigureOut">
              <a:rPr lang="en-GB" smtClean="0"/>
              <a:t>27/03/2026</a:t>
            </a:fld>
            <a:endParaRPr lang="en-GB"/>
          </a:p>
        </p:txBody>
      </p:sp>
      <p:sp>
        <p:nvSpPr>
          <p:cNvPr id="5" name="Footer Placeholder 4">
            <a:extLst>
              <a:ext uri="{FF2B5EF4-FFF2-40B4-BE49-F238E27FC236}">
                <a16:creationId xmlns:a16="http://schemas.microsoft.com/office/drawing/2014/main" id="{B4470DBB-7C68-575D-9839-C45533D740CE}"/>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FAAC4482-98F3-B9B1-CD3D-06EB2605B6A7}"/>
              </a:ext>
            </a:extLst>
          </p:cNvPr>
          <p:cNvSpPr>
            <a:spLocks noGrp="1"/>
          </p:cNvSpPr>
          <p:nvPr>
            <p:ph type="sldNum" sz="quarter" idx="12"/>
          </p:nvPr>
        </p:nvSpPr>
        <p:spPr/>
        <p:txBody>
          <a:bodyPr/>
          <a:lstStyle/>
          <a:p>
            <a:fld id="{A23C5B1F-B211-4374-AF05-807146D0E709}" type="slidenum">
              <a:rPr lang="en-GB" smtClean="0"/>
              <a:t>‹#›</a:t>
            </a:fld>
            <a:endParaRPr lang="en-GB"/>
          </a:p>
        </p:txBody>
      </p:sp>
    </p:spTree>
    <p:extLst>
      <p:ext uri="{BB962C8B-B14F-4D97-AF65-F5344CB8AC3E}">
        <p14:creationId xmlns:p14="http://schemas.microsoft.com/office/powerpoint/2010/main" val="12669697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E28703-6897-6AD7-56CC-57FBE0E1B81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DC12E958-3C80-A082-F099-44BC175F3ED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2DA9CDE-4141-0AC8-C5B9-ABA3080A2EF5}"/>
              </a:ext>
            </a:extLst>
          </p:cNvPr>
          <p:cNvSpPr>
            <a:spLocks noGrp="1"/>
          </p:cNvSpPr>
          <p:nvPr>
            <p:ph type="dt" sz="half" idx="10"/>
          </p:nvPr>
        </p:nvSpPr>
        <p:spPr/>
        <p:txBody>
          <a:bodyPr/>
          <a:lstStyle/>
          <a:p>
            <a:fld id="{CB499508-2631-4A69-82D6-5742C49B5FEF}" type="datetimeFigureOut">
              <a:rPr lang="en-GB" smtClean="0"/>
              <a:t>27/03/2026</a:t>
            </a:fld>
            <a:endParaRPr lang="en-GB"/>
          </a:p>
        </p:txBody>
      </p:sp>
      <p:sp>
        <p:nvSpPr>
          <p:cNvPr id="5" name="Footer Placeholder 4">
            <a:extLst>
              <a:ext uri="{FF2B5EF4-FFF2-40B4-BE49-F238E27FC236}">
                <a16:creationId xmlns:a16="http://schemas.microsoft.com/office/drawing/2014/main" id="{742CC9CC-7BFB-0DDE-3614-6E5D4B17EC0F}"/>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58A65EF6-2779-A5D5-928F-8EFFA1DCA5D5}"/>
              </a:ext>
            </a:extLst>
          </p:cNvPr>
          <p:cNvSpPr>
            <a:spLocks noGrp="1"/>
          </p:cNvSpPr>
          <p:nvPr>
            <p:ph type="sldNum" sz="quarter" idx="12"/>
          </p:nvPr>
        </p:nvSpPr>
        <p:spPr/>
        <p:txBody>
          <a:bodyPr/>
          <a:lstStyle/>
          <a:p>
            <a:fld id="{A23C5B1F-B211-4374-AF05-807146D0E709}" type="slidenum">
              <a:rPr lang="en-GB" smtClean="0"/>
              <a:t>‹#›</a:t>
            </a:fld>
            <a:endParaRPr lang="en-GB"/>
          </a:p>
        </p:txBody>
      </p:sp>
    </p:spTree>
    <p:extLst>
      <p:ext uri="{BB962C8B-B14F-4D97-AF65-F5344CB8AC3E}">
        <p14:creationId xmlns:p14="http://schemas.microsoft.com/office/powerpoint/2010/main" val="21006905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619B70-0B49-E29A-9AC1-22A3738FFECD}"/>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517A16F9-C525-12B3-EEAA-4474057A806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A9003DC8-F4D6-7B48-2DEC-6125699E855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FAE30F1F-2F4A-F3C1-0CD1-AA1347F91B87}"/>
              </a:ext>
            </a:extLst>
          </p:cNvPr>
          <p:cNvSpPr>
            <a:spLocks noGrp="1"/>
          </p:cNvSpPr>
          <p:nvPr>
            <p:ph type="dt" sz="half" idx="10"/>
          </p:nvPr>
        </p:nvSpPr>
        <p:spPr/>
        <p:txBody>
          <a:bodyPr/>
          <a:lstStyle/>
          <a:p>
            <a:fld id="{CB499508-2631-4A69-82D6-5742C49B5FEF}" type="datetimeFigureOut">
              <a:rPr lang="en-GB" smtClean="0"/>
              <a:t>27/03/2026</a:t>
            </a:fld>
            <a:endParaRPr lang="en-GB"/>
          </a:p>
        </p:txBody>
      </p:sp>
      <p:sp>
        <p:nvSpPr>
          <p:cNvPr id="6" name="Footer Placeholder 5">
            <a:extLst>
              <a:ext uri="{FF2B5EF4-FFF2-40B4-BE49-F238E27FC236}">
                <a16:creationId xmlns:a16="http://schemas.microsoft.com/office/drawing/2014/main" id="{8D2CE4AA-64EA-FF24-79AD-73DEC239D5E4}"/>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59F73F69-313B-DA1E-D1A5-9FA78260459A}"/>
              </a:ext>
            </a:extLst>
          </p:cNvPr>
          <p:cNvSpPr>
            <a:spLocks noGrp="1"/>
          </p:cNvSpPr>
          <p:nvPr>
            <p:ph type="sldNum" sz="quarter" idx="12"/>
          </p:nvPr>
        </p:nvSpPr>
        <p:spPr/>
        <p:txBody>
          <a:bodyPr/>
          <a:lstStyle/>
          <a:p>
            <a:fld id="{A23C5B1F-B211-4374-AF05-807146D0E709}" type="slidenum">
              <a:rPr lang="en-GB" smtClean="0"/>
              <a:t>‹#›</a:t>
            </a:fld>
            <a:endParaRPr lang="en-GB"/>
          </a:p>
        </p:txBody>
      </p:sp>
    </p:spTree>
    <p:extLst>
      <p:ext uri="{BB962C8B-B14F-4D97-AF65-F5344CB8AC3E}">
        <p14:creationId xmlns:p14="http://schemas.microsoft.com/office/powerpoint/2010/main" val="10380562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11A421-02EA-9CBB-CCC2-2509A7919B04}"/>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23C8E30A-7399-9108-3128-08342E89CEA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5E61E06-75C8-EF80-3A40-C0D8702885E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3DCFC505-6AE1-664C-F2EB-1FB478B803E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4D773AA-7D82-B1A3-4093-8100AD69935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379D4F9B-5463-4B53-8D40-8A73E4110225}"/>
              </a:ext>
            </a:extLst>
          </p:cNvPr>
          <p:cNvSpPr>
            <a:spLocks noGrp="1"/>
          </p:cNvSpPr>
          <p:nvPr>
            <p:ph type="dt" sz="half" idx="10"/>
          </p:nvPr>
        </p:nvSpPr>
        <p:spPr/>
        <p:txBody>
          <a:bodyPr/>
          <a:lstStyle/>
          <a:p>
            <a:fld id="{CB499508-2631-4A69-82D6-5742C49B5FEF}" type="datetimeFigureOut">
              <a:rPr lang="en-GB" smtClean="0"/>
              <a:t>27/03/2026</a:t>
            </a:fld>
            <a:endParaRPr lang="en-GB"/>
          </a:p>
        </p:txBody>
      </p:sp>
      <p:sp>
        <p:nvSpPr>
          <p:cNvPr id="8" name="Footer Placeholder 7">
            <a:extLst>
              <a:ext uri="{FF2B5EF4-FFF2-40B4-BE49-F238E27FC236}">
                <a16:creationId xmlns:a16="http://schemas.microsoft.com/office/drawing/2014/main" id="{72DF146A-299F-EE81-1135-759F7448FF35}"/>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C0E5ECF1-B6E2-525C-54E2-D5441682701B}"/>
              </a:ext>
            </a:extLst>
          </p:cNvPr>
          <p:cNvSpPr>
            <a:spLocks noGrp="1"/>
          </p:cNvSpPr>
          <p:nvPr>
            <p:ph type="sldNum" sz="quarter" idx="12"/>
          </p:nvPr>
        </p:nvSpPr>
        <p:spPr/>
        <p:txBody>
          <a:bodyPr/>
          <a:lstStyle/>
          <a:p>
            <a:fld id="{A23C5B1F-B211-4374-AF05-807146D0E709}" type="slidenum">
              <a:rPr lang="en-GB" smtClean="0"/>
              <a:t>‹#›</a:t>
            </a:fld>
            <a:endParaRPr lang="en-GB"/>
          </a:p>
        </p:txBody>
      </p:sp>
    </p:spTree>
    <p:extLst>
      <p:ext uri="{BB962C8B-B14F-4D97-AF65-F5344CB8AC3E}">
        <p14:creationId xmlns:p14="http://schemas.microsoft.com/office/powerpoint/2010/main" val="38481564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8446E-E92F-1A09-75E6-C6574E0E1957}"/>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E1EE462D-0FB2-7800-93F6-0E96F4AFDE40}"/>
              </a:ext>
            </a:extLst>
          </p:cNvPr>
          <p:cNvSpPr>
            <a:spLocks noGrp="1"/>
          </p:cNvSpPr>
          <p:nvPr>
            <p:ph type="dt" sz="half" idx="10"/>
          </p:nvPr>
        </p:nvSpPr>
        <p:spPr/>
        <p:txBody>
          <a:bodyPr/>
          <a:lstStyle/>
          <a:p>
            <a:fld id="{CB499508-2631-4A69-82D6-5742C49B5FEF}" type="datetimeFigureOut">
              <a:rPr lang="en-GB" smtClean="0"/>
              <a:t>27/03/2026</a:t>
            </a:fld>
            <a:endParaRPr lang="en-GB"/>
          </a:p>
        </p:txBody>
      </p:sp>
      <p:sp>
        <p:nvSpPr>
          <p:cNvPr id="4" name="Footer Placeholder 3">
            <a:extLst>
              <a:ext uri="{FF2B5EF4-FFF2-40B4-BE49-F238E27FC236}">
                <a16:creationId xmlns:a16="http://schemas.microsoft.com/office/drawing/2014/main" id="{074F0FD2-CCAD-6280-60EA-FA902130C10E}"/>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C23B91D5-1569-F626-D73D-86E6502A5968}"/>
              </a:ext>
            </a:extLst>
          </p:cNvPr>
          <p:cNvSpPr>
            <a:spLocks noGrp="1"/>
          </p:cNvSpPr>
          <p:nvPr>
            <p:ph type="sldNum" sz="quarter" idx="12"/>
          </p:nvPr>
        </p:nvSpPr>
        <p:spPr/>
        <p:txBody>
          <a:bodyPr/>
          <a:lstStyle/>
          <a:p>
            <a:fld id="{A23C5B1F-B211-4374-AF05-807146D0E709}" type="slidenum">
              <a:rPr lang="en-GB" smtClean="0"/>
              <a:t>‹#›</a:t>
            </a:fld>
            <a:endParaRPr lang="en-GB"/>
          </a:p>
        </p:txBody>
      </p:sp>
    </p:spTree>
    <p:extLst>
      <p:ext uri="{BB962C8B-B14F-4D97-AF65-F5344CB8AC3E}">
        <p14:creationId xmlns:p14="http://schemas.microsoft.com/office/powerpoint/2010/main" val="13311252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EBF5CA7-7668-3C39-A57A-6D0447402779}"/>
              </a:ext>
            </a:extLst>
          </p:cNvPr>
          <p:cNvSpPr>
            <a:spLocks noGrp="1"/>
          </p:cNvSpPr>
          <p:nvPr>
            <p:ph type="dt" sz="half" idx="10"/>
          </p:nvPr>
        </p:nvSpPr>
        <p:spPr/>
        <p:txBody>
          <a:bodyPr/>
          <a:lstStyle/>
          <a:p>
            <a:fld id="{CB499508-2631-4A69-82D6-5742C49B5FEF}" type="datetimeFigureOut">
              <a:rPr lang="en-GB" smtClean="0"/>
              <a:t>27/03/2026</a:t>
            </a:fld>
            <a:endParaRPr lang="en-GB"/>
          </a:p>
        </p:txBody>
      </p:sp>
      <p:sp>
        <p:nvSpPr>
          <p:cNvPr id="3" name="Footer Placeholder 2">
            <a:extLst>
              <a:ext uri="{FF2B5EF4-FFF2-40B4-BE49-F238E27FC236}">
                <a16:creationId xmlns:a16="http://schemas.microsoft.com/office/drawing/2014/main" id="{80B17A9B-FF2A-6EE7-01C1-B575F57BEF9E}"/>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B9E4166D-8451-9C25-95B3-55D7A432E48C}"/>
              </a:ext>
            </a:extLst>
          </p:cNvPr>
          <p:cNvSpPr>
            <a:spLocks noGrp="1"/>
          </p:cNvSpPr>
          <p:nvPr>
            <p:ph type="sldNum" sz="quarter" idx="12"/>
          </p:nvPr>
        </p:nvSpPr>
        <p:spPr/>
        <p:txBody>
          <a:bodyPr/>
          <a:lstStyle/>
          <a:p>
            <a:fld id="{A23C5B1F-B211-4374-AF05-807146D0E709}" type="slidenum">
              <a:rPr lang="en-GB" smtClean="0"/>
              <a:t>‹#›</a:t>
            </a:fld>
            <a:endParaRPr lang="en-GB"/>
          </a:p>
        </p:txBody>
      </p:sp>
    </p:spTree>
    <p:extLst>
      <p:ext uri="{BB962C8B-B14F-4D97-AF65-F5344CB8AC3E}">
        <p14:creationId xmlns:p14="http://schemas.microsoft.com/office/powerpoint/2010/main" val="37926760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E421CF-7F9B-F9ED-6509-9B3D7D996FD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0E7D1644-B303-A77D-8E3B-048F243ACA2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AE01B69A-0174-2A57-98F8-72F23FA865F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5A86F70-273A-7DD4-1DAB-7DCF60B0CBFB}"/>
              </a:ext>
            </a:extLst>
          </p:cNvPr>
          <p:cNvSpPr>
            <a:spLocks noGrp="1"/>
          </p:cNvSpPr>
          <p:nvPr>
            <p:ph type="dt" sz="half" idx="10"/>
          </p:nvPr>
        </p:nvSpPr>
        <p:spPr/>
        <p:txBody>
          <a:bodyPr/>
          <a:lstStyle/>
          <a:p>
            <a:fld id="{CB499508-2631-4A69-82D6-5742C49B5FEF}" type="datetimeFigureOut">
              <a:rPr lang="en-GB" smtClean="0"/>
              <a:t>27/03/2026</a:t>
            </a:fld>
            <a:endParaRPr lang="en-GB"/>
          </a:p>
        </p:txBody>
      </p:sp>
      <p:sp>
        <p:nvSpPr>
          <p:cNvPr id="6" name="Footer Placeholder 5">
            <a:extLst>
              <a:ext uri="{FF2B5EF4-FFF2-40B4-BE49-F238E27FC236}">
                <a16:creationId xmlns:a16="http://schemas.microsoft.com/office/drawing/2014/main" id="{C3E94F74-40E1-C7E0-D1F3-52D12A70899A}"/>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869BBB21-85A1-2931-191C-F71729B8F796}"/>
              </a:ext>
            </a:extLst>
          </p:cNvPr>
          <p:cNvSpPr>
            <a:spLocks noGrp="1"/>
          </p:cNvSpPr>
          <p:nvPr>
            <p:ph type="sldNum" sz="quarter" idx="12"/>
          </p:nvPr>
        </p:nvSpPr>
        <p:spPr/>
        <p:txBody>
          <a:bodyPr/>
          <a:lstStyle/>
          <a:p>
            <a:fld id="{A23C5B1F-B211-4374-AF05-807146D0E709}" type="slidenum">
              <a:rPr lang="en-GB" smtClean="0"/>
              <a:t>‹#›</a:t>
            </a:fld>
            <a:endParaRPr lang="en-GB"/>
          </a:p>
        </p:txBody>
      </p:sp>
    </p:spTree>
    <p:extLst>
      <p:ext uri="{BB962C8B-B14F-4D97-AF65-F5344CB8AC3E}">
        <p14:creationId xmlns:p14="http://schemas.microsoft.com/office/powerpoint/2010/main" val="33027434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F79C75-F973-FB2F-22D6-6B404972E1D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6CF12204-5776-830C-9138-B173F1224A2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CEB96375-9400-7DE2-FDAC-3AFCE084D96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210E6BE-8F1B-AF49-9EE7-270AD09DCC00}"/>
              </a:ext>
            </a:extLst>
          </p:cNvPr>
          <p:cNvSpPr>
            <a:spLocks noGrp="1"/>
          </p:cNvSpPr>
          <p:nvPr>
            <p:ph type="dt" sz="half" idx="10"/>
          </p:nvPr>
        </p:nvSpPr>
        <p:spPr/>
        <p:txBody>
          <a:bodyPr/>
          <a:lstStyle/>
          <a:p>
            <a:fld id="{CB499508-2631-4A69-82D6-5742C49B5FEF}" type="datetimeFigureOut">
              <a:rPr lang="en-GB" smtClean="0"/>
              <a:t>27/03/2026</a:t>
            </a:fld>
            <a:endParaRPr lang="en-GB"/>
          </a:p>
        </p:txBody>
      </p:sp>
      <p:sp>
        <p:nvSpPr>
          <p:cNvPr id="6" name="Footer Placeholder 5">
            <a:extLst>
              <a:ext uri="{FF2B5EF4-FFF2-40B4-BE49-F238E27FC236}">
                <a16:creationId xmlns:a16="http://schemas.microsoft.com/office/drawing/2014/main" id="{13999C2D-F3CC-EA4D-0007-449DD029F498}"/>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B0E75820-240A-CC00-BBAE-ED6676AA117D}"/>
              </a:ext>
            </a:extLst>
          </p:cNvPr>
          <p:cNvSpPr>
            <a:spLocks noGrp="1"/>
          </p:cNvSpPr>
          <p:nvPr>
            <p:ph type="sldNum" sz="quarter" idx="12"/>
          </p:nvPr>
        </p:nvSpPr>
        <p:spPr/>
        <p:txBody>
          <a:bodyPr/>
          <a:lstStyle/>
          <a:p>
            <a:fld id="{A23C5B1F-B211-4374-AF05-807146D0E709}" type="slidenum">
              <a:rPr lang="en-GB" smtClean="0"/>
              <a:t>‹#›</a:t>
            </a:fld>
            <a:endParaRPr lang="en-GB"/>
          </a:p>
        </p:txBody>
      </p:sp>
    </p:spTree>
    <p:extLst>
      <p:ext uri="{BB962C8B-B14F-4D97-AF65-F5344CB8AC3E}">
        <p14:creationId xmlns:p14="http://schemas.microsoft.com/office/powerpoint/2010/main" val="40551219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C9AC5C-B340-F2C7-DB93-75E40FB4D7AE}"/>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EB30494C-1C45-44CC-A799-558D62A9D2F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A66E5C37-A029-B5E3-916A-3E1EF489D749}"/>
              </a:ext>
            </a:extLst>
          </p:cNvPr>
          <p:cNvSpPr>
            <a:spLocks noGrp="1"/>
          </p:cNvSpPr>
          <p:nvPr>
            <p:ph type="dt" sz="half" idx="10"/>
          </p:nvPr>
        </p:nvSpPr>
        <p:spPr/>
        <p:txBody>
          <a:bodyPr/>
          <a:lstStyle/>
          <a:p>
            <a:fld id="{CB499508-2631-4A69-82D6-5742C49B5FEF}" type="datetimeFigureOut">
              <a:rPr lang="en-GB" smtClean="0"/>
              <a:t>27/03/2026</a:t>
            </a:fld>
            <a:endParaRPr lang="en-GB"/>
          </a:p>
        </p:txBody>
      </p:sp>
      <p:sp>
        <p:nvSpPr>
          <p:cNvPr id="5" name="Footer Placeholder 4">
            <a:extLst>
              <a:ext uri="{FF2B5EF4-FFF2-40B4-BE49-F238E27FC236}">
                <a16:creationId xmlns:a16="http://schemas.microsoft.com/office/drawing/2014/main" id="{CE28807A-A80F-914D-66D2-5A08DDBF1567}"/>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74CD8C29-AAC5-E95E-D4B0-EB460CD9989D}"/>
              </a:ext>
            </a:extLst>
          </p:cNvPr>
          <p:cNvSpPr>
            <a:spLocks noGrp="1"/>
          </p:cNvSpPr>
          <p:nvPr>
            <p:ph type="sldNum" sz="quarter" idx="12"/>
          </p:nvPr>
        </p:nvSpPr>
        <p:spPr/>
        <p:txBody>
          <a:bodyPr/>
          <a:lstStyle/>
          <a:p>
            <a:fld id="{A23C5B1F-B211-4374-AF05-807146D0E709}" type="slidenum">
              <a:rPr lang="en-GB" smtClean="0"/>
              <a:t>‹#›</a:t>
            </a:fld>
            <a:endParaRPr lang="en-GB"/>
          </a:p>
        </p:txBody>
      </p:sp>
    </p:spTree>
    <p:extLst>
      <p:ext uri="{BB962C8B-B14F-4D97-AF65-F5344CB8AC3E}">
        <p14:creationId xmlns:p14="http://schemas.microsoft.com/office/powerpoint/2010/main" val="17359442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35217B5-C256-29BA-D857-1D7ACC2184E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A709AC1C-18CE-6441-53DC-10868DAB1DC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9FD1BA06-CFC7-AFCB-DDA5-7EE90DCE2D5E}"/>
              </a:ext>
            </a:extLst>
          </p:cNvPr>
          <p:cNvSpPr>
            <a:spLocks noGrp="1"/>
          </p:cNvSpPr>
          <p:nvPr>
            <p:ph type="dt" sz="half" idx="10"/>
          </p:nvPr>
        </p:nvSpPr>
        <p:spPr/>
        <p:txBody>
          <a:bodyPr/>
          <a:lstStyle/>
          <a:p>
            <a:fld id="{CB499508-2631-4A69-82D6-5742C49B5FEF}" type="datetimeFigureOut">
              <a:rPr lang="en-GB" smtClean="0"/>
              <a:t>27/03/2026</a:t>
            </a:fld>
            <a:endParaRPr lang="en-GB"/>
          </a:p>
        </p:txBody>
      </p:sp>
      <p:sp>
        <p:nvSpPr>
          <p:cNvPr id="5" name="Footer Placeholder 4">
            <a:extLst>
              <a:ext uri="{FF2B5EF4-FFF2-40B4-BE49-F238E27FC236}">
                <a16:creationId xmlns:a16="http://schemas.microsoft.com/office/drawing/2014/main" id="{01E32D3A-BBE1-CF95-DAC5-538A334EEA40}"/>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ED317A3C-67BF-228B-0E7D-6CFC1AE60D01}"/>
              </a:ext>
            </a:extLst>
          </p:cNvPr>
          <p:cNvSpPr>
            <a:spLocks noGrp="1"/>
          </p:cNvSpPr>
          <p:nvPr>
            <p:ph type="sldNum" sz="quarter" idx="12"/>
          </p:nvPr>
        </p:nvSpPr>
        <p:spPr/>
        <p:txBody>
          <a:bodyPr/>
          <a:lstStyle/>
          <a:p>
            <a:fld id="{A23C5B1F-B211-4374-AF05-807146D0E709}" type="slidenum">
              <a:rPr lang="en-GB" smtClean="0"/>
              <a:t>‹#›</a:t>
            </a:fld>
            <a:endParaRPr lang="en-GB"/>
          </a:p>
        </p:txBody>
      </p:sp>
    </p:spTree>
    <p:extLst>
      <p:ext uri="{BB962C8B-B14F-4D97-AF65-F5344CB8AC3E}">
        <p14:creationId xmlns:p14="http://schemas.microsoft.com/office/powerpoint/2010/main" val="28807745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4DB8BB6-1DFB-0A3E-330A-855449AE386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0FDB976E-F130-66D6-3741-32B09C5C963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A0649C27-A549-DA94-157E-823CF7F2ADC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B499508-2631-4A69-82D6-5742C49B5FEF}" type="datetimeFigureOut">
              <a:rPr lang="en-GB" smtClean="0"/>
              <a:t>27/03/2026</a:t>
            </a:fld>
            <a:endParaRPr lang="en-GB"/>
          </a:p>
        </p:txBody>
      </p:sp>
      <p:sp>
        <p:nvSpPr>
          <p:cNvPr id="5" name="Footer Placeholder 4">
            <a:extLst>
              <a:ext uri="{FF2B5EF4-FFF2-40B4-BE49-F238E27FC236}">
                <a16:creationId xmlns:a16="http://schemas.microsoft.com/office/drawing/2014/main" id="{DD0CA3EC-F093-F812-229B-64F7E9639AA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FD75FC3C-FB1F-B32E-7969-6877CD6196E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23C5B1F-B211-4374-AF05-807146D0E709}" type="slidenum">
              <a:rPr lang="en-GB" smtClean="0"/>
              <a:t>‹#›</a:t>
            </a:fld>
            <a:endParaRPr lang="en-GB"/>
          </a:p>
        </p:txBody>
      </p:sp>
    </p:spTree>
    <p:extLst>
      <p:ext uri="{BB962C8B-B14F-4D97-AF65-F5344CB8AC3E}">
        <p14:creationId xmlns:p14="http://schemas.microsoft.com/office/powerpoint/2010/main" val="275582073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7.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7.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3">
            <a:extLst>
              <a:ext uri="{FF2B5EF4-FFF2-40B4-BE49-F238E27FC236}">
                <a16:creationId xmlns:a16="http://schemas.microsoft.com/office/drawing/2014/main" id="{EFF31C5A-2B58-AF5C-1C7C-094C28556AE8}"/>
              </a:ext>
            </a:extLst>
          </p:cNvPr>
          <p:cNvSpPr txBox="1">
            <a:spLocks/>
          </p:cNvSpPr>
          <p:nvPr/>
        </p:nvSpPr>
        <p:spPr>
          <a:xfrm>
            <a:off x="232064" y="-249381"/>
            <a:ext cx="11802619" cy="7015702"/>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lnSpc>
                <a:spcPct val="150000"/>
              </a:lnSpc>
            </a:pPr>
            <a:r>
              <a:rPr lang="en-US" sz="3200" dirty="0">
                <a:latin typeface="Verdana" panose="020B0604030504040204" pitchFamily="34" charset="0"/>
                <a:ea typeface="Verdana" panose="020B0604030504040204" pitchFamily="34" charset="0"/>
              </a:rPr>
              <a:t>Gujarat University</a:t>
            </a:r>
            <a:br>
              <a:rPr lang="en-US" sz="3200" dirty="0">
                <a:latin typeface="Verdana" panose="020B0604030504040204" pitchFamily="34" charset="0"/>
                <a:ea typeface="Verdana" panose="020B0604030504040204" pitchFamily="34" charset="0"/>
              </a:rPr>
            </a:br>
            <a:r>
              <a:rPr lang="en-US" sz="3200" dirty="0">
                <a:latin typeface="Verdana" panose="020B0604030504040204" pitchFamily="34" charset="0"/>
                <a:ea typeface="Verdana" panose="020B0604030504040204" pitchFamily="34" charset="0"/>
              </a:rPr>
              <a:t>School of Emerging Science and Technology </a:t>
            </a:r>
            <a:br>
              <a:rPr lang="en-US" sz="3200" dirty="0">
                <a:latin typeface="Verdana" panose="020B0604030504040204" pitchFamily="34" charset="0"/>
                <a:ea typeface="Verdana" panose="020B0604030504040204" pitchFamily="34" charset="0"/>
              </a:rPr>
            </a:br>
            <a:r>
              <a:rPr lang="en-US" sz="3200" dirty="0">
                <a:latin typeface="Verdana" panose="020B0604030504040204" pitchFamily="34" charset="0"/>
                <a:ea typeface="Verdana" panose="020B0604030504040204" pitchFamily="34" charset="0"/>
              </a:rPr>
              <a:t>CC-416 Project-III : Project</a:t>
            </a:r>
          </a:p>
          <a:p>
            <a:pPr algn="ctr">
              <a:lnSpc>
                <a:spcPct val="150000"/>
              </a:lnSpc>
            </a:pPr>
            <a:r>
              <a:rPr lang="en-US" sz="3200" b="1" u="sng" dirty="0">
                <a:latin typeface="Verdana" panose="020B0604030504040204" pitchFamily="34" charset="0"/>
                <a:ea typeface="Verdana" panose="020B0604030504040204" pitchFamily="34" charset="0"/>
              </a:rPr>
              <a:t>Topic</a:t>
            </a:r>
            <a:r>
              <a:rPr lang="en-US" sz="3200" b="1" dirty="0">
                <a:latin typeface="Verdana" panose="020B0604030504040204" pitchFamily="34" charset="0"/>
                <a:ea typeface="Verdana" panose="020B0604030504040204" pitchFamily="34" charset="0"/>
              </a:rPr>
              <a:t> :</a:t>
            </a:r>
            <a:r>
              <a:rPr lang="en-US" sz="3200" dirty="0">
                <a:latin typeface="Verdana" panose="020B0604030504040204" pitchFamily="34" charset="0"/>
                <a:ea typeface="Verdana" panose="020B0604030504040204" pitchFamily="34" charset="0"/>
              </a:rPr>
              <a:t> </a:t>
            </a:r>
            <a:r>
              <a:rPr lang="en-GB" sz="3200" dirty="0">
                <a:latin typeface="Verdana" panose="020B0604030504040204" pitchFamily="34" charset="0"/>
                <a:ea typeface="Verdana" panose="020B0604030504040204" pitchFamily="34" charset="0"/>
              </a:rPr>
              <a:t>Machine Learning Approach for Student Dropout Prediction: A Comparison of Logistic Regression and</a:t>
            </a:r>
          </a:p>
          <a:p>
            <a:pPr algn="ctr">
              <a:lnSpc>
                <a:spcPct val="150000"/>
              </a:lnSpc>
            </a:pPr>
            <a:r>
              <a:rPr lang="en-GB" sz="3200" dirty="0">
                <a:latin typeface="Verdana" panose="020B0604030504040204" pitchFamily="34" charset="0"/>
                <a:ea typeface="Verdana" panose="020B0604030504040204" pitchFamily="34" charset="0"/>
                <a:cs typeface="Times New Roman" panose="02020603050405020304" pitchFamily="18" charset="0"/>
              </a:rPr>
              <a:t>Linear Discriminant Analysis</a:t>
            </a:r>
            <a:endParaRPr lang="en-US" sz="3200" dirty="0">
              <a:solidFill>
                <a:srgbClr val="FF0000"/>
              </a:solidFill>
              <a:latin typeface="Verdana" panose="020B0604030504040204" pitchFamily="34" charset="0"/>
              <a:ea typeface="Verdana" panose="020B0604030504040204" pitchFamily="34" charset="0"/>
            </a:endParaRPr>
          </a:p>
          <a:p>
            <a:pPr algn="ctr">
              <a:lnSpc>
                <a:spcPct val="150000"/>
              </a:lnSpc>
            </a:pPr>
            <a:r>
              <a:rPr lang="en-US" sz="2800" b="1" dirty="0">
                <a:solidFill>
                  <a:srgbClr val="FF0000"/>
                </a:solidFill>
                <a:latin typeface="Verdana" panose="020B0604030504040204" pitchFamily="34" charset="0"/>
                <a:ea typeface="Verdana" panose="020B0604030504040204" pitchFamily="34" charset="0"/>
              </a:rPr>
              <a:t>DS</a:t>
            </a:r>
            <a:r>
              <a:rPr lang="en-US" sz="2800" b="1" dirty="0">
                <a:solidFill>
                  <a:srgbClr val="FF0000"/>
                </a:solidFill>
                <a:latin typeface="Verdana" panose="020B0604030504040204" pitchFamily="34" charset="0"/>
                <a:ea typeface="Verdana" panose="020B0604030504040204" pitchFamily="34" charset="0"/>
                <a:cs typeface="Vani" panose="020B0502040204020203" pitchFamily="18" charset="0"/>
              </a:rPr>
              <a:t>-09 Prem Patel</a:t>
            </a:r>
          </a:p>
          <a:p>
            <a:pPr algn="ctr">
              <a:lnSpc>
                <a:spcPct val="150000"/>
              </a:lnSpc>
            </a:pPr>
            <a:r>
              <a:rPr lang="en-US" sz="2800" b="1" dirty="0">
                <a:solidFill>
                  <a:srgbClr val="FF0000"/>
                </a:solidFill>
                <a:latin typeface="Verdana" panose="020B0604030504040204" pitchFamily="34" charset="0"/>
                <a:ea typeface="Verdana" panose="020B0604030504040204" pitchFamily="34" charset="0"/>
                <a:cs typeface="Vani" panose="020B0502040204020203" pitchFamily="18" charset="0"/>
              </a:rPr>
              <a:t>Enroll no:- 202222600013  </a:t>
            </a:r>
            <a:r>
              <a:rPr lang="en-US" sz="2800" b="1" dirty="0">
                <a:latin typeface="Verdana" panose="020B0604030504040204" pitchFamily="34" charset="0"/>
                <a:ea typeface="Verdana" panose="020B0604030504040204" pitchFamily="34" charset="0"/>
                <a:cs typeface="Vani" panose="020B0502040204020203" pitchFamily="18" charset="0"/>
              </a:rPr>
              <a:t>  </a:t>
            </a:r>
            <a:endParaRPr lang="en-US" sz="2800" b="1" dirty="0">
              <a:latin typeface="Vani" panose="020B0502040204020203" pitchFamily="18" charset="0"/>
              <a:ea typeface="Verdana" panose="020B0604030504040204" pitchFamily="34" charset="0"/>
              <a:cs typeface="Vani" panose="020B0502040204020203" pitchFamily="18" charset="0"/>
            </a:endParaRPr>
          </a:p>
        </p:txBody>
      </p:sp>
      <p:pic>
        <p:nvPicPr>
          <p:cNvPr id="3" name="Content Placeholder 5" descr="A logo with a peacock and text&#10;&#10;Description automatically generated">
            <a:extLst>
              <a:ext uri="{FF2B5EF4-FFF2-40B4-BE49-F238E27FC236}">
                <a16:creationId xmlns:a16="http://schemas.microsoft.com/office/drawing/2014/main" id="{6BFEDBDF-E7B7-9E7A-D288-8BEF6C3D661E}"/>
              </a:ext>
            </a:extLst>
          </p:cNvPr>
          <p:cNvPicPr>
            <a:picLocks noChangeAspect="1"/>
          </p:cNvPicPr>
          <p:nvPr/>
        </p:nvPicPr>
        <p:blipFill>
          <a:blip r:embed="rId2"/>
          <a:stretch>
            <a:fillRect/>
          </a:stretch>
        </p:blipFill>
        <p:spPr>
          <a:xfrm>
            <a:off x="157317" y="199780"/>
            <a:ext cx="1397967" cy="1710867"/>
          </a:xfrm>
          <a:prstGeom prst="rect">
            <a:avLst/>
          </a:prstGeom>
        </p:spPr>
      </p:pic>
      <p:pic>
        <p:nvPicPr>
          <p:cNvPr id="4" name="Picture 3">
            <a:extLst>
              <a:ext uri="{FF2B5EF4-FFF2-40B4-BE49-F238E27FC236}">
                <a16:creationId xmlns:a16="http://schemas.microsoft.com/office/drawing/2014/main" id="{0B947EEB-7000-B7CD-266D-08EE62ACD8C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33866" y="255818"/>
            <a:ext cx="1600817" cy="1612131"/>
          </a:xfrm>
          <a:prstGeom prst="rect">
            <a:avLst/>
          </a:prstGeom>
        </p:spPr>
      </p:pic>
    </p:spTree>
    <p:extLst>
      <p:ext uri="{BB962C8B-B14F-4D97-AF65-F5344CB8AC3E}">
        <p14:creationId xmlns:p14="http://schemas.microsoft.com/office/powerpoint/2010/main" val="7196797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25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p:cTn id="7" dur="750" fill="hold"/>
                                        <p:tgtEl>
                                          <p:spTgt spid="2">
                                            <p:txEl>
                                              <p:pRg st="0" end="0"/>
                                            </p:txEl>
                                          </p:spTgt>
                                        </p:tgtEl>
                                        <p:attrNameLst>
                                          <p:attrName>ppt_w</p:attrName>
                                        </p:attrNameLst>
                                      </p:cBhvr>
                                      <p:tavLst>
                                        <p:tav tm="0">
                                          <p:val>
                                            <p:fltVal val="0"/>
                                          </p:val>
                                        </p:tav>
                                        <p:tav tm="100000">
                                          <p:val>
                                            <p:strVal val="#ppt_w"/>
                                          </p:val>
                                        </p:tav>
                                      </p:tavLst>
                                    </p:anim>
                                    <p:anim calcmode="lin" valueType="num">
                                      <p:cBhvr>
                                        <p:cTn id="8" dur="750" fill="hold"/>
                                        <p:tgtEl>
                                          <p:spTgt spid="2">
                                            <p:txEl>
                                              <p:pRg st="0" end="0"/>
                                            </p:txEl>
                                          </p:spTgt>
                                        </p:tgtEl>
                                        <p:attrNameLst>
                                          <p:attrName>ppt_h</p:attrName>
                                        </p:attrNameLst>
                                      </p:cBhvr>
                                      <p:tavLst>
                                        <p:tav tm="0">
                                          <p:val>
                                            <p:fltVal val="0"/>
                                          </p:val>
                                        </p:tav>
                                        <p:tav tm="100000">
                                          <p:val>
                                            <p:strVal val="#ppt_h"/>
                                          </p:val>
                                        </p:tav>
                                      </p:tavLst>
                                    </p:anim>
                                    <p:animEffect transition="in" filter="fade">
                                      <p:cBhvr>
                                        <p:cTn id="9" dur="750"/>
                                        <p:tgtEl>
                                          <p:spTgt spid="2">
                                            <p:txEl>
                                              <p:pRg st="0" end="0"/>
                                            </p:txEl>
                                          </p:spTgt>
                                        </p:tgtEl>
                                      </p:cBhvr>
                                    </p:animEffect>
                                  </p:childTnLst>
                                </p:cTn>
                              </p:par>
                              <p:par>
                                <p:cTn id="10" presetID="53" presetClass="entr" presetSubtype="16" fill="hold" nodeType="withEffect">
                                  <p:stCondLst>
                                    <p:cond delay="250"/>
                                  </p:stCondLst>
                                  <p:childTnLst>
                                    <p:set>
                                      <p:cBhvr>
                                        <p:cTn id="11" dur="1" fill="hold">
                                          <p:stCondLst>
                                            <p:cond delay="0"/>
                                          </p:stCondLst>
                                        </p:cTn>
                                        <p:tgtEl>
                                          <p:spTgt spid="2">
                                            <p:txEl>
                                              <p:pRg st="1" end="1"/>
                                            </p:txEl>
                                          </p:spTgt>
                                        </p:tgtEl>
                                        <p:attrNameLst>
                                          <p:attrName>style.visibility</p:attrName>
                                        </p:attrNameLst>
                                      </p:cBhvr>
                                      <p:to>
                                        <p:strVal val="visible"/>
                                      </p:to>
                                    </p:set>
                                    <p:anim calcmode="lin" valueType="num">
                                      <p:cBhvr>
                                        <p:cTn id="12" dur="750" fill="hold"/>
                                        <p:tgtEl>
                                          <p:spTgt spid="2">
                                            <p:txEl>
                                              <p:pRg st="1" end="1"/>
                                            </p:txEl>
                                          </p:spTgt>
                                        </p:tgtEl>
                                        <p:attrNameLst>
                                          <p:attrName>ppt_w</p:attrName>
                                        </p:attrNameLst>
                                      </p:cBhvr>
                                      <p:tavLst>
                                        <p:tav tm="0">
                                          <p:val>
                                            <p:fltVal val="0"/>
                                          </p:val>
                                        </p:tav>
                                        <p:tav tm="100000">
                                          <p:val>
                                            <p:strVal val="#ppt_w"/>
                                          </p:val>
                                        </p:tav>
                                      </p:tavLst>
                                    </p:anim>
                                    <p:anim calcmode="lin" valueType="num">
                                      <p:cBhvr>
                                        <p:cTn id="13" dur="750" fill="hold"/>
                                        <p:tgtEl>
                                          <p:spTgt spid="2">
                                            <p:txEl>
                                              <p:pRg st="1" end="1"/>
                                            </p:txEl>
                                          </p:spTgt>
                                        </p:tgtEl>
                                        <p:attrNameLst>
                                          <p:attrName>ppt_h</p:attrName>
                                        </p:attrNameLst>
                                      </p:cBhvr>
                                      <p:tavLst>
                                        <p:tav tm="0">
                                          <p:val>
                                            <p:fltVal val="0"/>
                                          </p:val>
                                        </p:tav>
                                        <p:tav tm="100000">
                                          <p:val>
                                            <p:strVal val="#ppt_h"/>
                                          </p:val>
                                        </p:tav>
                                      </p:tavLst>
                                    </p:anim>
                                    <p:animEffect transition="in" filter="fade">
                                      <p:cBhvr>
                                        <p:cTn id="14" dur="750"/>
                                        <p:tgtEl>
                                          <p:spTgt spid="2">
                                            <p:txEl>
                                              <p:pRg st="1" end="1"/>
                                            </p:txEl>
                                          </p:spTgt>
                                        </p:tgtEl>
                                      </p:cBhvr>
                                    </p:animEffect>
                                  </p:childTnLst>
                                </p:cTn>
                              </p:par>
                              <p:par>
                                <p:cTn id="15" presetID="53" presetClass="entr" presetSubtype="16" fill="hold" nodeType="withEffect">
                                  <p:stCondLst>
                                    <p:cond delay="250"/>
                                  </p:stCondLst>
                                  <p:childTnLst>
                                    <p:set>
                                      <p:cBhvr>
                                        <p:cTn id="16" dur="1" fill="hold">
                                          <p:stCondLst>
                                            <p:cond delay="0"/>
                                          </p:stCondLst>
                                        </p:cTn>
                                        <p:tgtEl>
                                          <p:spTgt spid="2">
                                            <p:txEl>
                                              <p:pRg st="2" end="2"/>
                                            </p:txEl>
                                          </p:spTgt>
                                        </p:tgtEl>
                                        <p:attrNameLst>
                                          <p:attrName>style.visibility</p:attrName>
                                        </p:attrNameLst>
                                      </p:cBhvr>
                                      <p:to>
                                        <p:strVal val="visible"/>
                                      </p:to>
                                    </p:set>
                                    <p:anim calcmode="lin" valueType="num">
                                      <p:cBhvr>
                                        <p:cTn id="17" dur="750" fill="hold"/>
                                        <p:tgtEl>
                                          <p:spTgt spid="2">
                                            <p:txEl>
                                              <p:pRg st="2" end="2"/>
                                            </p:txEl>
                                          </p:spTgt>
                                        </p:tgtEl>
                                        <p:attrNameLst>
                                          <p:attrName>ppt_w</p:attrName>
                                        </p:attrNameLst>
                                      </p:cBhvr>
                                      <p:tavLst>
                                        <p:tav tm="0">
                                          <p:val>
                                            <p:fltVal val="0"/>
                                          </p:val>
                                        </p:tav>
                                        <p:tav tm="100000">
                                          <p:val>
                                            <p:strVal val="#ppt_w"/>
                                          </p:val>
                                        </p:tav>
                                      </p:tavLst>
                                    </p:anim>
                                    <p:anim calcmode="lin" valueType="num">
                                      <p:cBhvr>
                                        <p:cTn id="18" dur="750" fill="hold"/>
                                        <p:tgtEl>
                                          <p:spTgt spid="2">
                                            <p:txEl>
                                              <p:pRg st="2" end="2"/>
                                            </p:txEl>
                                          </p:spTgt>
                                        </p:tgtEl>
                                        <p:attrNameLst>
                                          <p:attrName>ppt_h</p:attrName>
                                        </p:attrNameLst>
                                      </p:cBhvr>
                                      <p:tavLst>
                                        <p:tav tm="0">
                                          <p:val>
                                            <p:fltVal val="0"/>
                                          </p:val>
                                        </p:tav>
                                        <p:tav tm="100000">
                                          <p:val>
                                            <p:strVal val="#ppt_h"/>
                                          </p:val>
                                        </p:tav>
                                      </p:tavLst>
                                    </p:anim>
                                    <p:animEffect transition="in" filter="fade">
                                      <p:cBhvr>
                                        <p:cTn id="19" dur="750"/>
                                        <p:tgtEl>
                                          <p:spTgt spid="2">
                                            <p:txEl>
                                              <p:pRg st="2" end="2"/>
                                            </p:txEl>
                                          </p:spTgt>
                                        </p:tgtEl>
                                      </p:cBhvr>
                                    </p:animEffect>
                                  </p:childTnLst>
                                </p:cTn>
                              </p:par>
                              <p:par>
                                <p:cTn id="20" presetID="53" presetClass="entr" presetSubtype="16" fill="hold" nodeType="withEffect">
                                  <p:stCondLst>
                                    <p:cond delay="250"/>
                                  </p:stCondLst>
                                  <p:childTnLst>
                                    <p:set>
                                      <p:cBhvr>
                                        <p:cTn id="21" dur="1" fill="hold">
                                          <p:stCondLst>
                                            <p:cond delay="0"/>
                                          </p:stCondLst>
                                        </p:cTn>
                                        <p:tgtEl>
                                          <p:spTgt spid="2">
                                            <p:txEl>
                                              <p:pRg st="3" end="3"/>
                                            </p:txEl>
                                          </p:spTgt>
                                        </p:tgtEl>
                                        <p:attrNameLst>
                                          <p:attrName>style.visibility</p:attrName>
                                        </p:attrNameLst>
                                      </p:cBhvr>
                                      <p:to>
                                        <p:strVal val="visible"/>
                                      </p:to>
                                    </p:set>
                                    <p:anim calcmode="lin" valueType="num">
                                      <p:cBhvr>
                                        <p:cTn id="22" dur="750" fill="hold"/>
                                        <p:tgtEl>
                                          <p:spTgt spid="2">
                                            <p:txEl>
                                              <p:pRg st="3" end="3"/>
                                            </p:txEl>
                                          </p:spTgt>
                                        </p:tgtEl>
                                        <p:attrNameLst>
                                          <p:attrName>ppt_w</p:attrName>
                                        </p:attrNameLst>
                                      </p:cBhvr>
                                      <p:tavLst>
                                        <p:tav tm="0">
                                          <p:val>
                                            <p:fltVal val="0"/>
                                          </p:val>
                                        </p:tav>
                                        <p:tav tm="100000">
                                          <p:val>
                                            <p:strVal val="#ppt_w"/>
                                          </p:val>
                                        </p:tav>
                                      </p:tavLst>
                                    </p:anim>
                                    <p:anim calcmode="lin" valueType="num">
                                      <p:cBhvr>
                                        <p:cTn id="23" dur="750" fill="hold"/>
                                        <p:tgtEl>
                                          <p:spTgt spid="2">
                                            <p:txEl>
                                              <p:pRg st="3" end="3"/>
                                            </p:txEl>
                                          </p:spTgt>
                                        </p:tgtEl>
                                        <p:attrNameLst>
                                          <p:attrName>ppt_h</p:attrName>
                                        </p:attrNameLst>
                                      </p:cBhvr>
                                      <p:tavLst>
                                        <p:tav tm="0">
                                          <p:val>
                                            <p:fltVal val="0"/>
                                          </p:val>
                                        </p:tav>
                                        <p:tav tm="100000">
                                          <p:val>
                                            <p:strVal val="#ppt_h"/>
                                          </p:val>
                                        </p:tav>
                                      </p:tavLst>
                                    </p:anim>
                                    <p:animEffect transition="in" filter="fade">
                                      <p:cBhvr>
                                        <p:cTn id="24" dur="750"/>
                                        <p:tgtEl>
                                          <p:spTgt spid="2">
                                            <p:txEl>
                                              <p:pRg st="3" end="3"/>
                                            </p:txEl>
                                          </p:spTgt>
                                        </p:tgtEl>
                                      </p:cBhvr>
                                    </p:animEffect>
                                  </p:childTnLst>
                                </p:cTn>
                              </p:par>
                              <p:par>
                                <p:cTn id="25" presetID="53" presetClass="entr" presetSubtype="16" fill="hold" nodeType="withEffect">
                                  <p:stCondLst>
                                    <p:cond delay="250"/>
                                  </p:stCondLst>
                                  <p:childTnLst>
                                    <p:set>
                                      <p:cBhvr>
                                        <p:cTn id="26" dur="1" fill="hold">
                                          <p:stCondLst>
                                            <p:cond delay="0"/>
                                          </p:stCondLst>
                                        </p:cTn>
                                        <p:tgtEl>
                                          <p:spTgt spid="2">
                                            <p:txEl>
                                              <p:pRg st="4" end="4"/>
                                            </p:txEl>
                                          </p:spTgt>
                                        </p:tgtEl>
                                        <p:attrNameLst>
                                          <p:attrName>style.visibility</p:attrName>
                                        </p:attrNameLst>
                                      </p:cBhvr>
                                      <p:to>
                                        <p:strVal val="visible"/>
                                      </p:to>
                                    </p:set>
                                    <p:anim calcmode="lin" valueType="num">
                                      <p:cBhvr>
                                        <p:cTn id="27" dur="750" fill="hold"/>
                                        <p:tgtEl>
                                          <p:spTgt spid="2">
                                            <p:txEl>
                                              <p:pRg st="4" end="4"/>
                                            </p:txEl>
                                          </p:spTgt>
                                        </p:tgtEl>
                                        <p:attrNameLst>
                                          <p:attrName>ppt_w</p:attrName>
                                        </p:attrNameLst>
                                      </p:cBhvr>
                                      <p:tavLst>
                                        <p:tav tm="0">
                                          <p:val>
                                            <p:fltVal val="0"/>
                                          </p:val>
                                        </p:tav>
                                        <p:tav tm="100000">
                                          <p:val>
                                            <p:strVal val="#ppt_w"/>
                                          </p:val>
                                        </p:tav>
                                      </p:tavLst>
                                    </p:anim>
                                    <p:anim calcmode="lin" valueType="num">
                                      <p:cBhvr>
                                        <p:cTn id="28" dur="750" fill="hold"/>
                                        <p:tgtEl>
                                          <p:spTgt spid="2">
                                            <p:txEl>
                                              <p:pRg st="4" end="4"/>
                                            </p:txEl>
                                          </p:spTgt>
                                        </p:tgtEl>
                                        <p:attrNameLst>
                                          <p:attrName>ppt_h</p:attrName>
                                        </p:attrNameLst>
                                      </p:cBhvr>
                                      <p:tavLst>
                                        <p:tav tm="0">
                                          <p:val>
                                            <p:fltVal val="0"/>
                                          </p:val>
                                        </p:tav>
                                        <p:tav tm="100000">
                                          <p:val>
                                            <p:strVal val="#ppt_h"/>
                                          </p:val>
                                        </p:tav>
                                      </p:tavLst>
                                    </p:anim>
                                    <p:animEffect transition="in" filter="fade">
                                      <p:cBhvr>
                                        <p:cTn id="29" dur="750"/>
                                        <p:tgtEl>
                                          <p:spTgt spid="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8A95209C-5275-4E15-8EA7-7F42980ABF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D1C05E80-056F-38DB-4713-730127C2D383}"/>
              </a:ext>
            </a:extLst>
          </p:cNvPr>
          <p:cNvPicPr>
            <a:picLocks noChangeAspect="1"/>
          </p:cNvPicPr>
          <p:nvPr/>
        </p:nvPicPr>
        <p:blipFill>
          <a:blip r:embed="rId2">
            <a:alphaModFix amt="50000"/>
          </a:blip>
          <a:srcRect t="15709" r="-1" b="-1"/>
          <a:stretch>
            <a:fillRect/>
          </a:stretch>
        </p:blipFill>
        <p:spPr>
          <a:xfrm>
            <a:off x="20" y="10"/>
            <a:ext cx="12188931" cy="6857990"/>
          </a:xfrm>
          <a:prstGeom prst="rect">
            <a:avLst/>
          </a:prstGeom>
        </p:spPr>
      </p:pic>
      <p:sp>
        <p:nvSpPr>
          <p:cNvPr id="3" name="TextBox 2">
            <a:extLst>
              <a:ext uri="{FF2B5EF4-FFF2-40B4-BE49-F238E27FC236}">
                <a16:creationId xmlns:a16="http://schemas.microsoft.com/office/drawing/2014/main" id="{33E75106-1048-E4FA-5EC3-2BF80A116A20}"/>
              </a:ext>
            </a:extLst>
          </p:cNvPr>
          <p:cNvSpPr txBox="1"/>
          <p:nvPr/>
        </p:nvSpPr>
        <p:spPr>
          <a:xfrm>
            <a:off x="1527048" y="1124712"/>
            <a:ext cx="9144000" cy="3063240"/>
          </a:xfrm>
          <a:prstGeom prst="rect">
            <a:avLst/>
          </a:prstGeom>
        </p:spPr>
        <p:txBody>
          <a:bodyPr vert="horz" lIns="91440" tIns="45720" rIns="91440" bIns="45720" rtlCol="0" anchor="b">
            <a:normAutofit fontScale="55000" lnSpcReduction="20000"/>
          </a:bodyPr>
          <a:lstStyle/>
          <a:p>
            <a:pPr algn="ctr">
              <a:lnSpc>
                <a:spcPct val="170000"/>
              </a:lnSpc>
              <a:spcBef>
                <a:spcPct val="0"/>
              </a:spcBef>
              <a:spcAft>
                <a:spcPts val="600"/>
              </a:spcAft>
            </a:pPr>
            <a:r>
              <a:rPr lang="en-GB" sz="6000" dirty="0">
                <a:solidFill>
                  <a:schemeClr val="bg1"/>
                </a:solidFill>
                <a:latin typeface="Verdana" panose="020B0604030504040204" pitchFamily="34" charset="0"/>
                <a:ea typeface="Verdana" panose="020B0604030504040204" pitchFamily="34" charset="0"/>
              </a:rPr>
              <a:t>Machine Learning Approach for Student Dropout Prediction: A Comparison of Logistic Regression and </a:t>
            </a:r>
            <a:r>
              <a:rPr lang="en-GB" sz="6000" dirty="0">
                <a:solidFill>
                  <a:schemeClr val="bg1"/>
                </a:solidFill>
                <a:latin typeface="Verdana" panose="020B0604030504040204" pitchFamily="34" charset="0"/>
                <a:ea typeface="Verdana" panose="020B0604030504040204" pitchFamily="34" charset="0"/>
                <a:cs typeface="Times New Roman" panose="02020603050405020304" pitchFamily="18" charset="0"/>
              </a:rPr>
              <a:t>Linear Discriminant Analysis</a:t>
            </a:r>
            <a:endParaRPr lang="en-US" sz="5600" b="1" dirty="0">
              <a:solidFill>
                <a:schemeClr val="bg1"/>
              </a:solidFill>
              <a:latin typeface="Verdana" panose="020B0604030504040204" pitchFamily="34" charset="0"/>
              <a:ea typeface="Verdana" panose="020B0604030504040204" pitchFamily="34" charset="0"/>
              <a:cs typeface="+mj-cs"/>
            </a:endParaRPr>
          </a:p>
        </p:txBody>
      </p:sp>
      <p:sp>
        <p:nvSpPr>
          <p:cNvPr id="18" name="sketchy box">
            <a:extLst>
              <a:ext uri="{FF2B5EF4-FFF2-40B4-BE49-F238E27FC236}">
                <a16:creationId xmlns:a16="http://schemas.microsoft.com/office/drawing/2014/main" id="{4F2ED431-E304-4FF0-9F4E-032783C9D6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838200" y="720953"/>
            <a:ext cx="10515600" cy="5416094"/>
          </a:xfrm>
          <a:custGeom>
            <a:avLst/>
            <a:gdLst>
              <a:gd name="csX0" fmla="*/ 0 w 10515600"/>
              <a:gd name="csY0" fmla="*/ 0 h 5416094"/>
              <a:gd name="csX1" fmla="*/ 552069 w 10515600"/>
              <a:gd name="csY1" fmla="*/ 0 h 5416094"/>
              <a:gd name="csX2" fmla="*/ 893826 w 10515600"/>
              <a:gd name="csY2" fmla="*/ 0 h 5416094"/>
              <a:gd name="csX3" fmla="*/ 1761363 w 10515600"/>
              <a:gd name="csY3" fmla="*/ 0 h 5416094"/>
              <a:gd name="csX4" fmla="*/ 2313432 w 10515600"/>
              <a:gd name="csY4" fmla="*/ 0 h 5416094"/>
              <a:gd name="csX5" fmla="*/ 2865501 w 10515600"/>
              <a:gd name="csY5" fmla="*/ 0 h 5416094"/>
              <a:gd name="csX6" fmla="*/ 3733038 w 10515600"/>
              <a:gd name="csY6" fmla="*/ 0 h 5416094"/>
              <a:gd name="csX7" fmla="*/ 4179951 w 10515600"/>
              <a:gd name="csY7" fmla="*/ 0 h 5416094"/>
              <a:gd name="csX8" fmla="*/ 5047488 w 10515600"/>
              <a:gd name="csY8" fmla="*/ 0 h 5416094"/>
              <a:gd name="csX9" fmla="*/ 5915025 w 10515600"/>
              <a:gd name="csY9" fmla="*/ 0 h 5416094"/>
              <a:gd name="csX10" fmla="*/ 6572250 w 10515600"/>
              <a:gd name="csY10" fmla="*/ 0 h 5416094"/>
              <a:gd name="csX11" fmla="*/ 7439787 w 10515600"/>
              <a:gd name="csY11" fmla="*/ 0 h 5416094"/>
              <a:gd name="csX12" fmla="*/ 7991856 w 10515600"/>
              <a:gd name="csY12" fmla="*/ 0 h 5416094"/>
              <a:gd name="csX13" fmla="*/ 8543925 w 10515600"/>
              <a:gd name="csY13" fmla="*/ 0 h 5416094"/>
              <a:gd name="csX14" fmla="*/ 9306306 w 10515600"/>
              <a:gd name="csY14" fmla="*/ 0 h 5416094"/>
              <a:gd name="csX15" fmla="*/ 9858375 w 10515600"/>
              <a:gd name="csY15" fmla="*/ 0 h 5416094"/>
              <a:gd name="csX16" fmla="*/ 10515600 w 10515600"/>
              <a:gd name="csY16" fmla="*/ 0 h 5416094"/>
              <a:gd name="csX17" fmla="*/ 10515600 w 10515600"/>
              <a:gd name="csY17" fmla="*/ 785334 h 5416094"/>
              <a:gd name="csX18" fmla="*/ 10515600 w 10515600"/>
              <a:gd name="csY18" fmla="*/ 1516506 h 5416094"/>
              <a:gd name="csX19" fmla="*/ 10515600 w 10515600"/>
              <a:gd name="csY19" fmla="*/ 2247679 h 5416094"/>
              <a:gd name="csX20" fmla="*/ 10515600 w 10515600"/>
              <a:gd name="csY20" fmla="*/ 2762208 h 5416094"/>
              <a:gd name="csX21" fmla="*/ 10515600 w 10515600"/>
              <a:gd name="csY21" fmla="*/ 3330898 h 5416094"/>
              <a:gd name="csX22" fmla="*/ 10515600 w 10515600"/>
              <a:gd name="csY22" fmla="*/ 4062071 h 5416094"/>
              <a:gd name="csX23" fmla="*/ 10515600 w 10515600"/>
              <a:gd name="csY23" fmla="*/ 4684921 h 5416094"/>
              <a:gd name="csX24" fmla="*/ 10515600 w 10515600"/>
              <a:gd name="csY24" fmla="*/ 5416094 h 5416094"/>
              <a:gd name="csX25" fmla="*/ 9753219 w 10515600"/>
              <a:gd name="csY25" fmla="*/ 5416094 h 5416094"/>
              <a:gd name="csX26" fmla="*/ 9411462 w 10515600"/>
              <a:gd name="csY26" fmla="*/ 5416094 h 5416094"/>
              <a:gd name="csX27" fmla="*/ 8754237 w 10515600"/>
              <a:gd name="csY27" fmla="*/ 5416094 h 5416094"/>
              <a:gd name="csX28" fmla="*/ 8307324 w 10515600"/>
              <a:gd name="csY28" fmla="*/ 5416094 h 5416094"/>
              <a:gd name="csX29" fmla="*/ 7544943 w 10515600"/>
              <a:gd name="csY29" fmla="*/ 5416094 h 5416094"/>
              <a:gd name="csX30" fmla="*/ 7098030 w 10515600"/>
              <a:gd name="csY30" fmla="*/ 5416094 h 5416094"/>
              <a:gd name="csX31" fmla="*/ 6335649 w 10515600"/>
              <a:gd name="csY31" fmla="*/ 5416094 h 5416094"/>
              <a:gd name="csX32" fmla="*/ 5993892 w 10515600"/>
              <a:gd name="csY32" fmla="*/ 5416094 h 5416094"/>
              <a:gd name="csX33" fmla="*/ 5231511 w 10515600"/>
              <a:gd name="csY33" fmla="*/ 5416094 h 5416094"/>
              <a:gd name="csX34" fmla="*/ 4784598 w 10515600"/>
              <a:gd name="csY34" fmla="*/ 5416094 h 5416094"/>
              <a:gd name="csX35" fmla="*/ 4442841 w 10515600"/>
              <a:gd name="csY35" fmla="*/ 5416094 h 5416094"/>
              <a:gd name="csX36" fmla="*/ 3995928 w 10515600"/>
              <a:gd name="csY36" fmla="*/ 5416094 h 5416094"/>
              <a:gd name="csX37" fmla="*/ 3233547 w 10515600"/>
              <a:gd name="csY37" fmla="*/ 5416094 h 5416094"/>
              <a:gd name="csX38" fmla="*/ 2786634 w 10515600"/>
              <a:gd name="csY38" fmla="*/ 5416094 h 5416094"/>
              <a:gd name="csX39" fmla="*/ 2444877 w 10515600"/>
              <a:gd name="csY39" fmla="*/ 5416094 h 5416094"/>
              <a:gd name="csX40" fmla="*/ 1997964 w 10515600"/>
              <a:gd name="csY40" fmla="*/ 5416094 h 5416094"/>
              <a:gd name="csX41" fmla="*/ 1445895 w 10515600"/>
              <a:gd name="csY41" fmla="*/ 5416094 h 5416094"/>
              <a:gd name="csX42" fmla="*/ 788670 w 10515600"/>
              <a:gd name="csY42" fmla="*/ 5416094 h 5416094"/>
              <a:gd name="csX43" fmla="*/ 0 w 10515600"/>
              <a:gd name="csY43" fmla="*/ 5416094 h 5416094"/>
              <a:gd name="csX44" fmla="*/ 0 w 10515600"/>
              <a:gd name="csY44" fmla="*/ 4630760 h 5416094"/>
              <a:gd name="csX45" fmla="*/ 0 w 10515600"/>
              <a:gd name="csY45" fmla="*/ 3953749 h 5416094"/>
              <a:gd name="csX46" fmla="*/ 0 w 10515600"/>
              <a:gd name="csY46" fmla="*/ 3276737 h 5416094"/>
              <a:gd name="csX47" fmla="*/ 0 w 10515600"/>
              <a:gd name="csY47" fmla="*/ 2599725 h 5416094"/>
              <a:gd name="csX48" fmla="*/ 0 w 10515600"/>
              <a:gd name="csY48" fmla="*/ 1922713 h 5416094"/>
              <a:gd name="csX49" fmla="*/ 0 w 10515600"/>
              <a:gd name="csY49" fmla="*/ 1299863 h 5416094"/>
              <a:gd name="csX50" fmla="*/ 0 w 10515600"/>
              <a:gd name="csY50" fmla="*/ 0 h 541609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Lst>
            <a:rect l="l" t="t" r="r" b="b"/>
            <a:pathLst>
              <a:path w="10515600" h="5416094" extrusionOk="0">
                <a:moveTo>
                  <a:pt x="0" y="0"/>
                </a:moveTo>
                <a:cubicBezTo>
                  <a:pt x="230793" y="14353"/>
                  <a:pt x="332416" y="21392"/>
                  <a:pt x="552069" y="0"/>
                </a:cubicBezTo>
                <a:cubicBezTo>
                  <a:pt x="771722" y="-21392"/>
                  <a:pt x="761737" y="-14337"/>
                  <a:pt x="893826" y="0"/>
                </a:cubicBezTo>
                <a:cubicBezTo>
                  <a:pt x="1025915" y="14337"/>
                  <a:pt x="1441584" y="-15498"/>
                  <a:pt x="1761363" y="0"/>
                </a:cubicBezTo>
                <a:cubicBezTo>
                  <a:pt x="2081142" y="15498"/>
                  <a:pt x="2111503" y="7278"/>
                  <a:pt x="2313432" y="0"/>
                </a:cubicBezTo>
                <a:cubicBezTo>
                  <a:pt x="2515361" y="-7278"/>
                  <a:pt x="2743584" y="-17845"/>
                  <a:pt x="2865501" y="0"/>
                </a:cubicBezTo>
                <a:cubicBezTo>
                  <a:pt x="2987418" y="17845"/>
                  <a:pt x="3345183" y="8208"/>
                  <a:pt x="3733038" y="0"/>
                </a:cubicBezTo>
                <a:cubicBezTo>
                  <a:pt x="4120893" y="-8208"/>
                  <a:pt x="4009066" y="-3159"/>
                  <a:pt x="4179951" y="0"/>
                </a:cubicBezTo>
                <a:cubicBezTo>
                  <a:pt x="4350836" y="3159"/>
                  <a:pt x="4735020" y="17517"/>
                  <a:pt x="5047488" y="0"/>
                </a:cubicBezTo>
                <a:cubicBezTo>
                  <a:pt x="5359956" y="-17517"/>
                  <a:pt x="5662148" y="-17777"/>
                  <a:pt x="5915025" y="0"/>
                </a:cubicBezTo>
                <a:cubicBezTo>
                  <a:pt x="6167902" y="17777"/>
                  <a:pt x="6308797" y="30350"/>
                  <a:pt x="6572250" y="0"/>
                </a:cubicBezTo>
                <a:cubicBezTo>
                  <a:pt x="6835703" y="-30350"/>
                  <a:pt x="7107419" y="-9627"/>
                  <a:pt x="7439787" y="0"/>
                </a:cubicBezTo>
                <a:cubicBezTo>
                  <a:pt x="7772155" y="9627"/>
                  <a:pt x="7844034" y="-9098"/>
                  <a:pt x="7991856" y="0"/>
                </a:cubicBezTo>
                <a:cubicBezTo>
                  <a:pt x="8139678" y="9098"/>
                  <a:pt x="8289889" y="-20239"/>
                  <a:pt x="8543925" y="0"/>
                </a:cubicBezTo>
                <a:cubicBezTo>
                  <a:pt x="8797961" y="20239"/>
                  <a:pt x="8994198" y="29575"/>
                  <a:pt x="9306306" y="0"/>
                </a:cubicBezTo>
                <a:cubicBezTo>
                  <a:pt x="9618414" y="-29575"/>
                  <a:pt x="9739118" y="-23835"/>
                  <a:pt x="9858375" y="0"/>
                </a:cubicBezTo>
                <a:cubicBezTo>
                  <a:pt x="9977632" y="23835"/>
                  <a:pt x="10370488" y="-4069"/>
                  <a:pt x="10515600" y="0"/>
                </a:cubicBezTo>
                <a:cubicBezTo>
                  <a:pt x="10524919" y="196329"/>
                  <a:pt x="10549062" y="488432"/>
                  <a:pt x="10515600" y="785334"/>
                </a:cubicBezTo>
                <a:cubicBezTo>
                  <a:pt x="10482138" y="1082236"/>
                  <a:pt x="10536385" y="1323726"/>
                  <a:pt x="10515600" y="1516506"/>
                </a:cubicBezTo>
                <a:cubicBezTo>
                  <a:pt x="10494815" y="1709286"/>
                  <a:pt x="10546328" y="2097632"/>
                  <a:pt x="10515600" y="2247679"/>
                </a:cubicBezTo>
                <a:cubicBezTo>
                  <a:pt x="10484872" y="2397726"/>
                  <a:pt x="10491771" y="2577292"/>
                  <a:pt x="10515600" y="2762208"/>
                </a:cubicBezTo>
                <a:cubicBezTo>
                  <a:pt x="10539429" y="2947124"/>
                  <a:pt x="10511007" y="3105736"/>
                  <a:pt x="10515600" y="3330898"/>
                </a:cubicBezTo>
                <a:cubicBezTo>
                  <a:pt x="10520194" y="3556060"/>
                  <a:pt x="10497393" y="3882611"/>
                  <a:pt x="10515600" y="4062071"/>
                </a:cubicBezTo>
                <a:cubicBezTo>
                  <a:pt x="10533807" y="4241531"/>
                  <a:pt x="10544791" y="4505155"/>
                  <a:pt x="10515600" y="4684921"/>
                </a:cubicBezTo>
                <a:cubicBezTo>
                  <a:pt x="10486410" y="4864687"/>
                  <a:pt x="10497356" y="5246484"/>
                  <a:pt x="10515600" y="5416094"/>
                </a:cubicBezTo>
                <a:cubicBezTo>
                  <a:pt x="10245623" y="5445692"/>
                  <a:pt x="10029676" y="5415505"/>
                  <a:pt x="9753219" y="5416094"/>
                </a:cubicBezTo>
                <a:cubicBezTo>
                  <a:pt x="9476762" y="5416683"/>
                  <a:pt x="9553148" y="5422760"/>
                  <a:pt x="9411462" y="5416094"/>
                </a:cubicBezTo>
                <a:cubicBezTo>
                  <a:pt x="9269776" y="5409428"/>
                  <a:pt x="8927709" y="5385012"/>
                  <a:pt x="8754237" y="5416094"/>
                </a:cubicBezTo>
                <a:cubicBezTo>
                  <a:pt x="8580766" y="5447176"/>
                  <a:pt x="8413264" y="5410024"/>
                  <a:pt x="8307324" y="5416094"/>
                </a:cubicBezTo>
                <a:cubicBezTo>
                  <a:pt x="8201384" y="5422164"/>
                  <a:pt x="7912690" y="5421686"/>
                  <a:pt x="7544943" y="5416094"/>
                </a:cubicBezTo>
                <a:cubicBezTo>
                  <a:pt x="7177196" y="5410502"/>
                  <a:pt x="7304235" y="5418502"/>
                  <a:pt x="7098030" y="5416094"/>
                </a:cubicBezTo>
                <a:cubicBezTo>
                  <a:pt x="6891825" y="5413686"/>
                  <a:pt x="6541479" y="5434609"/>
                  <a:pt x="6335649" y="5416094"/>
                </a:cubicBezTo>
                <a:cubicBezTo>
                  <a:pt x="6129819" y="5397579"/>
                  <a:pt x="6106541" y="5402791"/>
                  <a:pt x="5993892" y="5416094"/>
                </a:cubicBezTo>
                <a:cubicBezTo>
                  <a:pt x="5881243" y="5429397"/>
                  <a:pt x="5545248" y="5437743"/>
                  <a:pt x="5231511" y="5416094"/>
                </a:cubicBezTo>
                <a:cubicBezTo>
                  <a:pt x="4917774" y="5394445"/>
                  <a:pt x="4963237" y="5426599"/>
                  <a:pt x="4784598" y="5416094"/>
                </a:cubicBezTo>
                <a:cubicBezTo>
                  <a:pt x="4605959" y="5405589"/>
                  <a:pt x="4605904" y="5406658"/>
                  <a:pt x="4442841" y="5416094"/>
                </a:cubicBezTo>
                <a:cubicBezTo>
                  <a:pt x="4279778" y="5425530"/>
                  <a:pt x="4177180" y="5426138"/>
                  <a:pt x="3995928" y="5416094"/>
                </a:cubicBezTo>
                <a:cubicBezTo>
                  <a:pt x="3814676" y="5406050"/>
                  <a:pt x="3516440" y="5429234"/>
                  <a:pt x="3233547" y="5416094"/>
                </a:cubicBezTo>
                <a:cubicBezTo>
                  <a:pt x="2950654" y="5402954"/>
                  <a:pt x="2884354" y="5436103"/>
                  <a:pt x="2786634" y="5416094"/>
                </a:cubicBezTo>
                <a:cubicBezTo>
                  <a:pt x="2688914" y="5396085"/>
                  <a:pt x="2522958" y="5423232"/>
                  <a:pt x="2444877" y="5416094"/>
                </a:cubicBezTo>
                <a:cubicBezTo>
                  <a:pt x="2366796" y="5408956"/>
                  <a:pt x="2104768" y="5395479"/>
                  <a:pt x="1997964" y="5416094"/>
                </a:cubicBezTo>
                <a:cubicBezTo>
                  <a:pt x="1891160" y="5436709"/>
                  <a:pt x="1573016" y="5412376"/>
                  <a:pt x="1445895" y="5416094"/>
                </a:cubicBezTo>
                <a:cubicBezTo>
                  <a:pt x="1318774" y="5419812"/>
                  <a:pt x="986443" y="5400529"/>
                  <a:pt x="788670" y="5416094"/>
                </a:cubicBezTo>
                <a:cubicBezTo>
                  <a:pt x="590897" y="5431659"/>
                  <a:pt x="363709" y="5381266"/>
                  <a:pt x="0" y="5416094"/>
                </a:cubicBezTo>
                <a:cubicBezTo>
                  <a:pt x="-22973" y="5218643"/>
                  <a:pt x="-26699" y="5010779"/>
                  <a:pt x="0" y="4630760"/>
                </a:cubicBezTo>
                <a:cubicBezTo>
                  <a:pt x="26699" y="4250741"/>
                  <a:pt x="-15389" y="4196664"/>
                  <a:pt x="0" y="3953749"/>
                </a:cubicBezTo>
                <a:cubicBezTo>
                  <a:pt x="15389" y="3710834"/>
                  <a:pt x="468" y="3611311"/>
                  <a:pt x="0" y="3276737"/>
                </a:cubicBezTo>
                <a:cubicBezTo>
                  <a:pt x="-468" y="2942163"/>
                  <a:pt x="15360" y="2781998"/>
                  <a:pt x="0" y="2599725"/>
                </a:cubicBezTo>
                <a:cubicBezTo>
                  <a:pt x="-15360" y="2417452"/>
                  <a:pt x="14816" y="2100232"/>
                  <a:pt x="0" y="1922713"/>
                </a:cubicBezTo>
                <a:cubicBezTo>
                  <a:pt x="-14816" y="1745194"/>
                  <a:pt x="-24648" y="1604167"/>
                  <a:pt x="0" y="1299863"/>
                </a:cubicBezTo>
                <a:cubicBezTo>
                  <a:pt x="24648" y="995559"/>
                  <a:pt x="2182" y="279525"/>
                  <a:pt x="0" y="0"/>
                </a:cubicBezTo>
                <a:close/>
              </a:path>
            </a:pathLst>
          </a:custGeom>
          <a:noFill/>
          <a:ln w="47625" cap="rnd">
            <a:solidFill>
              <a:schemeClr val="bg1">
                <a:alpha val="75000"/>
              </a:schemeClr>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sketchy line">
            <a:extLst>
              <a:ext uri="{FF2B5EF4-FFF2-40B4-BE49-F238E27FC236}">
                <a16:creationId xmlns:a16="http://schemas.microsoft.com/office/drawing/2014/main" id="{4E87FCFB-2CCE-460D-B3DD-557C8BD1B9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74206" y="4419423"/>
            <a:ext cx="4243589" cy="18288"/>
          </a:xfrm>
          <a:custGeom>
            <a:avLst/>
            <a:gdLst>
              <a:gd name="csX0" fmla="*/ 0 w 4243589"/>
              <a:gd name="csY0" fmla="*/ 0 h 18288"/>
              <a:gd name="csX1" fmla="*/ 563791 w 4243589"/>
              <a:gd name="csY1" fmla="*/ 0 h 18288"/>
              <a:gd name="csX2" fmla="*/ 1042710 w 4243589"/>
              <a:gd name="csY2" fmla="*/ 0 h 18288"/>
              <a:gd name="csX3" fmla="*/ 1564066 w 4243589"/>
              <a:gd name="csY3" fmla="*/ 0 h 18288"/>
              <a:gd name="csX4" fmla="*/ 2212729 w 4243589"/>
              <a:gd name="csY4" fmla="*/ 0 h 18288"/>
              <a:gd name="csX5" fmla="*/ 2776520 w 4243589"/>
              <a:gd name="csY5" fmla="*/ 0 h 18288"/>
              <a:gd name="csX6" fmla="*/ 3297875 w 4243589"/>
              <a:gd name="csY6" fmla="*/ 0 h 18288"/>
              <a:gd name="csX7" fmla="*/ 4243589 w 4243589"/>
              <a:gd name="csY7" fmla="*/ 0 h 18288"/>
              <a:gd name="csX8" fmla="*/ 4243589 w 4243589"/>
              <a:gd name="csY8" fmla="*/ 18288 h 18288"/>
              <a:gd name="csX9" fmla="*/ 3637362 w 4243589"/>
              <a:gd name="csY9" fmla="*/ 18288 h 18288"/>
              <a:gd name="csX10" fmla="*/ 3116007 w 4243589"/>
              <a:gd name="csY10" fmla="*/ 18288 h 18288"/>
              <a:gd name="csX11" fmla="*/ 2424908 w 4243589"/>
              <a:gd name="csY11" fmla="*/ 18288 h 18288"/>
              <a:gd name="csX12" fmla="*/ 1861117 w 4243589"/>
              <a:gd name="csY12" fmla="*/ 18288 h 18288"/>
              <a:gd name="csX13" fmla="*/ 1382198 w 4243589"/>
              <a:gd name="csY13" fmla="*/ 18288 h 18288"/>
              <a:gd name="csX14" fmla="*/ 733535 w 4243589"/>
              <a:gd name="csY14" fmla="*/ 18288 h 18288"/>
              <a:gd name="csX15" fmla="*/ 0 w 4243589"/>
              <a:gd name="csY15" fmla="*/ 18288 h 18288"/>
              <a:gd name="csX16" fmla="*/ 0 w 4243589"/>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243589" h="18288"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3987" y="7429"/>
                  <a:pt x="4243569" y="10822"/>
                  <a:pt x="4243589" y="18288"/>
                </a:cubicBezTo>
                <a:cubicBezTo>
                  <a:pt x="4112949" y="-2855"/>
                  <a:pt x="3928037" y="1831"/>
                  <a:pt x="3637362" y="18288"/>
                </a:cubicBezTo>
                <a:cubicBezTo>
                  <a:pt x="3346687" y="34745"/>
                  <a:pt x="3254446" y="26669"/>
                  <a:pt x="3116007" y="18288"/>
                </a:cubicBezTo>
                <a:cubicBezTo>
                  <a:pt x="2977569" y="9907"/>
                  <a:pt x="2620228" y="28873"/>
                  <a:pt x="2424908" y="18288"/>
                </a:cubicBezTo>
                <a:cubicBezTo>
                  <a:pt x="2229588" y="7703"/>
                  <a:pt x="2088287" y="-3854"/>
                  <a:pt x="1861117" y="18288"/>
                </a:cubicBezTo>
                <a:cubicBezTo>
                  <a:pt x="1633947" y="40430"/>
                  <a:pt x="1502447" y="-871"/>
                  <a:pt x="1382198" y="18288"/>
                </a:cubicBezTo>
                <a:cubicBezTo>
                  <a:pt x="1261949" y="37447"/>
                  <a:pt x="1045440" y="28353"/>
                  <a:pt x="733535" y="18288"/>
                </a:cubicBezTo>
                <a:cubicBezTo>
                  <a:pt x="421630" y="8223"/>
                  <a:pt x="341257" y="-18359"/>
                  <a:pt x="0" y="18288"/>
                </a:cubicBezTo>
                <a:cubicBezTo>
                  <a:pt x="-591" y="13205"/>
                  <a:pt x="-663" y="6329"/>
                  <a:pt x="0" y="0"/>
                </a:cubicBezTo>
                <a:close/>
              </a:path>
              <a:path w="4243589" h="18288"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2703" y="5429"/>
                  <a:pt x="4244410" y="14046"/>
                  <a:pt x="4243589" y="18288"/>
                </a:cubicBezTo>
                <a:cubicBezTo>
                  <a:pt x="4130424" y="-1240"/>
                  <a:pt x="3932803" y="42249"/>
                  <a:pt x="3722234" y="18288"/>
                </a:cubicBezTo>
                <a:cubicBezTo>
                  <a:pt x="3511665" y="-5673"/>
                  <a:pt x="3269903" y="45994"/>
                  <a:pt x="3116007" y="18288"/>
                </a:cubicBezTo>
                <a:cubicBezTo>
                  <a:pt x="2962111" y="-9418"/>
                  <a:pt x="2744280" y="23224"/>
                  <a:pt x="2509780" y="18288"/>
                </a:cubicBezTo>
                <a:cubicBezTo>
                  <a:pt x="2275280" y="13352"/>
                  <a:pt x="2066059" y="43664"/>
                  <a:pt x="1945989" y="18288"/>
                </a:cubicBezTo>
                <a:cubicBezTo>
                  <a:pt x="1825919" y="-7088"/>
                  <a:pt x="1407329" y="12616"/>
                  <a:pt x="1254890" y="18288"/>
                </a:cubicBezTo>
                <a:cubicBezTo>
                  <a:pt x="1102451" y="23960"/>
                  <a:pt x="837950" y="31673"/>
                  <a:pt x="563791" y="18288"/>
                </a:cubicBezTo>
                <a:cubicBezTo>
                  <a:pt x="289632" y="4903"/>
                  <a:pt x="132768" y="7105"/>
                  <a:pt x="0" y="18288"/>
                </a:cubicBezTo>
                <a:cubicBezTo>
                  <a:pt x="668" y="13665"/>
                  <a:pt x="578" y="5675"/>
                  <a:pt x="0" y="0"/>
                </a:cubicBezTo>
                <a:close/>
              </a:path>
            </a:pathLst>
          </a:custGeom>
          <a:solidFill>
            <a:srgbClr val="FFFFFF">
              <a:alpha val="75000"/>
            </a:srgbClr>
          </a:solidFill>
          <a:ln w="41275" cap="rnd">
            <a:solidFill>
              <a:schemeClr val="bg1">
                <a:alpha val="75000"/>
              </a:schemeClr>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486733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32" presetClass="emph" presetSubtype="0" fill="hold" grpId="0" nodeType="withEffect">
                                  <p:stCondLst>
                                    <p:cond delay="0"/>
                                  </p:stCondLst>
                                  <p:childTnLst>
                                    <p:animRot by="120000">
                                      <p:cBhvr>
                                        <p:cTn id="9" dur="100" fill="hold">
                                          <p:stCondLst>
                                            <p:cond delay="0"/>
                                          </p:stCondLst>
                                        </p:cTn>
                                        <p:tgtEl>
                                          <p:spTgt spid="3"/>
                                        </p:tgtEl>
                                        <p:attrNameLst>
                                          <p:attrName>r</p:attrName>
                                        </p:attrNameLst>
                                      </p:cBhvr>
                                    </p:animRot>
                                    <p:animRot by="-240000">
                                      <p:cBhvr>
                                        <p:cTn id="10" dur="200" fill="hold">
                                          <p:stCondLst>
                                            <p:cond delay="200"/>
                                          </p:stCondLst>
                                        </p:cTn>
                                        <p:tgtEl>
                                          <p:spTgt spid="3"/>
                                        </p:tgtEl>
                                        <p:attrNameLst>
                                          <p:attrName>r</p:attrName>
                                        </p:attrNameLst>
                                      </p:cBhvr>
                                    </p:animRot>
                                    <p:animRot by="240000">
                                      <p:cBhvr>
                                        <p:cTn id="11" dur="200" fill="hold">
                                          <p:stCondLst>
                                            <p:cond delay="400"/>
                                          </p:stCondLst>
                                        </p:cTn>
                                        <p:tgtEl>
                                          <p:spTgt spid="3"/>
                                        </p:tgtEl>
                                        <p:attrNameLst>
                                          <p:attrName>r</p:attrName>
                                        </p:attrNameLst>
                                      </p:cBhvr>
                                    </p:animRot>
                                    <p:animRot by="-240000">
                                      <p:cBhvr>
                                        <p:cTn id="12" dur="200" fill="hold">
                                          <p:stCondLst>
                                            <p:cond delay="600"/>
                                          </p:stCondLst>
                                        </p:cTn>
                                        <p:tgtEl>
                                          <p:spTgt spid="3"/>
                                        </p:tgtEl>
                                        <p:attrNameLst>
                                          <p:attrName>r</p:attrName>
                                        </p:attrNameLst>
                                      </p:cBhvr>
                                    </p:animRot>
                                    <p:animRot by="120000">
                                      <p:cBhvr>
                                        <p:cTn id="13" dur="200" fill="hold">
                                          <p:stCondLst>
                                            <p:cond delay="800"/>
                                          </p:stCondLst>
                                        </p:cTn>
                                        <p:tgtEl>
                                          <p:spTgt spid="3"/>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EACE21D-1213-FCA2-CEFB-9746A0557A93}"/>
              </a:ext>
            </a:extLst>
          </p:cNvPr>
          <p:cNvSpPr txBox="1"/>
          <p:nvPr/>
        </p:nvSpPr>
        <p:spPr>
          <a:xfrm>
            <a:off x="294968" y="198792"/>
            <a:ext cx="6096000" cy="707886"/>
          </a:xfrm>
          <a:prstGeom prst="rect">
            <a:avLst/>
          </a:prstGeom>
          <a:noFill/>
        </p:spPr>
        <p:txBody>
          <a:bodyPr wrap="square">
            <a:spAutoFit/>
          </a:bodyPr>
          <a:lstStyle/>
          <a:p>
            <a:pPr marL="285750" indent="-285750">
              <a:buFont typeface="Wingdings" panose="05000000000000000000" pitchFamily="2" charset="2"/>
              <a:buChar char="v"/>
            </a:pPr>
            <a:r>
              <a:rPr lang="en-GB" sz="4000" b="1" dirty="0">
                <a:latin typeface="Verdana" panose="020B0604030504040204" pitchFamily="34" charset="0"/>
                <a:ea typeface="Verdana" panose="020B0604030504040204" pitchFamily="34" charset="0"/>
              </a:rPr>
              <a:t> Abstract</a:t>
            </a:r>
            <a:endParaRPr lang="en-GB" sz="4000" dirty="0"/>
          </a:p>
        </p:txBody>
      </p:sp>
      <p:sp>
        <p:nvSpPr>
          <p:cNvPr id="5" name="TextBox 4">
            <a:extLst>
              <a:ext uri="{FF2B5EF4-FFF2-40B4-BE49-F238E27FC236}">
                <a16:creationId xmlns:a16="http://schemas.microsoft.com/office/drawing/2014/main" id="{52AAD31C-7F51-6496-FE12-D9FBFE69BC9A}"/>
              </a:ext>
            </a:extLst>
          </p:cNvPr>
          <p:cNvSpPr txBox="1"/>
          <p:nvPr/>
        </p:nvSpPr>
        <p:spPr>
          <a:xfrm>
            <a:off x="294968" y="906678"/>
            <a:ext cx="11788878" cy="5831853"/>
          </a:xfrm>
          <a:prstGeom prst="rect">
            <a:avLst/>
          </a:prstGeom>
          <a:noFill/>
        </p:spPr>
        <p:txBody>
          <a:bodyPr wrap="square">
            <a:spAutoFit/>
          </a:bodyPr>
          <a:lstStyle/>
          <a:p>
            <a:pPr marL="342900" indent="-342900" algn="just">
              <a:lnSpc>
                <a:spcPct val="150000"/>
              </a:lnSpc>
              <a:buFont typeface="Arial" panose="020B0604020202020204" pitchFamily="34" charset="0"/>
              <a:buChar char="•"/>
            </a:pPr>
            <a:r>
              <a:rPr lang="en-GB" sz="2800" dirty="0">
                <a:latin typeface="Times New Roman" panose="02020603050405020304" pitchFamily="18" charset="0"/>
                <a:cs typeface="Times New Roman" panose="02020603050405020304" pitchFamily="18" charset="0"/>
              </a:rPr>
              <a:t>Student dropout is a significant issue in higher education. This study uses the </a:t>
            </a:r>
            <a:r>
              <a:rPr lang="en-GB" sz="2800" b="1" dirty="0">
                <a:latin typeface="Times New Roman" panose="02020603050405020304" pitchFamily="18" charset="0"/>
                <a:cs typeface="Times New Roman" panose="02020603050405020304" pitchFamily="18" charset="0"/>
              </a:rPr>
              <a:t>UCI Student Dropout Dataset</a:t>
            </a:r>
            <a:r>
              <a:rPr lang="en-GB" sz="2800" dirty="0">
                <a:latin typeface="Times New Roman" panose="02020603050405020304" pitchFamily="18" charset="0"/>
                <a:cs typeface="Times New Roman" panose="02020603050405020304" pitchFamily="18" charset="0"/>
              </a:rPr>
              <a:t> to predict whether a student will </a:t>
            </a:r>
            <a:r>
              <a:rPr lang="en-GB" sz="2800" b="1" dirty="0">
                <a:latin typeface="Times New Roman" panose="02020603050405020304" pitchFamily="18" charset="0"/>
                <a:cs typeface="Times New Roman" panose="02020603050405020304" pitchFamily="18" charset="0"/>
              </a:rPr>
              <a:t>Dropout, Graduate, or Remain Enrolled</a:t>
            </a:r>
            <a:r>
              <a:rPr lang="en-GB" sz="2800" dirty="0">
                <a:latin typeface="Times New Roman" panose="02020603050405020304" pitchFamily="18" charset="0"/>
                <a:cs typeface="Times New Roman" panose="02020603050405020304" pitchFamily="18" charset="0"/>
              </a:rPr>
              <a:t>. </a:t>
            </a:r>
          </a:p>
          <a:p>
            <a:pPr marL="342900" indent="-342900" algn="just">
              <a:lnSpc>
                <a:spcPct val="150000"/>
              </a:lnSpc>
              <a:buFont typeface="Arial" panose="020B0604020202020204" pitchFamily="34" charset="0"/>
              <a:buChar char="•"/>
            </a:pPr>
            <a:r>
              <a:rPr lang="en-GB" sz="2800" dirty="0">
                <a:latin typeface="Times New Roman" panose="02020603050405020304" pitchFamily="18" charset="0"/>
                <a:cs typeface="Times New Roman" panose="02020603050405020304" pitchFamily="18" charset="0"/>
              </a:rPr>
              <a:t>Two models, </a:t>
            </a:r>
            <a:r>
              <a:rPr lang="en-GB" sz="2800" b="1" dirty="0">
                <a:latin typeface="Times New Roman" panose="02020603050405020304" pitchFamily="18" charset="0"/>
                <a:cs typeface="Times New Roman" panose="02020603050405020304" pitchFamily="18" charset="0"/>
              </a:rPr>
              <a:t>Multinomial Logistic Regression</a:t>
            </a:r>
            <a:r>
              <a:rPr lang="en-GB" sz="2800" dirty="0">
                <a:latin typeface="Times New Roman" panose="02020603050405020304" pitchFamily="18" charset="0"/>
                <a:cs typeface="Times New Roman" panose="02020603050405020304" pitchFamily="18" charset="0"/>
              </a:rPr>
              <a:t> and </a:t>
            </a:r>
            <a:r>
              <a:rPr lang="en-GB" sz="2800" b="1" dirty="0">
                <a:latin typeface="Times New Roman" panose="02020603050405020304" pitchFamily="18" charset="0"/>
                <a:cs typeface="Times New Roman" panose="02020603050405020304" pitchFamily="18" charset="0"/>
              </a:rPr>
              <a:t>Linear Discriminant Analysis (LDA), </a:t>
            </a:r>
            <a:r>
              <a:rPr lang="en-GB" sz="2800" dirty="0">
                <a:latin typeface="Times New Roman" panose="02020603050405020304" pitchFamily="18" charset="0"/>
                <a:cs typeface="Times New Roman" panose="02020603050405020304" pitchFamily="18" charset="0"/>
              </a:rPr>
              <a:t>are applied and compared. </a:t>
            </a:r>
          </a:p>
          <a:p>
            <a:pPr marL="342900" indent="-342900" algn="just">
              <a:lnSpc>
                <a:spcPct val="150000"/>
              </a:lnSpc>
              <a:buFont typeface="Arial" panose="020B0604020202020204" pitchFamily="34" charset="0"/>
              <a:buChar char="•"/>
            </a:pPr>
            <a:r>
              <a:rPr lang="en-GB" sz="2800" dirty="0">
                <a:latin typeface="Times New Roman" panose="02020603050405020304" pitchFamily="18" charset="0"/>
                <a:cs typeface="Times New Roman" panose="02020603050405020304" pitchFamily="18" charset="0"/>
              </a:rPr>
              <a:t>The results show that </a:t>
            </a:r>
            <a:r>
              <a:rPr lang="en-GB" sz="2800" b="1" dirty="0">
                <a:latin typeface="Times New Roman" panose="02020603050405020304" pitchFamily="18" charset="0"/>
                <a:cs typeface="Times New Roman" panose="02020603050405020304" pitchFamily="18" charset="0"/>
              </a:rPr>
              <a:t>Logistic Regression provides slightly better predictive performance, </a:t>
            </a:r>
            <a:r>
              <a:rPr lang="en-GB" sz="2800" dirty="0">
                <a:latin typeface="Times New Roman" panose="02020603050405020304" pitchFamily="18" charset="0"/>
                <a:cs typeface="Times New Roman" panose="02020603050405020304" pitchFamily="18" charset="0"/>
              </a:rPr>
              <a:t>while </a:t>
            </a:r>
            <a:r>
              <a:rPr lang="en-GB" sz="2800" b="1" dirty="0">
                <a:latin typeface="Times New Roman" panose="02020603050405020304" pitchFamily="18" charset="0"/>
                <a:cs typeface="Times New Roman" panose="02020603050405020304" pitchFamily="18" charset="0"/>
              </a:rPr>
              <a:t>LDA is faster and computationally efficient</a:t>
            </a:r>
            <a:r>
              <a:rPr lang="en-GB" sz="2800" dirty="0">
                <a:latin typeface="Times New Roman" panose="02020603050405020304" pitchFamily="18" charset="0"/>
                <a:cs typeface="Times New Roman" panose="02020603050405020304" pitchFamily="18" charset="0"/>
              </a:rPr>
              <a:t>. </a:t>
            </a:r>
          </a:p>
          <a:p>
            <a:pPr marL="342900" indent="-342900" algn="just">
              <a:lnSpc>
                <a:spcPct val="150000"/>
              </a:lnSpc>
              <a:buFont typeface="Arial" panose="020B0604020202020204" pitchFamily="34" charset="0"/>
              <a:buChar char="•"/>
            </a:pPr>
            <a:r>
              <a:rPr lang="en-GB" sz="2800" dirty="0">
                <a:latin typeface="Times New Roman" panose="02020603050405020304" pitchFamily="18" charset="0"/>
                <a:cs typeface="Times New Roman" panose="02020603050405020304" pitchFamily="18" charset="0"/>
              </a:rPr>
              <a:t>The study highlights how statistical models can support </a:t>
            </a:r>
            <a:r>
              <a:rPr lang="en-GB" sz="2800" b="1" dirty="0">
                <a:latin typeface="Times New Roman" panose="02020603050405020304" pitchFamily="18" charset="0"/>
                <a:cs typeface="Times New Roman" panose="02020603050405020304" pitchFamily="18" charset="0"/>
              </a:rPr>
              <a:t>early identification of at-risk students and improve retention strategies</a:t>
            </a:r>
            <a:r>
              <a:rPr lang="en-GB" sz="28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1517528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42" presetClass="entr" presetSubtype="0" fill="hold" nodeType="withEffect">
                                  <p:stCondLst>
                                    <p:cond delay="0"/>
                                  </p:stCondLst>
                                  <p:childTnLst>
                                    <p:set>
                                      <p:cBhvr>
                                        <p:cTn id="8" dur="1" fill="hold">
                                          <p:stCondLst>
                                            <p:cond delay="0"/>
                                          </p:stCondLst>
                                        </p:cTn>
                                        <p:tgtEl>
                                          <p:spTgt spid="5">
                                            <p:txEl>
                                              <p:pRg st="0" end="0"/>
                                            </p:txEl>
                                          </p:spTgt>
                                        </p:tgtEl>
                                        <p:attrNameLst>
                                          <p:attrName>style.visibility</p:attrName>
                                        </p:attrNameLst>
                                      </p:cBhvr>
                                      <p:to>
                                        <p:strVal val="visible"/>
                                      </p:to>
                                    </p:set>
                                    <p:animEffect transition="in" filter="fade">
                                      <p:cBhvr>
                                        <p:cTn id="9" dur="500"/>
                                        <p:tgtEl>
                                          <p:spTgt spid="5">
                                            <p:txEl>
                                              <p:pRg st="0" end="0"/>
                                            </p:txEl>
                                          </p:spTgt>
                                        </p:tgtEl>
                                      </p:cBhvr>
                                    </p:animEffect>
                                    <p:anim calcmode="lin" valueType="num">
                                      <p:cBhvr>
                                        <p:cTn id="10"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p:cTn id="11" dur="500" fill="hold"/>
                                        <p:tgtEl>
                                          <p:spTgt spid="5">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2" fill="hold">
                      <p:stCondLst>
                        <p:cond delay="indefinite"/>
                      </p:stCondLst>
                      <p:childTnLst>
                        <p:par>
                          <p:cTn id="13" fill="hold">
                            <p:stCondLst>
                              <p:cond delay="0"/>
                            </p:stCondLst>
                            <p:childTnLst>
                              <p:par>
                                <p:cTn id="14" presetID="42" presetClass="entr" presetSubtype="0" fill="hold" nodeType="clickEffect">
                                  <p:stCondLst>
                                    <p:cond delay="0"/>
                                  </p:stCondLst>
                                  <p:childTnLst>
                                    <p:set>
                                      <p:cBhvr>
                                        <p:cTn id="15" dur="1" fill="hold">
                                          <p:stCondLst>
                                            <p:cond delay="0"/>
                                          </p:stCondLst>
                                        </p:cTn>
                                        <p:tgtEl>
                                          <p:spTgt spid="5">
                                            <p:txEl>
                                              <p:pRg st="1" end="1"/>
                                            </p:txEl>
                                          </p:spTgt>
                                        </p:tgtEl>
                                        <p:attrNameLst>
                                          <p:attrName>style.visibility</p:attrName>
                                        </p:attrNameLst>
                                      </p:cBhvr>
                                      <p:to>
                                        <p:strVal val="visible"/>
                                      </p:to>
                                    </p:set>
                                    <p:animEffect transition="in" filter="fade">
                                      <p:cBhvr>
                                        <p:cTn id="16" dur="500"/>
                                        <p:tgtEl>
                                          <p:spTgt spid="5">
                                            <p:txEl>
                                              <p:pRg st="1" end="1"/>
                                            </p:txEl>
                                          </p:spTgt>
                                        </p:tgtEl>
                                      </p:cBhvr>
                                    </p:animEffect>
                                    <p:anim calcmode="lin" valueType="num">
                                      <p:cBhvr>
                                        <p:cTn id="17" dur="500" fill="hold"/>
                                        <p:tgtEl>
                                          <p:spTgt spid="5">
                                            <p:txEl>
                                              <p:pRg st="1" end="1"/>
                                            </p:txEl>
                                          </p:spTgt>
                                        </p:tgtEl>
                                        <p:attrNameLst>
                                          <p:attrName>ppt_x</p:attrName>
                                        </p:attrNameLst>
                                      </p:cBhvr>
                                      <p:tavLst>
                                        <p:tav tm="0">
                                          <p:val>
                                            <p:strVal val="#ppt_x"/>
                                          </p:val>
                                        </p:tav>
                                        <p:tav tm="100000">
                                          <p:val>
                                            <p:strVal val="#ppt_x"/>
                                          </p:val>
                                        </p:tav>
                                      </p:tavLst>
                                    </p:anim>
                                    <p:anim calcmode="lin" valueType="num">
                                      <p:cBhvr>
                                        <p:cTn id="18" dur="500" fill="hold"/>
                                        <p:tgtEl>
                                          <p:spTgt spid="5">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42" presetClass="entr" presetSubtype="0" fill="hold" nodeType="clickEffect">
                                  <p:stCondLst>
                                    <p:cond delay="0"/>
                                  </p:stCondLst>
                                  <p:childTnLst>
                                    <p:set>
                                      <p:cBhvr>
                                        <p:cTn id="22" dur="1" fill="hold">
                                          <p:stCondLst>
                                            <p:cond delay="0"/>
                                          </p:stCondLst>
                                        </p:cTn>
                                        <p:tgtEl>
                                          <p:spTgt spid="5">
                                            <p:txEl>
                                              <p:pRg st="2" end="2"/>
                                            </p:txEl>
                                          </p:spTgt>
                                        </p:tgtEl>
                                        <p:attrNameLst>
                                          <p:attrName>style.visibility</p:attrName>
                                        </p:attrNameLst>
                                      </p:cBhvr>
                                      <p:to>
                                        <p:strVal val="visible"/>
                                      </p:to>
                                    </p:set>
                                    <p:animEffect transition="in" filter="fade">
                                      <p:cBhvr>
                                        <p:cTn id="23" dur="500"/>
                                        <p:tgtEl>
                                          <p:spTgt spid="5">
                                            <p:txEl>
                                              <p:pRg st="2" end="2"/>
                                            </p:txEl>
                                          </p:spTgt>
                                        </p:tgtEl>
                                      </p:cBhvr>
                                    </p:animEffect>
                                    <p:anim calcmode="lin" valueType="num">
                                      <p:cBhvr>
                                        <p:cTn id="24"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p:cTn id="25" dur="500" fill="hold"/>
                                        <p:tgtEl>
                                          <p:spTgt spid="5">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42" presetClass="entr" presetSubtype="0" fill="hold" nodeType="clickEffect">
                                  <p:stCondLst>
                                    <p:cond delay="0"/>
                                  </p:stCondLst>
                                  <p:childTnLst>
                                    <p:set>
                                      <p:cBhvr>
                                        <p:cTn id="29" dur="1" fill="hold">
                                          <p:stCondLst>
                                            <p:cond delay="0"/>
                                          </p:stCondLst>
                                        </p:cTn>
                                        <p:tgtEl>
                                          <p:spTgt spid="5">
                                            <p:txEl>
                                              <p:pRg st="3" end="3"/>
                                            </p:txEl>
                                          </p:spTgt>
                                        </p:tgtEl>
                                        <p:attrNameLst>
                                          <p:attrName>style.visibility</p:attrName>
                                        </p:attrNameLst>
                                      </p:cBhvr>
                                      <p:to>
                                        <p:strVal val="visible"/>
                                      </p:to>
                                    </p:set>
                                    <p:animEffect transition="in" filter="fade">
                                      <p:cBhvr>
                                        <p:cTn id="30" dur="500"/>
                                        <p:tgtEl>
                                          <p:spTgt spid="5">
                                            <p:txEl>
                                              <p:pRg st="3" end="3"/>
                                            </p:txEl>
                                          </p:spTgt>
                                        </p:tgtEl>
                                      </p:cBhvr>
                                    </p:animEffect>
                                    <p:anim calcmode="lin" valueType="num">
                                      <p:cBhvr>
                                        <p:cTn id="31" dur="500" fill="hold"/>
                                        <p:tgtEl>
                                          <p:spTgt spid="5">
                                            <p:txEl>
                                              <p:pRg st="3" end="3"/>
                                            </p:txEl>
                                          </p:spTgt>
                                        </p:tgtEl>
                                        <p:attrNameLst>
                                          <p:attrName>ppt_x</p:attrName>
                                        </p:attrNameLst>
                                      </p:cBhvr>
                                      <p:tavLst>
                                        <p:tav tm="0">
                                          <p:val>
                                            <p:strVal val="#ppt_x"/>
                                          </p:val>
                                        </p:tav>
                                        <p:tav tm="100000">
                                          <p:val>
                                            <p:strVal val="#ppt_x"/>
                                          </p:val>
                                        </p:tav>
                                      </p:tavLst>
                                    </p:anim>
                                    <p:anim calcmode="lin" valueType="num">
                                      <p:cBhvr>
                                        <p:cTn id="32" dur="500" fill="hold"/>
                                        <p:tgtEl>
                                          <p:spTgt spid="5">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C746C7F-49EF-AFEF-43B0-F928E2FB02E4}"/>
              </a:ext>
            </a:extLst>
          </p:cNvPr>
          <p:cNvSpPr txBox="1"/>
          <p:nvPr/>
        </p:nvSpPr>
        <p:spPr>
          <a:xfrm>
            <a:off x="439014" y="1159404"/>
            <a:ext cx="11489749" cy="4435830"/>
          </a:xfrm>
          <a:prstGeom prst="rect">
            <a:avLst/>
          </a:prstGeom>
          <a:noFill/>
        </p:spPr>
        <p:txBody>
          <a:bodyPr wrap="square">
            <a:spAutoFit/>
          </a:bodyPr>
          <a:lstStyle/>
          <a:p>
            <a:pPr algn="just">
              <a:lnSpc>
                <a:spcPct val="150000"/>
              </a:lnSpc>
              <a:buNone/>
            </a:pPr>
            <a:r>
              <a:rPr lang="en-GB" sz="3200" dirty="0">
                <a:latin typeface="Times New Roman" panose="02020603050405020304" pitchFamily="18" charset="0"/>
                <a:cs typeface="Times New Roman" panose="02020603050405020304" pitchFamily="18" charset="0"/>
              </a:rPr>
              <a:t>To develop and evaluate a machine learning-based approach for predicting student academic outcomes (Dropout, Enrolled, Graduate) using educational data, and to compare the performance of Multinomial Logistic Regression and Linear Discriminant Analysis in terms of accuracy, efficiency, and interpretability, while identifying key factors influencing student dropout.</a:t>
            </a:r>
          </a:p>
        </p:txBody>
      </p:sp>
      <p:sp>
        <p:nvSpPr>
          <p:cNvPr id="5" name="TextBox 4">
            <a:extLst>
              <a:ext uri="{FF2B5EF4-FFF2-40B4-BE49-F238E27FC236}">
                <a16:creationId xmlns:a16="http://schemas.microsoft.com/office/drawing/2014/main" id="{D9E630CC-F606-0918-A767-C73A9348A134}"/>
              </a:ext>
            </a:extLst>
          </p:cNvPr>
          <p:cNvSpPr txBox="1"/>
          <p:nvPr/>
        </p:nvSpPr>
        <p:spPr>
          <a:xfrm>
            <a:off x="303934" y="251752"/>
            <a:ext cx="6094268" cy="707886"/>
          </a:xfrm>
          <a:prstGeom prst="rect">
            <a:avLst/>
          </a:prstGeom>
          <a:noFill/>
        </p:spPr>
        <p:txBody>
          <a:bodyPr wrap="square">
            <a:spAutoFit/>
          </a:bodyPr>
          <a:lstStyle/>
          <a:p>
            <a:pPr marL="571500" indent="-571500">
              <a:buFont typeface="Wingdings" panose="05000000000000000000" pitchFamily="2" charset="2"/>
              <a:buChar char="v"/>
            </a:pPr>
            <a:r>
              <a:rPr lang="en-GB" sz="4000" b="1" dirty="0">
                <a:latin typeface="Verdana" panose="020B0604030504040204" pitchFamily="34" charset="0"/>
                <a:ea typeface="Verdana" panose="020B0604030504040204" pitchFamily="34" charset="0"/>
                <a:cs typeface="Times New Roman" panose="02020603050405020304" pitchFamily="18" charset="0"/>
              </a:rPr>
              <a:t>Objective</a:t>
            </a:r>
            <a:endParaRPr lang="en-GB" sz="3600" b="1" dirty="0">
              <a:latin typeface="Verdana" panose="020B0604030504040204" pitchFamily="34" charset="0"/>
              <a:ea typeface="Verdana" panose="020B0604030504040204" pitchFamily="34" charset="0"/>
              <a:cs typeface="Times New Roman" panose="02020603050405020304" pitchFamily="18" charset="0"/>
            </a:endParaRPr>
          </a:p>
        </p:txBody>
      </p:sp>
    </p:spTree>
    <p:extLst>
      <p:ext uri="{BB962C8B-B14F-4D97-AF65-F5344CB8AC3E}">
        <p14:creationId xmlns:p14="http://schemas.microsoft.com/office/powerpoint/2010/main" val="4574554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8BFE5B4C-64DC-0160-BE09-99AA0094EFFB}"/>
              </a:ext>
            </a:extLst>
          </p:cNvPr>
          <p:cNvSpPr txBox="1"/>
          <p:nvPr/>
        </p:nvSpPr>
        <p:spPr>
          <a:xfrm>
            <a:off x="141576" y="97864"/>
            <a:ext cx="6030624" cy="1200329"/>
          </a:xfrm>
          <a:prstGeom prst="rect">
            <a:avLst/>
          </a:prstGeom>
          <a:solidFill>
            <a:schemeClr val="tx2">
              <a:lumMod val="25000"/>
              <a:lumOff val="75000"/>
            </a:schemeClr>
          </a:solidFill>
          <a:ln w="28575">
            <a:solidFill>
              <a:schemeClr val="tx1"/>
            </a:solidFill>
          </a:ln>
        </p:spPr>
        <p:txBody>
          <a:bodyPr wrap="square">
            <a:spAutoFit/>
          </a:bodyPr>
          <a:lstStyle/>
          <a:p>
            <a:pPr algn="ctr"/>
            <a:r>
              <a:rPr lang="en-GB" sz="3600" b="1" dirty="0">
                <a:latin typeface="Times New Roman" panose="02020603050405020304" pitchFamily="18" charset="0"/>
                <a:ea typeface="Verdana" panose="020B0604030504040204" pitchFamily="34" charset="0"/>
                <a:cs typeface="Times New Roman" panose="02020603050405020304" pitchFamily="18" charset="0"/>
              </a:rPr>
              <a:t>Logistic Regression (Multinomial Logit)</a:t>
            </a:r>
          </a:p>
        </p:txBody>
      </p:sp>
      <p:sp>
        <p:nvSpPr>
          <p:cNvPr id="7" name="TextBox 6">
            <a:extLst>
              <a:ext uri="{FF2B5EF4-FFF2-40B4-BE49-F238E27FC236}">
                <a16:creationId xmlns:a16="http://schemas.microsoft.com/office/drawing/2014/main" id="{328730E7-8FBE-A6B9-F9CC-DB835A95F445}"/>
              </a:ext>
            </a:extLst>
          </p:cNvPr>
          <p:cNvSpPr txBox="1"/>
          <p:nvPr/>
        </p:nvSpPr>
        <p:spPr>
          <a:xfrm>
            <a:off x="6463146" y="97864"/>
            <a:ext cx="5587278" cy="1200329"/>
          </a:xfrm>
          <a:prstGeom prst="rect">
            <a:avLst/>
          </a:prstGeom>
          <a:solidFill>
            <a:srgbClr val="215F9A"/>
          </a:solidFill>
          <a:ln w="28575">
            <a:solidFill>
              <a:schemeClr val="tx1"/>
            </a:solidFill>
          </a:ln>
        </p:spPr>
        <p:txBody>
          <a:bodyPr wrap="square">
            <a:spAutoFit/>
          </a:bodyPr>
          <a:lstStyle/>
          <a:p>
            <a:pPr algn="ctr"/>
            <a:r>
              <a:rPr lang="en-GB" sz="3600" b="1" dirty="0">
                <a:solidFill>
                  <a:schemeClr val="bg1"/>
                </a:solidFill>
                <a:latin typeface="Times New Roman" panose="02020603050405020304" pitchFamily="18" charset="0"/>
                <a:cs typeface="Times New Roman" panose="02020603050405020304" pitchFamily="18" charset="0"/>
              </a:rPr>
              <a:t>Linear Discriminant Analysis</a:t>
            </a:r>
          </a:p>
        </p:txBody>
      </p:sp>
      <p:sp>
        <p:nvSpPr>
          <p:cNvPr id="17" name="Rectangle 16">
            <a:extLst>
              <a:ext uri="{FF2B5EF4-FFF2-40B4-BE49-F238E27FC236}">
                <a16:creationId xmlns:a16="http://schemas.microsoft.com/office/drawing/2014/main" id="{7F3FFE8F-F6B3-6F1C-DADB-201EA8E7D627}"/>
              </a:ext>
            </a:extLst>
          </p:cNvPr>
          <p:cNvSpPr/>
          <p:nvPr/>
        </p:nvSpPr>
        <p:spPr>
          <a:xfrm>
            <a:off x="141576" y="1517073"/>
            <a:ext cx="6030624" cy="5243064"/>
          </a:xfrm>
          <a:prstGeom prst="rect">
            <a:avLst/>
          </a:prstGeom>
          <a:solidFill>
            <a:schemeClr val="tx2">
              <a:lumMod val="25000"/>
              <a:lumOff val="75000"/>
            </a:schemeClr>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lgn="just">
              <a:lnSpc>
                <a:spcPct val="150000"/>
              </a:lnSpc>
              <a:buFont typeface="Arial" panose="020B0604020202020204" pitchFamily="34" charset="0"/>
              <a:buChar char="•"/>
            </a:pPr>
            <a:r>
              <a:rPr lang="en-GB" sz="2500" dirty="0">
                <a:solidFill>
                  <a:schemeClr val="tx1"/>
                </a:solidFill>
                <a:latin typeface="Times New Roman" panose="02020603050405020304" pitchFamily="18" charset="0"/>
                <a:cs typeface="Times New Roman" panose="02020603050405020304" pitchFamily="18" charset="0"/>
              </a:rPr>
              <a:t>Supervised classification algorithm for </a:t>
            </a:r>
            <a:r>
              <a:rPr lang="en-GB" sz="2500" b="1" dirty="0">
                <a:solidFill>
                  <a:schemeClr val="tx1"/>
                </a:solidFill>
                <a:latin typeface="Times New Roman" panose="02020603050405020304" pitchFamily="18" charset="0"/>
                <a:cs typeface="Times New Roman" panose="02020603050405020304" pitchFamily="18" charset="0"/>
              </a:rPr>
              <a:t>multiclass prediction</a:t>
            </a:r>
          </a:p>
          <a:p>
            <a:pPr marL="285750" indent="-285750" algn="just">
              <a:lnSpc>
                <a:spcPct val="150000"/>
              </a:lnSpc>
              <a:buFont typeface="Arial" panose="020B0604020202020204" pitchFamily="34" charset="0"/>
              <a:buChar char="•"/>
            </a:pPr>
            <a:r>
              <a:rPr lang="en-GB" sz="2500" dirty="0">
                <a:solidFill>
                  <a:schemeClr val="tx1"/>
                </a:solidFill>
                <a:latin typeface="Times New Roman" panose="02020603050405020304" pitchFamily="18" charset="0"/>
                <a:cs typeface="Times New Roman" panose="02020603050405020304" pitchFamily="18" charset="0"/>
              </a:rPr>
              <a:t>Estimates </a:t>
            </a:r>
            <a:r>
              <a:rPr lang="en-GB" sz="2500" b="1" dirty="0">
                <a:solidFill>
                  <a:schemeClr val="tx1"/>
                </a:solidFill>
                <a:latin typeface="Times New Roman" panose="02020603050405020304" pitchFamily="18" charset="0"/>
                <a:cs typeface="Times New Roman" panose="02020603050405020304" pitchFamily="18" charset="0"/>
              </a:rPr>
              <a:t>probability of each class</a:t>
            </a:r>
            <a:r>
              <a:rPr lang="en-GB" sz="2500" dirty="0">
                <a:solidFill>
                  <a:schemeClr val="tx1"/>
                </a:solidFill>
                <a:latin typeface="Times New Roman" panose="02020603050405020304" pitchFamily="18" charset="0"/>
                <a:cs typeface="Times New Roman" panose="02020603050405020304" pitchFamily="18" charset="0"/>
              </a:rPr>
              <a:t> using </a:t>
            </a:r>
            <a:r>
              <a:rPr lang="en-GB" sz="2500" dirty="0" err="1">
                <a:solidFill>
                  <a:schemeClr val="tx1"/>
                </a:solidFill>
                <a:latin typeface="Times New Roman" panose="02020603050405020304" pitchFamily="18" charset="0"/>
                <a:cs typeface="Times New Roman" panose="02020603050405020304" pitchFamily="18" charset="0"/>
              </a:rPr>
              <a:t>softmax</a:t>
            </a:r>
            <a:r>
              <a:rPr lang="en-GB" sz="2500" dirty="0">
                <a:solidFill>
                  <a:schemeClr val="tx1"/>
                </a:solidFill>
                <a:latin typeface="Times New Roman" panose="02020603050405020304" pitchFamily="18" charset="0"/>
                <a:cs typeface="Times New Roman" panose="02020603050405020304" pitchFamily="18" charset="0"/>
              </a:rPr>
              <a:t> function</a:t>
            </a:r>
          </a:p>
          <a:p>
            <a:pPr marL="285750" indent="-285750" algn="just">
              <a:lnSpc>
                <a:spcPct val="150000"/>
              </a:lnSpc>
              <a:buFont typeface="Arial" panose="020B0604020202020204" pitchFamily="34" charset="0"/>
              <a:buChar char="•"/>
            </a:pPr>
            <a:r>
              <a:rPr lang="en-GB" sz="2500" dirty="0">
                <a:solidFill>
                  <a:schemeClr val="tx1"/>
                </a:solidFill>
                <a:latin typeface="Times New Roman" panose="02020603050405020304" pitchFamily="18" charset="0"/>
                <a:cs typeface="Times New Roman" panose="02020603050405020304" pitchFamily="18" charset="0"/>
              </a:rPr>
              <a:t>Assigns class with </a:t>
            </a:r>
            <a:r>
              <a:rPr lang="en-GB" sz="2500" b="1" dirty="0">
                <a:solidFill>
                  <a:schemeClr val="tx1"/>
                </a:solidFill>
                <a:latin typeface="Times New Roman" panose="02020603050405020304" pitchFamily="18" charset="0"/>
                <a:cs typeface="Times New Roman" panose="02020603050405020304" pitchFamily="18" charset="0"/>
              </a:rPr>
              <a:t>highest probability</a:t>
            </a:r>
          </a:p>
          <a:p>
            <a:pPr marL="285750" indent="-285750" algn="just">
              <a:lnSpc>
                <a:spcPct val="150000"/>
              </a:lnSpc>
              <a:buFont typeface="Arial" panose="020B0604020202020204" pitchFamily="34" charset="0"/>
              <a:buChar char="•"/>
            </a:pPr>
            <a:r>
              <a:rPr lang="en-GB" sz="2500" dirty="0">
                <a:solidFill>
                  <a:schemeClr val="tx1"/>
                </a:solidFill>
                <a:latin typeface="Times New Roman" panose="02020603050405020304" pitchFamily="18" charset="0"/>
                <a:cs typeface="Times New Roman" panose="02020603050405020304" pitchFamily="18" charset="0"/>
              </a:rPr>
              <a:t>Provides </a:t>
            </a:r>
            <a:r>
              <a:rPr lang="en-GB" sz="2500" b="1" dirty="0">
                <a:solidFill>
                  <a:schemeClr val="tx1"/>
                </a:solidFill>
                <a:latin typeface="Times New Roman" panose="02020603050405020304" pitchFamily="18" charset="0"/>
                <a:cs typeface="Times New Roman" panose="02020603050405020304" pitchFamily="18" charset="0"/>
              </a:rPr>
              <a:t>interpretable coefficients</a:t>
            </a:r>
            <a:r>
              <a:rPr lang="en-GB" sz="2500" dirty="0">
                <a:solidFill>
                  <a:schemeClr val="tx1"/>
                </a:solidFill>
                <a:latin typeface="Times New Roman" panose="02020603050405020304" pitchFamily="18" charset="0"/>
                <a:cs typeface="Times New Roman" panose="02020603050405020304" pitchFamily="18" charset="0"/>
              </a:rPr>
              <a:t> (feature importance)</a:t>
            </a:r>
          </a:p>
          <a:p>
            <a:pPr marL="285750" indent="-285750" algn="just">
              <a:lnSpc>
                <a:spcPct val="150000"/>
              </a:lnSpc>
              <a:buFont typeface="Arial" panose="020B0604020202020204" pitchFamily="34" charset="0"/>
              <a:buChar char="•"/>
            </a:pPr>
            <a:r>
              <a:rPr lang="en-GB" sz="2500" dirty="0">
                <a:solidFill>
                  <a:schemeClr val="tx1"/>
                </a:solidFill>
                <a:latin typeface="Times New Roman" panose="02020603050405020304" pitchFamily="18" charset="0"/>
                <a:cs typeface="Times New Roman" panose="02020603050405020304" pitchFamily="18" charset="0"/>
              </a:rPr>
              <a:t>Uses </a:t>
            </a:r>
            <a:r>
              <a:rPr lang="en-GB" sz="2500" b="1" dirty="0">
                <a:solidFill>
                  <a:schemeClr val="tx1"/>
                </a:solidFill>
                <a:latin typeface="Times New Roman" panose="02020603050405020304" pitchFamily="18" charset="0"/>
                <a:cs typeface="Times New Roman" panose="02020603050405020304" pitchFamily="18" charset="0"/>
              </a:rPr>
              <a:t>regularization</a:t>
            </a:r>
            <a:r>
              <a:rPr lang="en-GB" sz="2500" dirty="0">
                <a:solidFill>
                  <a:schemeClr val="tx1"/>
                </a:solidFill>
                <a:latin typeface="Times New Roman" panose="02020603050405020304" pitchFamily="18" charset="0"/>
                <a:cs typeface="Times New Roman" panose="02020603050405020304" pitchFamily="18" charset="0"/>
              </a:rPr>
              <a:t> to reduce overfitting</a:t>
            </a:r>
          </a:p>
          <a:p>
            <a:pPr marL="285750" indent="-285750" algn="just">
              <a:lnSpc>
                <a:spcPct val="150000"/>
              </a:lnSpc>
              <a:buFont typeface="Arial" panose="020B0604020202020204" pitchFamily="34" charset="0"/>
              <a:buChar char="•"/>
            </a:pPr>
            <a:r>
              <a:rPr lang="en-GB" sz="2500" dirty="0">
                <a:solidFill>
                  <a:schemeClr val="tx1"/>
                </a:solidFill>
                <a:latin typeface="Times New Roman" panose="02020603050405020304" pitchFamily="18" charset="0"/>
                <a:cs typeface="Times New Roman" panose="02020603050405020304" pitchFamily="18" charset="0"/>
              </a:rPr>
              <a:t>Performs well on </a:t>
            </a:r>
            <a:r>
              <a:rPr lang="en-GB" sz="2500" b="1" dirty="0">
                <a:solidFill>
                  <a:schemeClr val="tx1"/>
                </a:solidFill>
                <a:latin typeface="Times New Roman" panose="02020603050405020304" pitchFamily="18" charset="0"/>
                <a:cs typeface="Times New Roman" panose="02020603050405020304" pitchFamily="18" charset="0"/>
              </a:rPr>
              <a:t>structured/tabular data</a:t>
            </a:r>
            <a:endParaRPr lang="en-GB" sz="2500" dirty="0">
              <a:solidFill>
                <a:schemeClr val="tx1"/>
              </a:solidFill>
              <a:latin typeface="Times New Roman" panose="02020603050405020304" pitchFamily="18" charset="0"/>
              <a:cs typeface="Times New Roman" panose="02020603050405020304" pitchFamily="18" charset="0"/>
            </a:endParaRPr>
          </a:p>
        </p:txBody>
      </p:sp>
      <p:sp>
        <p:nvSpPr>
          <p:cNvPr id="18" name="Rectangle 17">
            <a:extLst>
              <a:ext uri="{FF2B5EF4-FFF2-40B4-BE49-F238E27FC236}">
                <a16:creationId xmlns:a16="http://schemas.microsoft.com/office/drawing/2014/main" id="{0156DB86-0007-942D-9E38-F73867B93480}"/>
              </a:ext>
            </a:extLst>
          </p:cNvPr>
          <p:cNvSpPr/>
          <p:nvPr/>
        </p:nvSpPr>
        <p:spPr>
          <a:xfrm>
            <a:off x="6463145" y="1517072"/>
            <a:ext cx="5587279" cy="5245038"/>
          </a:xfrm>
          <a:prstGeom prst="rect">
            <a:avLst/>
          </a:prstGeom>
          <a:solidFill>
            <a:schemeClr val="tx2">
              <a:lumMod val="75000"/>
              <a:lumOff val="25000"/>
            </a:schemeClr>
          </a:solid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457200" indent="-457200" algn="just">
              <a:lnSpc>
                <a:spcPct val="150000"/>
              </a:lnSpc>
              <a:buFont typeface="Arial" panose="020B0604020202020204" pitchFamily="34" charset="0"/>
              <a:buChar char="•"/>
            </a:pPr>
            <a:r>
              <a:rPr lang="en-GB" sz="2500" dirty="0">
                <a:latin typeface="Times New Roman" panose="02020603050405020304" pitchFamily="18" charset="0"/>
                <a:cs typeface="Times New Roman" panose="02020603050405020304" pitchFamily="18" charset="0"/>
              </a:rPr>
              <a:t>Classification and </a:t>
            </a:r>
            <a:r>
              <a:rPr lang="en-GB" sz="2500" b="1" dirty="0">
                <a:latin typeface="Times New Roman" panose="02020603050405020304" pitchFamily="18" charset="0"/>
                <a:cs typeface="Times New Roman" panose="02020603050405020304" pitchFamily="18" charset="0"/>
              </a:rPr>
              <a:t>dimensionality reduction</a:t>
            </a:r>
            <a:r>
              <a:rPr lang="en-GB" sz="2500" dirty="0">
                <a:latin typeface="Times New Roman" panose="02020603050405020304" pitchFamily="18" charset="0"/>
                <a:cs typeface="Times New Roman" panose="02020603050405020304" pitchFamily="18" charset="0"/>
              </a:rPr>
              <a:t> technique</a:t>
            </a:r>
          </a:p>
          <a:p>
            <a:pPr marL="457200" indent="-457200" algn="just">
              <a:lnSpc>
                <a:spcPct val="150000"/>
              </a:lnSpc>
              <a:buFont typeface="Arial" panose="020B0604020202020204" pitchFamily="34" charset="0"/>
              <a:buChar char="•"/>
            </a:pPr>
            <a:r>
              <a:rPr lang="en-GB" sz="2500" dirty="0">
                <a:latin typeface="Times New Roman" panose="02020603050405020304" pitchFamily="18" charset="0"/>
                <a:cs typeface="Times New Roman" panose="02020603050405020304" pitchFamily="18" charset="0"/>
              </a:rPr>
              <a:t>Maximizes </a:t>
            </a:r>
            <a:r>
              <a:rPr lang="en-GB" sz="2500" b="1" dirty="0">
                <a:latin typeface="Times New Roman" panose="02020603050405020304" pitchFamily="18" charset="0"/>
                <a:cs typeface="Times New Roman" panose="02020603050405020304" pitchFamily="18" charset="0"/>
              </a:rPr>
              <a:t>class separation</a:t>
            </a:r>
            <a:r>
              <a:rPr lang="en-GB" sz="2500" dirty="0">
                <a:latin typeface="Times New Roman" panose="02020603050405020304" pitchFamily="18" charset="0"/>
                <a:cs typeface="Times New Roman" panose="02020603050405020304" pitchFamily="18" charset="0"/>
              </a:rPr>
              <a:t> and minimizes variance</a:t>
            </a:r>
          </a:p>
          <a:p>
            <a:pPr marL="457200" indent="-457200" algn="just">
              <a:lnSpc>
                <a:spcPct val="150000"/>
              </a:lnSpc>
              <a:buFont typeface="Arial" panose="020B0604020202020204" pitchFamily="34" charset="0"/>
              <a:buChar char="•"/>
            </a:pPr>
            <a:r>
              <a:rPr lang="en-GB" sz="2500" dirty="0">
                <a:latin typeface="Times New Roman" panose="02020603050405020304" pitchFamily="18" charset="0"/>
                <a:cs typeface="Times New Roman" panose="02020603050405020304" pitchFamily="18" charset="0"/>
              </a:rPr>
              <a:t>Assumes </a:t>
            </a:r>
            <a:r>
              <a:rPr lang="en-GB" sz="2500" b="1" dirty="0">
                <a:latin typeface="Times New Roman" panose="02020603050405020304" pitchFamily="18" charset="0"/>
                <a:cs typeface="Times New Roman" panose="02020603050405020304" pitchFamily="18" charset="0"/>
              </a:rPr>
              <a:t>normal distribution of data</a:t>
            </a:r>
            <a:endParaRPr lang="en-GB" sz="2500" dirty="0">
              <a:latin typeface="Times New Roman" panose="02020603050405020304" pitchFamily="18" charset="0"/>
              <a:cs typeface="Times New Roman" panose="02020603050405020304" pitchFamily="18" charset="0"/>
            </a:endParaRPr>
          </a:p>
          <a:p>
            <a:pPr marL="457200" indent="-457200" algn="just">
              <a:lnSpc>
                <a:spcPct val="150000"/>
              </a:lnSpc>
              <a:buFont typeface="Arial" panose="020B0604020202020204" pitchFamily="34" charset="0"/>
              <a:buChar char="•"/>
            </a:pPr>
            <a:r>
              <a:rPr lang="en-GB" sz="2500" dirty="0">
                <a:latin typeface="Times New Roman" panose="02020603050405020304" pitchFamily="18" charset="0"/>
                <a:cs typeface="Times New Roman" panose="02020603050405020304" pitchFamily="18" charset="0"/>
              </a:rPr>
              <a:t>Projects data into </a:t>
            </a:r>
            <a:r>
              <a:rPr lang="en-GB" sz="2500" b="1" dirty="0">
                <a:latin typeface="Times New Roman" panose="02020603050405020304" pitchFamily="18" charset="0"/>
                <a:cs typeface="Times New Roman" panose="02020603050405020304" pitchFamily="18" charset="0"/>
              </a:rPr>
              <a:t>lower-dimensional space</a:t>
            </a:r>
            <a:endParaRPr lang="en-GB" sz="2500" dirty="0">
              <a:latin typeface="Times New Roman" panose="02020603050405020304" pitchFamily="18" charset="0"/>
              <a:cs typeface="Times New Roman" panose="02020603050405020304" pitchFamily="18" charset="0"/>
            </a:endParaRPr>
          </a:p>
          <a:p>
            <a:pPr marL="457200" indent="-457200" algn="just">
              <a:lnSpc>
                <a:spcPct val="150000"/>
              </a:lnSpc>
              <a:buFont typeface="Arial" panose="020B0604020202020204" pitchFamily="34" charset="0"/>
              <a:buChar char="•"/>
            </a:pPr>
            <a:r>
              <a:rPr lang="en-GB" sz="2500" dirty="0">
                <a:latin typeface="Times New Roman" panose="02020603050405020304" pitchFamily="18" charset="0"/>
                <a:cs typeface="Times New Roman" panose="02020603050405020304" pitchFamily="18" charset="0"/>
              </a:rPr>
              <a:t>Works efficiently for </a:t>
            </a:r>
            <a:r>
              <a:rPr lang="en-GB" sz="2500" b="1" dirty="0">
                <a:latin typeface="Times New Roman" panose="02020603050405020304" pitchFamily="18" charset="0"/>
                <a:cs typeface="Times New Roman" panose="02020603050405020304" pitchFamily="18" charset="0"/>
              </a:rPr>
              <a:t>multiclass problems</a:t>
            </a:r>
            <a:endParaRPr lang="en-GB" sz="25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112138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500"/>
                                        <p:tgtEl>
                                          <p:spTgt spid="1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500"/>
                                        <p:tgtEl>
                                          <p:spTgt spid="7"/>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8"/>
                                        </p:tgtEl>
                                        <p:attrNameLst>
                                          <p:attrName>style.visibility</p:attrName>
                                        </p:attrNameLst>
                                      </p:cBhvr>
                                      <p:to>
                                        <p:strVal val="visible"/>
                                      </p:to>
                                    </p:set>
                                    <p:animEffect transition="in" filter="fade">
                                      <p:cBhvr>
                                        <p:cTn id="18"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P spid="17" grpId="0" animBg="1"/>
      <p:bldP spid="18"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90AD813-00D7-0C78-5FF9-AA00973DCABB}"/>
              </a:ext>
            </a:extLst>
          </p:cNvPr>
          <p:cNvSpPr txBox="1"/>
          <p:nvPr/>
        </p:nvSpPr>
        <p:spPr>
          <a:xfrm>
            <a:off x="226435" y="1105901"/>
            <a:ext cx="11739129" cy="3246530"/>
          </a:xfrm>
          <a:prstGeom prst="rect">
            <a:avLst/>
          </a:prstGeom>
          <a:noFill/>
        </p:spPr>
        <p:txBody>
          <a:bodyPr wrap="square">
            <a:spAutoFit/>
          </a:bodyPr>
          <a:lstStyle/>
          <a:p>
            <a:pPr marL="457200" indent="-457200" algn="just">
              <a:lnSpc>
                <a:spcPct val="150000"/>
              </a:lnSpc>
              <a:buFont typeface="Arial" panose="020B0604020202020204" pitchFamily="34" charset="0"/>
              <a:buChar char="•"/>
            </a:pPr>
            <a:r>
              <a:rPr lang="en-GB" sz="2800" dirty="0">
                <a:latin typeface="Times New Roman" panose="02020603050405020304" pitchFamily="18" charset="0"/>
                <a:cs typeface="Times New Roman" panose="02020603050405020304" pitchFamily="18" charset="0"/>
              </a:rPr>
              <a:t>Logistic Regression provides </a:t>
            </a:r>
            <a:r>
              <a:rPr lang="en-GB" sz="2800" b="1" dirty="0">
                <a:latin typeface="Times New Roman" panose="02020603050405020304" pitchFamily="18" charset="0"/>
                <a:cs typeface="Times New Roman" panose="02020603050405020304" pitchFamily="18" charset="0"/>
              </a:rPr>
              <a:t>high accuracy and probability-based predictions</a:t>
            </a:r>
          </a:p>
          <a:p>
            <a:pPr marL="457200" indent="-457200" algn="just">
              <a:lnSpc>
                <a:spcPct val="150000"/>
              </a:lnSpc>
              <a:buFont typeface="Arial" panose="020B0604020202020204" pitchFamily="34" charset="0"/>
              <a:buChar char="•"/>
            </a:pPr>
            <a:r>
              <a:rPr lang="en-GB" sz="2800" dirty="0">
                <a:latin typeface="Times New Roman" panose="02020603050405020304" pitchFamily="18" charset="0"/>
                <a:cs typeface="Times New Roman" panose="02020603050405020304" pitchFamily="18" charset="0"/>
              </a:rPr>
              <a:t>LDA offers </a:t>
            </a:r>
            <a:r>
              <a:rPr lang="en-GB" sz="2800" b="1" dirty="0">
                <a:latin typeface="Times New Roman" panose="02020603050405020304" pitchFamily="18" charset="0"/>
                <a:cs typeface="Times New Roman" panose="02020603050405020304" pitchFamily="18" charset="0"/>
              </a:rPr>
              <a:t>fast computation and stable performance</a:t>
            </a:r>
          </a:p>
          <a:p>
            <a:pPr marL="457200" indent="-457200" algn="just">
              <a:lnSpc>
                <a:spcPct val="150000"/>
              </a:lnSpc>
              <a:buFont typeface="Arial" panose="020B0604020202020204" pitchFamily="34" charset="0"/>
              <a:buChar char="•"/>
            </a:pPr>
            <a:r>
              <a:rPr lang="en-GB" sz="2800" dirty="0">
                <a:latin typeface="Times New Roman" panose="02020603050405020304" pitchFamily="18" charset="0"/>
                <a:cs typeface="Times New Roman" panose="02020603050405020304" pitchFamily="18" charset="0"/>
              </a:rPr>
              <a:t>Both models allow </a:t>
            </a:r>
            <a:r>
              <a:rPr lang="en-GB" sz="2800" b="1" dirty="0">
                <a:latin typeface="Times New Roman" panose="02020603050405020304" pitchFamily="18" charset="0"/>
                <a:cs typeface="Times New Roman" panose="02020603050405020304" pitchFamily="18" charset="0"/>
              </a:rPr>
              <a:t>easy comparison of performance metrics</a:t>
            </a:r>
          </a:p>
          <a:p>
            <a:pPr marL="457200" indent="-457200" algn="just">
              <a:lnSpc>
                <a:spcPct val="150000"/>
              </a:lnSpc>
              <a:buFont typeface="Arial" panose="020B0604020202020204" pitchFamily="34" charset="0"/>
              <a:buChar char="•"/>
            </a:pPr>
            <a:r>
              <a:rPr lang="en-GB" sz="2800" dirty="0">
                <a:latin typeface="Times New Roman" panose="02020603050405020304" pitchFamily="18" charset="0"/>
                <a:cs typeface="Times New Roman" panose="02020603050405020304" pitchFamily="18" charset="0"/>
              </a:rPr>
              <a:t>Help identify </a:t>
            </a:r>
            <a:r>
              <a:rPr lang="en-GB" sz="2800" b="1" dirty="0">
                <a:latin typeface="Times New Roman" panose="02020603050405020304" pitchFamily="18" charset="0"/>
                <a:cs typeface="Times New Roman" panose="02020603050405020304" pitchFamily="18" charset="0"/>
              </a:rPr>
              <a:t>important features influencing student dropout</a:t>
            </a:r>
            <a:endParaRPr lang="en-GB" sz="2800"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EE00E61E-E4B2-4544-E44D-29EB3F696C96}"/>
              </a:ext>
            </a:extLst>
          </p:cNvPr>
          <p:cNvSpPr txBox="1"/>
          <p:nvPr/>
        </p:nvSpPr>
        <p:spPr>
          <a:xfrm>
            <a:off x="251980" y="259774"/>
            <a:ext cx="11105284" cy="707886"/>
          </a:xfrm>
          <a:prstGeom prst="rect">
            <a:avLst/>
          </a:prstGeom>
          <a:noFill/>
        </p:spPr>
        <p:txBody>
          <a:bodyPr wrap="square">
            <a:spAutoFit/>
          </a:bodyPr>
          <a:lstStyle/>
          <a:p>
            <a:pPr marL="571500" indent="-571500">
              <a:buFont typeface="Wingdings" panose="05000000000000000000" pitchFamily="2" charset="2"/>
              <a:buChar char="v"/>
            </a:pPr>
            <a:r>
              <a:rPr lang="en-GB" sz="4000" b="1" dirty="0">
                <a:latin typeface="Verdana" panose="020B0604030504040204" pitchFamily="34" charset="0"/>
                <a:ea typeface="Verdana" panose="020B0604030504040204" pitchFamily="34" charset="0"/>
                <a:cs typeface="Times New Roman" panose="02020603050405020304" pitchFamily="18" charset="0"/>
              </a:rPr>
              <a:t>Why Logistic Regression &amp; LDA?</a:t>
            </a:r>
          </a:p>
        </p:txBody>
      </p:sp>
      <p:sp>
        <p:nvSpPr>
          <p:cNvPr id="8" name="Rectangle 7">
            <a:extLst>
              <a:ext uri="{FF2B5EF4-FFF2-40B4-BE49-F238E27FC236}">
                <a16:creationId xmlns:a16="http://schemas.microsoft.com/office/drawing/2014/main" id="{AE583A6E-F19E-717F-3B81-AA6EACB662F3}"/>
              </a:ext>
            </a:extLst>
          </p:cNvPr>
          <p:cNvSpPr/>
          <p:nvPr/>
        </p:nvSpPr>
        <p:spPr>
          <a:xfrm>
            <a:off x="251980" y="4571999"/>
            <a:ext cx="11739129" cy="2026227"/>
          </a:xfrm>
          <a:prstGeom prst="rect">
            <a:avLst/>
          </a:prstGeom>
          <a:solidFill>
            <a:schemeClr val="tx2">
              <a:lumMod val="25000"/>
              <a:lumOff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lnSpc>
                <a:spcPct val="150000"/>
              </a:lnSpc>
            </a:pPr>
            <a:r>
              <a:rPr lang="en-GB" sz="2800" dirty="0">
                <a:solidFill>
                  <a:schemeClr val="tx1"/>
                </a:solidFill>
                <a:latin typeface="Times New Roman" panose="02020603050405020304" pitchFamily="18" charset="0"/>
                <a:cs typeface="Times New Roman" panose="02020603050405020304" pitchFamily="18" charset="0"/>
              </a:rPr>
              <a:t>These models were selected because they provide an </a:t>
            </a:r>
            <a:r>
              <a:rPr lang="en-GB" sz="2800" b="1" dirty="0">
                <a:solidFill>
                  <a:schemeClr val="tx1"/>
                </a:solidFill>
                <a:latin typeface="Times New Roman" panose="02020603050405020304" pitchFamily="18" charset="0"/>
                <a:cs typeface="Times New Roman" panose="02020603050405020304" pitchFamily="18" charset="0"/>
              </a:rPr>
              <a:t>optimal balance</a:t>
            </a:r>
            <a:r>
              <a:rPr lang="en-GB" sz="2800" dirty="0">
                <a:solidFill>
                  <a:schemeClr val="tx1"/>
                </a:solidFill>
                <a:latin typeface="Times New Roman" panose="02020603050405020304" pitchFamily="18" charset="0"/>
                <a:cs typeface="Times New Roman" panose="02020603050405020304" pitchFamily="18" charset="0"/>
              </a:rPr>
              <a:t> between </a:t>
            </a:r>
            <a:r>
              <a:rPr lang="en-GB" sz="2800" b="1" dirty="0">
                <a:solidFill>
                  <a:schemeClr val="tx1"/>
                </a:solidFill>
                <a:latin typeface="Times New Roman" panose="02020603050405020304" pitchFamily="18" charset="0"/>
                <a:cs typeface="Times New Roman" panose="02020603050405020304" pitchFamily="18" charset="0"/>
              </a:rPr>
              <a:t>accuracy, interpretability, and computational efficiency,</a:t>
            </a:r>
            <a:r>
              <a:rPr lang="en-GB" sz="2800" dirty="0">
                <a:solidFill>
                  <a:schemeClr val="tx1"/>
                </a:solidFill>
                <a:latin typeface="Times New Roman" panose="02020603050405020304" pitchFamily="18" charset="0"/>
                <a:cs typeface="Times New Roman" panose="02020603050405020304" pitchFamily="18" charset="0"/>
              </a:rPr>
              <a:t> making them ideal for educational data analysis and multiclass prediction.</a:t>
            </a:r>
          </a:p>
        </p:txBody>
      </p:sp>
    </p:spTree>
    <p:extLst>
      <p:ext uri="{BB962C8B-B14F-4D97-AF65-F5344CB8AC3E}">
        <p14:creationId xmlns:p14="http://schemas.microsoft.com/office/powerpoint/2010/main" val="16123390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500"/>
                                        <p:tgtEl>
                                          <p:spTgt spid="3">
                                            <p:txEl>
                                              <p:pRg st="0" end="0"/>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Effect transition="in" filter="fade">
                                      <p:cBhvr>
                                        <p:cTn id="13" dur="500"/>
                                        <p:tgtEl>
                                          <p:spTgt spid="3">
                                            <p:txEl>
                                              <p:pRg st="1" end="1"/>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3">
                                            <p:txEl>
                                              <p:pRg st="2" end="2"/>
                                            </p:txEl>
                                          </p:spTgt>
                                        </p:tgtEl>
                                        <p:attrNameLst>
                                          <p:attrName>style.visibility</p:attrName>
                                        </p:attrNameLst>
                                      </p:cBhvr>
                                      <p:to>
                                        <p:strVal val="visible"/>
                                      </p:to>
                                    </p:set>
                                    <p:animEffect transition="in" filter="fade">
                                      <p:cBhvr>
                                        <p:cTn id="16" dur="500"/>
                                        <p:tgtEl>
                                          <p:spTgt spid="3">
                                            <p:txEl>
                                              <p:pRg st="2" end="2"/>
                                            </p:txEl>
                                          </p:spTgt>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Effect transition="in" filter="fade">
                                      <p:cBhvr>
                                        <p:cTn id="19" dur="500"/>
                                        <p:tgtEl>
                                          <p:spTgt spid="3">
                                            <p:txEl>
                                              <p:pRg st="3" end="3"/>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6" presetClass="entr" presetSubtype="21" fill="hold" grpId="0" nodeType="clickEffect">
                                  <p:stCondLst>
                                    <p:cond delay="0"/>
                                  </p:stCondLst>
                                  <p:childTnLst>
                                    <p:set>
                                      <p:cBhvr>
                                        <p:cTn id="23" dur="1" fill="hold">
                                          <p:stCondLst>
                                            <p:cond delay="0"/>
                                          </p:stCondLst>
                                        </p:cTn>
                                        <p:tgtEl>
                                          <p:spTgt spid="8"/>
                                        </p:tgtEl>
                                        <p:attrNameLst>
                                          <p:attrName>style.visibility</p:attrName>
                                        </p:attrNameLst>
                                      </p:cBhvr>
                                      <p:to>
                                        <p:strVal val="visible"/>
                                      </p:to>
                                    </p:set>
                                    <p:animEffect transition="in" filter="barn(inVertical)">
                                      <p:cBhvr>
                                        <p:cTn id="24"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allAtOnce"/>
      <p:bldP spid="8"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A44CD04-8929-A03B-BD39-D1281BB9B942}"/>
              </a:ext>
            </a:extLst>
          </p:cNvPr>
          <p:cNvSpPr txBox="1"/>
          <p:nvPr/>
        </p:nvSpPr>
        <p:spPr>
          <a:xfrm>
            <a:off x="251978" y="324488"/>
            <a:ext cx="6094268" cy="707886"/>
          </a:xfrm>
          <a:prstGeom prst="rect">
            <a:avLst/>
          </a:prstGeom>
          <a:noFill/>
        </p:spPr>
        <p:txBody>
          <a:bodyPr wrap="square">
            <a:spAutoFit/>
          </a:bodyPr>
          <a:lstStyle/>
          <a:p>
            <a:pPr marL="571500" indent="-571500">
              <a:buFont typeface="Wingdings" panose="05000000000000000000" pitchFamily="2" charset="2"/>
              <a:buChar char="v"/>
            </a:pPr>
            <a:r>
              <a:rPr lang="en-GB" sz="4000" b="1" dirty="0">
                <a:latin typeface="Verdana" panose="020B0604030504040204" pitchFamily="34" charset="0"/>
                <a:ea typeface="Verdana" panose="020B0604030504040204" pitchFamily="34" charset="0"/>
              </a:rPr>
              <a:t>Literature review</a:t>
            </a:r>
            <a:endParaRPr lang="en-GB" sz="4000" dirty="0"/>
          </a:p>
        </p:txBody>
      </p:sp>
      <p:sp>
        <p:nvSpPr>
          <p:cNvPr id="5" name="TextBox 4">
            <a:extLst>
              <a:ext uri="{FF2B5EF4-FFF2-40B4-BE49-F238E27FC236}">
                <a16:creationId xmlns:a16="http://schemas.microsoft.com/office/drawing/2014/main" id="{90ED9866-DD28-1169-77D8-1164761312BC}"/>
              </a:ext>
            </a:extLst>
          </p:cNvPr>
          <p:cNvSpPr txBox="1"/>
          <p:nvPr/>
        </p:nvSpPr>
        <p:spPr>
          <a:xfrm>
            <a:off x="470188" y="1415811"/>
            <a:ext cx="11074112" cy="3892861"/>
          </a:xfrm>
          <a:prstGeom prst="rect">
            <a:avLst/>
          </a:prstGeom>
          <a:noFill/>
        </p:spPr>
        <p:txBody>
          <a:bodyPr wrap="square">
            <a:spAutoFit/>
          </a:bodyPr>
          <a:lstStyle/>
          <a:p>
            <a:pPr marL="514350" indent="-514350" algn="just">
              <a:lnSpc>
                <a:spcPct val="150000"/>
              </a:lnSpc>
              <a:buFont typeface="+mj-lt"/>
              <a:buAutoNum type="arabicPeriod"/>
            </a:pPr>
            <a:r>
              <a:rPr lang="en-GB" sz="2800" b="1" dirty="0" err="1">
                <a:latin typeface="Times New Roman" panose="02020603050405020304" pitchFamily="18" charset="0"/>
                <a:cs typeface="Times New Roman" panose="02020603050405020304" pitchFamily="18" charset="0"/>
              </a:rPr>
              <a:t>Ujkani</a:t>
            </a:r>
            <a:r>
              <a:rPr lang="en-GB" sz="2800" b="1" dirty="0">
                <a:latin typeface="Times New Roman" panose="02020603050405020304" pitchFamily="18" charset="0"/>
                <a:cs typeface="Times New Roman" panose="02020603050405020304" pitchFamily="18" charset="0"/>
              </a:rPr>
              <a:t>, B., et al. (2022)</a:t>
            </a:r>
            <a:r>
              <a:rPr lang="en-GB" sz="2800" dirty="0">
                <a:latin typeface="Times New Roman" panose="02020603050405020304" pitchFamily="18" charset="0"/>
                <a:cs typeface="Times New Roman" panose="02020603050405020304" pitchFamily="18" charset="0"/>
              </a:rPr>
              <a:t> developed a student dropout prediction model using Logistic Regression on university data. Their study achieved around </a:t>
            </a:r>
            <a:r>
              <a:rPr lang="en-GB" sz="2800" b="1" dirty="0">
                <a:latin typeface="Times New Roman" panose="02020603050405020304" pitchFamily="18" charset="0"/>
                <a:cs typeface="Times New Roman" panose="02020603050405020304" pitchFamily="18" charset="0"/>
              </a:rPr>
              <a:t>90% accuracy and F1-score of 0.85</a:t>
            </a:r>
            <a:r>
              <a:rPr lang="en-GB" sz="2800" dirty="0">
                <a:latin typeface="Times New Roman" panose="02020603050405020304" pitchFamily="18" charset="0"/>
                <a:cs typeface="Times New Roman" panose="02020603050405020304" pitchFamily="18" charset="0"/>
              </a:rPr>
              <a:t>, showing that Logistic Regression is effective for identifying at-risk students using demographic and academic features. The results highlighted the importance of early prediction systems in higher education. </a:t>
            </a:r>
          </a:p>
        </p:txBody>
      </p:sp>
    </p:spTree>
    <p:extLst>
      <p:ext uri="{BB962C8B-B14F-4D97-AF65-F5344CB8AC3E}">
        <p14:creationId xmlns:p14="http://schemas.microsoft.com/office/powerpoint/2010/main" val="22251319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5955830-AD8B-2EC5-A9C0-12DB234BEC26}"/>
              </a:ext>
            </a:extLst>
          </p:cNvPr>
          <p:cNvSpPr txBox="1"/>
          <p:nvPr/>
        </p:nvSpPr>
        <p:spPr>
          <a:xfrm>
            <a:off x="609600" y="1287702"/>
            <a:ext cx="10972799" cy="3892861"/>
          </a:xfrm>
          <a:prstGeom prst="rect">
            <a:avLst/>
          </a:prstGeom>
          <a:noFill/>
        </p:spPr>
        <p:txBody>
          <a:bodyPr wrap="square">
            <a:spAutoFit/>
          </a:bodyPr>
          <a:lstStyle/>
          <a:p>
            <a:pPr marL="514350" indent="-514350" algn="just">
              <a:lnSpc>
                <a:spcPct val="150000"/>
              </a:lnSpc>
              <a:buFont typeface="+mj-lt"/>
              <a:buAutoNum type="arabicPeriod" startAt="2"/>
            </a:pPr>
            <a:r>
              <a:rPr lang="en-GB" sz="2800" b="1" dirty="0">
                <a:latin typeface="Times New Roman" panose="02020603050405020304" pitchFamily="18" charset="0"/>
                <a:cs typeface="Times New Roman" panose="02020603050405020304" pitchFamily="18" charset="0"/>
              </a:rPr>
              <a:t>Hasan, R., et al. (2021)</a:t>
            </a:r>
            <a:r>
              <a:rPr lang="en-GB" sz="2800" dirty="0">
                <a:latin typeface="Times New Roman" panose="02020603050405020304" pitchFamily="18" charset="0"/>
                <a:cs typeface="Times New Roman" panose="02020603050405020304" pitchFamily="18" charset="0"/>
              </a:rPr>
              <a:t> applied machine learning techniques including Logistic Regression, Decision Trees, and Random Forest for student dropout prediction. Their results showed that Logistic Regression provides stable performance with good interpretability, while ensemble methods slightly improve accuracy. The study emphasized the importance of academic and </a:t>
            </a:r>
            <a:r>
              <a:rPr lang="en-GB" sz="2800" dirty="0" err="1">
                <a:latin typeface="Times New Roman" panose="02020603050405020304" pitchFamily="18" charset="0"/>
                <a:cs typeface="Times New Roman" panose="02020603050405020304" pitchFamily="18" charset="0"/>
              </a:rPr>
              <a:t>behavioral</a:t>
            </a:r>
            <a:r>
              <a:rPr lang="en-GB" sz="2800" dirty="0">
                <a:latin typeface="Times New Roman" panose="02020603050405020304" pitchFamily="18" charset="0"/>
                <a:cs typeface="Times New Roman" panose="02020603050405020304" pitchFamily="18" charset="0"/>
              </a:rPr>
              <a:t> features in predicting dropout.</a:t>
            </a:r>
          </a:p>
        </p:txBody>
      </p:sp>
    </p:spTree>
    <p:extLst>
      <p:ext uri="{BB962C8B-B14F-4D97-AF65-F5344CB8AC3E}">
        <p14:creationId xmlns:p14="http://schemas.microsoft.com/office/powerpoint/2010/main" val="29341728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EC827A4-8F84-7B3B-F342-D66C5034C67F}"/>
              </a:ext>
            </a:extLst>
          </p:cNvPr>
          <p:cNvSpPr txBox="1"/>
          <p:nvPr/>
        </p:nvSpPr>
        <p:spPr>
          <a:xfrm>
            <a:off x="616093" y="1159404"/>
            <a:ext cx="10959813" cy="4539191"/>
          </a:xfrm>
          <a:prstGeom prst="rect">
            <a:avLst/>
          </a:prstGeom>
          <a:noFill/>
        </p:spPr>
        <p:txBody>
          <a:bodyPr wrap="square">
            <a:spAutoFit/>
          </a:bodyPr>
          <a:lstStyle/>
          <a:p>
            <a:pPr marL="514350" indent="-514350" algn="just">
              <a:lnSpc>
                <a:spcPct val="150000"/>
              </a:lnSpc>
              <a:buFont typeface="+mj-lt"/>
              <a:buAutoNum type="arabicPeriod" startAt="3"/>
            </a:pPr>
            <a:r>
              <a:rPr lang="en-GB" sz="2800" b="1" dirty="0">
                <a:latin typeface="Times New Roman" panose="02020603050405020304" pitchFamily="18" charset="0"/>
                <a:cs typeface="Times New Roman" panose="02020603050405020304" pitchFamily="18" charset="0"/>
              </a:rPr>
              <a:t>Maldonado, S., et al. (2020)</a:t>
            </a:r>
            <a:r>
              <a:rPr lang="en-GB" sz="2800" dirty="0">
                <a:latin typeface="Times New Roman" panose="02020603050405020304" pitchFamily="18" charset="0"/>
                <a:cs typeface="Times New Roman" panose="02020603050405020304" pitchFamily="18" charset="0"/>
              </a:rPr>
              <a:t> proposed predictive models for student retention using Linear Discriminant Analysis (LDA) and other classification techniques. Their findings showed that LDA performs efficiently in multiclass classification problems when data follows normal distribution assumptions. The study also highlighted that LDA provides faster computation compared to other machine learning models.</a:t>
            </a:r>
          </a:p>
        </p:txBody>
      </p:sp>
    </p:spTree>
    <p:extLst>
      <p:ext uri="{BB962C8B-B14F-4D97-AF65-F5344CB8AC3E}">
        <p14:creationId xmlns:p14="http://schemas.microsoft.com/office/powerpoint/2010/main" val="31817533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8" name="Rectangle 27">
            <a:extLst>
              <a:ext uri="{FF2B5EF4-FFF2-40B4-BE49-F238E27FC236}">
                <a16:creationId xmlns:a16="http://schemas.microsoft.com/office/drawing/2014/main" id="{6C4028FD-8BAA-4A19-BFDE-594D991B75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BA7D55AD-9A20-8FC8-F7DD-AC54147F27F2}"/>
              </a:ext>
            </a:extLst>
          </p:cNvPr>
          <p:cNvSpPr txBox="1"/>
          <p:nvPr/>
        </p:nvSpPr>
        <p:spPr>
          <a:xfrm>
            <a:off x="838200" y="259773"/>
            <a:ext cx="10515600" cy="1133693"/>
          </a:xfrm>
          <a:prstGeom prst="rect">
            <a:avLst/>
          </a:prstGeom>
        </p:spPr>
        <p:txBody>
          <a:bodyPr vert="horz" lIns="91440" tIns="45720" rIns="91440" bIns="45720" rtlCol="0" anchor="ctr">
            <a:normAutofit/>
          </a:bodyPr>
          <a:lstStyle/>
          <a:p>
            <a:pPr marL="685800" indent="-685800">
              <a:lnSpc>
                <a:spcPct val="90000"/>
              </a:lnSpc>
              <a:spcBef>
                <a:spcPct val="0"/>
              </a:spcBef>
              <a:spcAft>
                <a:spcPts val="600"/>
              </a:spcAft>
              <a:buFont typeface="Wingdings" panose="05000000000000000000" pitchFamily="2" charset="2"/>
              <a:buChar char="v"/>
            </a:pPr>
            <a:r>
              <a:rPr lang="en-US" sz="4800" b="1" kern="1200" dirty="0">
                <a:solidFill>
                  <a:schemeClr val="tx1"/>
                </a:solidFill>
                <a:latin typeface="Verdana" panose="020B0604030504040204" pitchFamily="34" charset="0"/>
                <a:ea typeface="Verdana" panose="020B0604030504040204" pitchFamily="34" charset="0"/>
                <a:cs typeface="+mj-cs"/>
              </a:rPr>
              <a:t>Challenges</a:t>
            </a:r>
            <a:endParaRPr lang="en-US" sz="4800" kern="1200" dirty="0">
              <a:solidFill>
                <a:schemeClr val="tx1"/>
              </a:solidFill>
              <a:latin typeface="Verdana" panose="020B0604030504040204" pitchFamily="34" charset="0"/>
              <a:ea typeface="Verdana" panose="020B0604030504040204" pitchFamily="34" charset="0"/>
              <a:cs typeface="+mj-cs"/>
            </a:endParaRPr>
          </a:p>
        </p:txBody>
      </p:sp>
      <p:graphicFrame>
        <p:nvGraphicFramePr>
          <p:cNvPr id="7" name="TextBox 2">
            <a:extLst>
              <a:ext uri="{FF2B5EF4-FFF2-40B4-BE49-F238E27FC236}">
                <a16:creationId xmlns:a16="http://schemas.microsoft.com/office/drawing/2014/main" id="{2B949364-296B-9B05-8C20-352F129CB122}"/>
              </a:ext>
            </a:extLst>
          </p:cNvPr>
          <p:cNvGraphicFramePr/>
          <p:nvPr>
            <p:extLst>
              <p:ext uri="{D42A27DB-BD31-4B8C-83A1-F6EECF244321}">
                <p14:modId xmlns:p14="http://schemas.microsoft.com/office/powerpoint/2010/main" val="427109660"/>
              </p:ext>
            </p:extLst>
          </p:nvPr>
        </p:nvGraphicFramePr>
        <p:xfrm>
          <a:off x="838200" y="1579418"/>
          <a:ext cx="10515600" cy="501880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6266413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7" grpId="0">
        <p:bldAsOne/>
      </p:bldGraphic>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AF06181-8A7A-88C4-8C51-26034F8CFF1B}"/>
              </a:ext>
            </a:extLst>
          </p:cNvPr>
          <p:cNvSpPr txBox="1"/>
          <p:nvPr/>
        </p:nvSpPr>
        <p:spPr>
          <a:xfrm>
            <a:off x="293542" y="210188"/>
            <a:ext cx="8486775" cy="1323439"/>
          </a:xfrm>
          <a:prstGeom prst="rect">
            <a:avLst/>
          </a:prstGeom>
          <a:noFill/>
        </p:spPr>
        <p:txBody>
          <a:bodyPr wrap="square">
            <a:spAutoFit/>
          </a:bodyPr>
          <a:lstStyle/>
          <a:p>
            <a:pPr marL="285750" indent="-285750">
              <a:buFont typeface="Wingdings" panose="05000000000000000000" pitchFamily="2" charset="2"/>
              <a:buChar char="v"/>
            </a:pPr>
            <a:r>
              <a:rPr lang="en-GB" sz="4000" b="1" dirty="0">
                <a:latin typeface="Verdana" panose="020B0604030504040204" pitchFamily="34" charset="0"/>
                <a:ea typeface="Verdana" panose="020B0604030504040204" pitchFamily="34" charset="0"/>
                <a:cs typeface="Times New Roman" panose="02020603050405020304" pitchFamily="18" charset="0"/>
              </a:rPr>
              <a:t> Dataset + Preprocessing</a:t>
            </a:r>
            <a:endParaRPr lang="en-GB" sz="12500" dirty="0">
              <a:latin typeface="Verdana" panose="020B0604030504040204" pitchFamily="34" charset="0"/>
              <a:ea typeface="Verdana" panose="020B0604030504040204" pitchFamily="34" charset="0"/>
              <a:cs typeface="Times New Roman" panose="02020603050405020304" pitchFamily="18" charset="0"/>
            </a:endParaRPr>
          </a:p>
          <a:p>
            <a:r>
              <a:rPr lang="en-GB" sz="4000" b="1" dirty="0">
                <a:latin typeface="Verdana" panose="020B0604030504040204" pitchFamily="34" charset="0"/>
                <a:ea typeface="Verdana" panose="020B0604030504040204" pitchFamily="34" charset="0"/>
                <a:cs typeface="Times New Roman" panose="02020603050405020304" pitchFamily="18" charset="0"/>
              </a:rPr>
              <a:t> </a:t>
            </a:r>
          </a:p>
        </p:txBody>
      </p:sp>
      <p:sp>
        <p:nvSpPr>
          <p:cNvPr id="5" name="TextBox 4">
            <a:extLst>
              <a:ext uri="{FF2B5EF4-FFF2-40B4-BE49-F238E27FC236}">
                <a16:creationId xmlns:a16="http://schemas.microsoft.com/office/drawing/2014/main" id="{E3D58340-FB56-47CC-DEC6-6E31181E9EA4}"/>
              </a:ext>
            </a:extLst>
          </p:cNvPr>
          <p:cNvSpPr txBox="1"/>
          <p:nvPr/>
        </p:nvSpPr>
        <p:spPr>
          <a:xfrm>
            <a:off x="506990" y="1026147"/>
            <a:ext cx="11178020" cy="5831853"/>
          </a:xfrm>
          <a:prstGeom prst="rect">
            <a:avLst/>
          </a:prstGeom>
          <a:noFill/>
        </p:spPr>
        <p:txBody>
          <a:bodyPr wrap="square">
            <a:spAutoFit/>
          </a:bodyPr>
          <a:lstStyle/>
          <a:p>
            <a:pPr algn="just">
              <a:lnSpc>
                <a:spcPct val="150000"/>
              </a:lnSpc>
              <a:buNone/>
            </a:pPr>
            <a:r>
              <a:rPr lang="en-GB" sz="2800" b="1" dirty="0">
                <a:latin typeface="Times New Roman" panose="02020603050405020304" pitchFamily="18" charset="0"/>
                <a:cs typeface="Times New Roman" panose="02020603050405020304" pitchFamily="18" charset="0"/>
              </a:rPr>
              <a:t>UCI Student Dropout Dataset</a:t>
            </a:r>
            <a:endParaRPr lang="en-GB" sz="2800" dirty="0">
              <a:latin typeface="Times New Roman" panose="02020603050405020304" pitchFamily="18" charset="0"/>
              <a:cs typeface="Times New Roman" panose="02020603050405020304" pitchFamily="18" charset="0"/>
            </a:endParaRPr>
          </a:p>
          <a:p>
            <a:pPr marL="571500" indent="-571500" algn="just">
              <a:lnSpc>
                <a:spcPct val="150000"/>
              </a:lnSpc>
              <a:buFont typeface="Arial" panose="020B0604020202020204" pitchFamily="34" charset="0"/>
              <a:buChar char="•"/>
            </a:pPr>
            <a:r>
              <a:rPr lang="en-GB" sz="2800" dirty="0">
                <a:latin typeface="Times New Roman" panose="02020603050405020304" pitchFamily="18" charset="0"/>
                <a:cs typeface="Times New Roman" panose="02020603050405020304" pitchFamily="18" charset="0"/>
              </a:rPr>
              <a:t> Real-world student academic and demographic data</a:t>
            </a:r>
          </a:p>
          <a:p>
            <a:pPr marL="571500" indent="-571500" algn="just">
              <a:lnSpc>
                <a:spcPct val="150000"/>
              </a:lnSpc>
              <a:buFont typeface="Arial" panose="020B0604020202020204" pitchFamily="34" charset="0"/>
              <a:buChar char="•"/>
            </a:pPr>
            <a:r>
              <a:rPr lang="en-GB" sz="2800" dirty="0">
                <a:latin typeface="Times New Roman" panose="02020603050405020304" pitchFamily="18" charset="0"/>
                <a:cs typeface="Times New Roman" panose="02020603050405020304" pitchFamily="18" charset="0"/>
              </a:rPr>
              <a:t>Multiclass target variable: </a:t>
            </a:r>
            <a:r>
              <a:rPr lang="en-GB" sz="2800" b="1" dirty="0">
                <a:latin typeface="Times New Roman" panose="02020603050405020304" pitchFamily="18" charset="0"/>
                <a:cs typeface="Times New Roman" panose="02020603050405020304" pitchFamily="18" charset="0"/>
              </a:rPr>
              <a:t>Dropout , Graduate , Enrolled</a:t>
            </a:r>
          </a:p>
          <a:p>
            <a:pPr algn="just">
              <a:lnSpc>
                <a:spcPct val="150000"/>
              </a:lnSpc>
            </a:pPr>
            <a:r>
              <a:rPr lang="en-GB" sz="2800" dirty="0">
                <a:latin typeface="Times New Roman" panose="02020603050405020304" pitchFamily="18" charset="0"/>
                <a:cs typeface="Times New Roman" panose="02020603050405020304" pitchFamily="18" charset="0"/>
              </a:rPr>
              <a:t>Suitable for educational analytics and prediction tasks.</a:t>
            </a:r>
          </a:p>
          <a:p>
            <a:pPr algn="just">
              <a:lnSpc>
                <a:spcPct val="150000"/>
              </a:lnSpc>
              <a:buNone/>
            </a:pPr>
            <a:r>
              <a:rPr lang="en-GB" sz="2800" b="1" dirty="0">
                <a:latin typeface="Times New Roman" panose="02020603050405020304" pitchFamily="18" charset="0"/>
                <a:cs typeface="Times New Roman" panose="02020603050405020304" pitchFamily="18" charset="0"/>
              </a:rPr>
              <a:t>Preprocessing Steps:</a:t>
            </a:r>
            <a:endParaRPr lang="en-GB" sz="2800" dirty="0">
              <a:latin typeface="Times New Roman" panose="02020603050405020304" pitchFamily="18" charset="0"/>
              <a:cs typeface="Times New Roman" panose="02020603050405020304" pitchFamily="18" charset="0"/>
            </a:endParaRPr>
          </a:p>
          <a:p>
            <a:pPr marL="457200" indent="-457200" algn="just">
              <a:lnSpc>
                <a:spcPct val="150000"/>
              </a:lnSpc>
              <a:buFont typeface="Arial" panose="020B0604020202020204" pitchFamily="34" charset="0"/>
              <a:buChar char="•"/>
            </a:pPr>
            <a:r>
              <a:rPr lang="en-GB" sz="2800" dirty="0">
                <a:latin typeface="Times New Roman" panose="02020603050405020304" pitchFamily="18" charset="0"/>
                <a:cs typeface="Times New Roman" panose="02020603050405020304" pitchFamily="18" charset="0"/>
              </a:rPr>
              <a:t>Missing values handled using median imputation</a:t>
            </a:r>
          </a:p>
          <a:p>
            <a:pPr marL="457200" indent="-457200" algn="just">
              <a:lnSpc>
                <a:spcPct val="150000"/>
              </a:lnSpc>
              <a:buFont typeface="Arial" panose="020B0604020202020204" pitchFamily="34" charset="0"/>
              <a:buChar char="•"/>
            </a:pPr>
            <a:r>
              <a:rPr lang="en-GB" sz="2800" dirty="0">
                <a:latin typeface="Times New Roman" panose="02020603050405020304" pitchFamily="18" charset="0"/>
                <a:cs typeface="Times New Roman" panose="02020603050405020304" pitchFamily="18" charset="0"/>
              </a:rPr>
              <a:t>Feature scaling using </a:t>
            </a:r>
            <a:r>
              <a:rPr lang="en-GB" sz="2800" dirty="0" err="1">
                <a:latin typeface="Times New Roman" panose="02020603050405020304" pitchFamily="18" charset="0"/>
                <a:cs typeface="Times New Roman" panose="02020603050405020304" pitchFamily="18" charset="0"/>
              </a:rPr>
              <a:t>StandardScaler</a:t>
            </a:r>
            <a:endParaRPr lang="en-GB" sz="2800" dirty="0">
              <a:latin typeface="Times New Roman" panose="02020603050405020304" pitchFamily="18" charset="0"/>
              <a:cs typeface="Times New Roman" panose="02020603050405020304" pitchFamily="18" charset="0"/>
            </a:endParaRPr>
          </a:p>
          <a:p>
            <a:pPr marL="457200" indent="-457200" algn="just">
              <a:lnSpc>
                <a:spcPct val="150000"/>
              </a:lnSpc>
              <a:buFont typeface="Arial" panose="020B0604020202020204" pitchFamily="34" charset="0"/>
              <a:buChar char="•"/>
            </a:pPr>
            <a:r>
              <a:rPr lang="en-GB" sz="2800" dirty="0">
                <a:latin typeface="Times New Roman" panose="02020603050405020304" pitchFamily="18" charset="0"/>
                <a:cs typeface="Times New Roman" panose="02020603050405020304" pitchFamily="18" charset="0"/>
              </a:rPr>
              <a:t>Stratified 80/20 train-test split</a:t>
            </a:r>
          </a:p>
          <a:p>
            <a:pPr marL="457200" indent="-457200" algn="just">
              <a:lnSpc>
                <a:spcPct val="150000"/>
              </a:lnSpc>
              <a:buFont typeface="Arial" panose="020B0604020202020204" pitchFamily="34" charset="0"/>
              <a:buChar char="•"/>
            </a:pPr>
            <a:r>
              <a:rPr lang="en-GB" sz="2800" dirty="0">
                <a:latin typeface="Times New Roman" panose="02020603050405020304" pitchFamily="18" charset="0"/>
                <a:cs typeface="Times New Roman" panose="02020603050405020304" pitchFamily="18" charset="0"/>
              </a:rPr>
              <a:t>Class distribution checked for balance</a:t>
            </a:r>
          </a:p>
        </p:txBody>
      </p:sp>
    </p:spTree>
    <p:extLst>
      <p:ext uri="{BB962C8B-B14F-4D97-AF65-F5344CB8AC3E}">
        <p14:creationId xmlns:p14="http://schemas.microsoft.com/office/powerpoint/2010/main" val="24439452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5">
                                            <p:txEl>
                                              <p:pRg st="1" end="1"/>
                                            </p:txEl>
                                          </p:spTgt>
                                        </p:tgtEl>
                                        <p:attrNameLst>
                                          <p:attrName>style.visibility</p:attrName>
                                        </p:attrNameLst>
                                      </p:cBhvr>
                                      <p:to>
                                        <p:strVal val="visible"/>
                                      </p:to>
                                    </p:set>
                                    <p:animEffect transition="in" filter="fade">
                                      <p:cBhvr>
                                        <p:cTn id="10" dur="500"/>
                                        <p:tgtEl>
                                          <p:spTgt spid="5">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5">
                                            <p:txEl>
                                              <p:pRg st="2" end="2"/>
                                            </p:txEl>
                                          </p:spTgt>
                                        </p:tgtEl>
                                        <p:attrNameLst>
                                          <p:attrName>style.visibility</p:attrName>
                                        </p:attrNameLst>
                                      </p:cBhvr>
                                      <p:to>
                                        <p:strVal val="visible"/>
                                      </p:to>
                                    </p:set>
                                    <p:animEffect transition="in" filter="fade">
                                      <p:cBhvr>
                                        <p:cTn id="13" dur="500"/>
                                        <p:tgtEl>
                                          <p:spTgt spid="5">
                                            <p:txEl>
                                              <p:pRg st="2" end="2"/>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5">
                                            <p:txEl>
                                              <p:pRg st="3" end="3"/>
                                            </p:txEl>
                                          </p:spTgt>
                                        </p:tgtEl>
                                        <p:attrNameLst>
                                          <p:attrName>style.visibility</p:attrName>
                                        </p:attrNameLst>
                                      </p:cBhvr>
                                      <p:to>
                                        <p:strVal val="visible"/>
                                      </p:to>
                                    </p:set>
                                    <p:animEffect transition="in" filter="fade">
                                      <p:cBhvr>
                                        <p:cTn id="16" dur="500"/>
                                        <p:tgtEl>
                                          <p:spTgt spid="5">
                                            <p:txEl>
                                              <p:pRg st="3" end="3"/>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5">
                                            <p:txEl>
                                              <p:pRg st="4" end="4"/>
                                            </p:txEl>
                                          </p:spTgt>
                                        </p:tgtEl>
                                        <p:attrNameLst>
                                          <p:attrName>style.visibility</p:attrName>
                                        </p:attrNameLst>
                                      </p:cBhvr>
                                      <p:to>
                                        <p:strVal val="visible"/>
                                      </p:to>
                                    </p:set>
                                    <p:animEffect transition="in" filter="fade">
                                      <p:cBhvr>
                                        <p:cTn id="21" dur="500"/>
                                        <p:tgtEl>
                                          <p:spTgt spid="5">
                                            <p:txEl>
                                              <p:pRg st="4" end="4"/>
                                            </p:txEl>
                                          </p:spTgt>
                                        </p:tgtEl>
                                      </p:cBhvr>
                                    </p:animEffect>
                                  </p:childTnLst>
                                </p:cTn>
                              </p:par>
                              <p:par>
                                <p:cTn id="22" presetID="10" presetClass="entr" presetSubtype="0" fill="hold" nodeType="withEffect">
                                  <p:stCondLst>
                                    <p:cond delay="0"/>
                                  </p:stCondLst>
                                  <p:childTnLst>
                                    <p:set>
                                      <p:cBhvr>
                                        <p:cTn id="23" dur="1" fill="hold">
                                          <p:stCondLst>
                                            <p:cond delay="0"/>
                                          </p:stCondLst>
                                        </p:cTn>
                                        <p:tgtEl>
                                          <p:spTgt spid="5">
                                            <p:txEl>
                                              <p:pRg st="5" end="5"/>
                                            </p:txEl>
                                          </p:spTgt>
                                        </p:tgtEl>
                                        <p:attrNameLst>
                                          <p:attrName>style.visibility</p:attrName>
                                        </p:attrNameLst>
                                      </p:cBhvr>
                                      <p:to>
                                        <p:strVal val="visible"/>
                                      </p:to>
                                    </p:set>
                                    <p:animEffect transition="in" filter="fade">
                                      <p:cBhvr>
                                        <p:cTn id="24" dur="500"/>
                                        <p:tgtEl>
                                          <p:spTgt spid="5">
                                            <p:txEl>
                                              <p:pRg st="5" end="5"/>
                                            </p:txEl>
                                          </p:spTgt>
                                        </p:tgtEl>
                                      </p:cBhvr>
                                    </p:animEffect>
                                  </p:childTnLst>
                                </p:cTn>
                              </p:par>
                              <p:par>
                                <p:cTn id="25" presetID="10" presetClass="entr" presetSubtype="0" fill="hold" nodeType="withEffect">
                                  <p:stCondLst>
                                    <p:cond delay="0"/>
                                  </p:stCondLst>
                                  <p:childTnLst>
                                    <p:set>
                                      <p:cBhvr>
                                        <p:cTn id="26" dur="1" fill="hold">
                                          <p:stCondLst>
                                            <p:cond delay="0"/>
                                          </p:stCondLst>
                                        </p:cTn>
                                        <p:tgtEl>
                                          <p:spTgt spid="5">
                                            <p:txEl>
                                              <p:pRg st="6" end="6"/>
                                            </p:txEl>
                                          </p:spTgt>
                                        </p:tgtEl>
                                        <p:attrNameLst>
                                          <p:attrName>style.visibility</p:attrName>
                                        </p:attrNameLst>
                                      </p:cBhvr>
                                      <p:to>
                                        <p:strVal val="visible"/>
                                      </p:to>
                                    </p:set>
                                    <p:animEffect transition="in" filter="fade">
                                      <p:cBhvr>
                                        <p:cTn id="27" dur="500"/>
                                        <p:tgtEl>
                                          <p:spTgt spid="5">
                                            <p:txEl>
                                              <p:pRg st="6" end="6"/>
                                            </p:txEl>
                                          </p:spTgt>
                                        </p:tgtEl>
                                      </p:cBhvr>
                                    </p:animEffect>
                                  </p:childTnLst>
                                </p:cTn>
                              </p:par>
                              <p:par>
                                <p:cTn id="28" presetID="10" presetClass="entr" presetSubtype="0" fill="hold" nodeType="withEffect">
                                  <p:stCondLst>
                                    <p:cond delay="0"/>
                                  </p:stCondLst>
                                  <p:childTnLst>
                                    <p:set>
                                      <p:cBhvr>
                                        <p:cTn id="29" dur="1" fill="hold">
                                          <p:stCondLst>
                                            <p:cond delay="0"/>
                                          </p:stCondLst>
                                        </p:cTn>
                                        <p:tgtEl>
                                          <p:spTgt spid="5">
                                            <p:txEl>
                                              <p:pRg st="7" end="7"/>
                                            </p:txEl>
                                          </p:spTgt>
                                        </p:tgtEl>
                                        <p:attrNameLst>
                                          <p:attrName>style.visibility</p:attrName>
                                        </p:attrNameLst>
                                      </p:cBhvr>
                                      <p:to>
                                        <p:strVal val="visible"/>
                                      </p:to>
                                    </p:set>
                                    <p:animEffect transition="in" filter="fade">
                                      <p:cBhvr>
                                        <p:cTn id="30" dur="500"/>
                                        <p:tgtEl>
                                          <p:spTgt spid="5">
                                            <p:txEl>
                                              <p:pRg st="7" end="7"/>
                                            </p:txEl>
                                          </p:spTgt>
                                        </p:tgtEl>
                                      </p:cBhvr>
                                    </p:animEffect>
                                  </p:childTnLst>
                                </p:cTn>
                              </p:par>
                              <p:par>
                                <p:cTn id="31" presetID="10" presetClass="entr" presetSubtype="0" fill="hold" nodeType="withEffect">
                                  <p:stCondLst>
                                    <p:cond delay="0"/>
                                  </p:stCondLst>
                                  <p:childTnLst>
                                    <p:set>
                                      <p:cBhvr>
                                        <p:cTn id="32" dur="1" fill="hold">
                                          <p:stCondLst>
                                            <p:cond delay="0"/>
                                          </p:stCondLst>
                                        </p:cTn>
                                        <p:tgtEl>
                                          <p:spTgt spid="5">
                                            <p:txEl>
                                              <p:pRg st="8" end="8"/>
                                            </p:txEl>
                                          </p:spTgt>
                                        </p:tgtEl>
                                        <p:attrNameLst>
                                          <p:attrName>style.visibility</p:attrName>
                                        </p:attrNameLst>
                                      </p:cBhvr>
                                      <p:to>
                                        <p:strVal val="visible"/>
                                      </p:to>
                                    </p:set>
                                    <p:animEffect transition="in" filter="fade">
                                      <p:cBhvr>
                                        <p:cTn id="33" dur="500"/>
                                        <p:tgtEl>
                                          <p:spTgt spid="5">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9DC0755D-27C1-F8C8-77CF-EC9B97549A28}"/>
              </a:ext>
            </a:extLst>
          </p:cNvPr>
          <p:cNvGrpSpPr/>
          <p:nvPr/>
        </p:nvGrpSpPr>
        <p:grpSpPr>
          <a:xfrm>
            <a:off x="191075" y="783618"/>
            <a:ext cx="11779769" cy="6058094"/>
            <a:chOff x="2618" y="3287"/>
            <a:chExt cx="10965" cy="4056"/>
          </a:xfrm>
        </p:grpSpPr>
        <p:sp>
          <p:nvSpPr>
            <p:cNvPr id="3" name="Right Arrow 97">
              <a:extLst>
                <a:ext uri="{FF2B5EF4-FFF2-40B4-BE49-F238E27FC236}">
                  <a16:creationId xmlns:a16="http://schemas.microsoft.com/office/drawing/2014/main" id="{6BFE315E-7D03-0254-9153-E3646492892C}"/>
                </a:ext>
              </a:extLst>
            </p:cNvPr>
            <p:cNvSpPr/>
            <p:nvPr/>
          </p:nvSpPr>
          <p:spPr>
            <a:xfrm>
              <a:off x="3269" y="5004"/>
              <a:ext cx="9927" cy="672"/>
            </a:xfrm>
            <a:prstGeom prst="rightArrow">
              <a:avLst/>
            </a:prstGeom>
            <a:solidFill>
              <a:schemeClr val="accent1">
                <a:lumMod val="60000"/>
                <a:lumOff val="40000"/>
              </a:schemeClr>
            </a:solidFill>
            <a:ln>
              <a:solidFill>
                <a:schemeClr val="tx1"/>
              </a:solidFill>
            </a:ln>
          </p:spPr>
          <p:style>
            <a:lnRef idx="1">
              <a:schemeClr val="accent1"/>
            </a:lnRef>
            <a:fillRef idx="3">
              <a:schemeClr val="accent1"/>
            </a:fillRef>
            <a:effectRef idx="2">
              <a:schemeClr val="accent1"/>
            </a:effectRef>
            <a:fontRef idx="minor">
              <a:schemeClr val="lt1"/>
            </a:fontRef>
          </p:style>
          <p:txBody>
            <a:bodyPr/>
            <a:lstStyle/>
            <a:p>
              <a:pPr>
                <a:lnSpc>
                  <a:spcPct val="150000"/>
                </a:lnSpc>
              </a:pPr>
              <a:endParaRPr lang="en-US" sz="2400">
                <a:latin typeface="Times New Roman" panose="02020603050405020304" pitchFamily="18" charset="0"/>
                <a:cs typeface="Times New Roman" panose="02020603050405020304" pitchFamily="18" charset="0"/>
              </a:endParaRPr>
            </a:p>
          </p:txBody>
        </p:sp>
        <p:cxnSp>
          <p:nvCxnSpPr>
            <p:cNvPr id="4" name="Straight Connector 3">
              <a:extLst>
                <a:ext uri="{FF2B5EF4-FFF2-40B4-BE49-F238E27FC236}">
                  <a16:creationId xmlns:a16="http://schemas.microsoft.com/office/drawing/2014/main" id="{C485745D-9081-565D-41D0-31E79C4FA082}"/>
                </a:ext>
              </a:extLst>
            </p:cNvPr>
            <p:cNvCxnSpPr/>
            <p:nvPr/>
          </p:nvCxnSpPr>
          <p:spPr>
            <a:xfrm>
              <a:off x="4760" y="5180"/>
              <a:ext cx="0" cy="32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cxnSp>
          <p:nvCxnSpPr>
            <p:cNvPr id="5" name="Straight Connector 4">
              <a:extLst>
                <a:ext uri="{FF2B5EF4-FFF2-40B4-BE49-F238E27FC236}">
                  <a16:creationId xmlns:a16="http://schemas.microsoft.com/office/drawing/2014/main" id="{3F300479-11B0-080A-B0DB-7E3D0F33FF63}"/>
                </a:ext>
              </a:extLst>
            </p:cNvPr>
            <p:cNvCxnSpPr/>
            <p:nvPr/>
          </p:nvCxnSpPr>
          <p:spPr>
            <a:xfrm>
              <a:off x="6424" y="5180"/>
              <a:ext cx="0" cy="32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cxnSp>
          <p:nvCxnSpPr>
            <p:cNvPr id="6" name="Straight Connector 5">
              <a:extLst>
                <a:ext uri="{FF2B5EF4-FFF2-40B4-BE49-F238E27FC236}">
                  <a16:creationId xmlns:a16="http://schemas.microsoft.com/office/drawing/2014/main" id="{B52DDF56-0CC6-5EB3-1B07-98D21F0627FC}"/>
                </a:ext>
              </a:extLst>
            </p:cNvPr>
            <p:cNvCxnSpPr/>
            <p:nvPr/>
          </p:nvCxnSpPr>
          <p:spPr>
            <a:xfrm>
              <a:off x="8040" y="5180"/>
              <a:ext cx="0" cy="32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07171AA7-AE4E-ADFC-87CA-486A11C425DB}"/>
                </a:ext>
              </a:extLst>
            </p:cNvPr>
            <p:cNvCxnSpPr/>
            <p:nvPr/>
          </p:nvCxnSpPr>
          <p:spPr>
            <a:xfrm>
              <a:off x="9584" y="5180"/>
              <a:ext cx="0" cy="32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A78E0916-779F-DA95-0417-F8E5205CA0EF}"/>
                </a:ext>
              </a:extLst>
            </p:cNvPr>
            <p:cNvCxnSpPr/>
            <p:nvPr/>
          </p:nvCxnSpPr>
          <p:spPr>
            <a:xfrm>
              <a:off x="10978" y="5180"/>
              <a:ext cx="0" cy="32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sp>
          <p:nvSpPr>
            <p:cNvPr id="9" name="Text Box 103">
              <a:extLst>
                <a:ext uri="{FF2B5EF4-FFF2-40B4-BE49-F238E27FC236}">
                  <a16:creationId xmlns:a16="http://schemas.microsoft.com/office/drawing/2014/main" id="{5D3B3933-7D6E-928B-CD16-7C0947D94A8F}"/>
                </a:ext>
              </a:extLst>
            </p:cNvPr>
            <p:cNvSpPr txBox="1"/>
            <p:nvPr/>
          </p:nvSpPr>
          <p:spPr>
            <a:xfrm>
              <a:off x="3133" y="4606"/>
              <a:ext cx="1850" cy="493"/>
            </a:xfrm>
            <a:prstGeom prst="rect">
              <a:avLst/>
            </a:prstGeom>
            <a:noFill/>
          </p:spPr>
          <p:txBody>
            <a:bodyPr wrap="square" rtlCol="0">
              <a:noAutofit/>
            </a:bodyPr>
            <a:lstStyle/>
            <a:p>
              <a:pPr algn="ctr"/>
              <a:r>
                <a:rPr lang="en-US" sz="2400" b="1" dirty="0">
                  <a:solidFill>
                    <a:schemeClr val="accent5">
                      <a:lumMod val="50000"/>
                    </a:schemeClr>
                  </a:solidFill>
                  <a:latin typeface="Times New Roman" panose="02020603050405020304" pitchFamily="18" charset="0"/>
                  <a:cs typeface="Times New Roman" panose="02020603050405020304" pitchFamily="18" charset="0"/>
                </a:rPr>
                <a:t>Dataset</a:t>
              </a:r>
            </a:p>
            <a:p>
              <a:pPr algn="ctr"/>
              <a:r>
                <a:rPr lang="en-US" sz="2400" b="1" dirty="0">
                  <a:solidFill>
                    <a:schemeClr val="accent5">
                      <a:lumMod val="50000"/>
                    </a:schemeClr>
                  </a:solidFill>
                  <a:latin typeface="Times New Roman" panose="02020603050405020304" pitchFamily="18" charset="0"/>
                  <a:cs typeface="Times New Roman" panose="02020603050405020304" pitchFamily="18" charset="0"/>
                </a:rPr>
                <a:t>Collection</a:t>
              </a:r>
            </a:p>
          </p:txBody>
        </p:sp>
        <p:sp>
          <p:nvSpPr>
            <p:cNvPr id="10" name="Text Box 104">
              <a:extLst>
                <a:ext uri="{FF2B5EF4-FFF2-40B4-BE49-F238E27FC236}">
                  <a16:creationId xmlns:a16="http://schemas.microsoft.com/office/drawing/2014/main" id="{6C45F6E8-734F-4D5B-2A3A-9BB8B79603A5}"/>
                </a:ext>
              </a:extLst>
            </p:cNvPr>
            <p:cNvSpPr txBox="1"/>
            <p:nvPr/>
          </p:nvSpPr>
          <p:spPr>
            <a:xfrm>
              <a:off x="4711" y="5466"/>
              <a:ext cx="2394" cy="396"/>
            </a:xfrm>
            <a:prstGeom prst="rect">
              <a:avLst/>
            </a:prstGeom>
            <a:noFill/>
          </p:spPr>
          <p:txBody>
            <a:bodyPr wrap="square" rtlCol="0">
              <a:spAutoFit/>
            </a:bodyPr>
            <a:lstStyle/>
            <a:p>
              <a:pPr>
                <a:lnSpc>
                  <a:spcPct val="150000"/>
                </a:lnSpc>
              </a:pPr>
              <a:r>
                <a:rPr lang="en-US" sz="2400" b="1" dirty="0">
                  <a:solidFill>
                    <a:schemeClr val="accent5">
                      <a:lumMod val="50000"/>
                    </a:schemeClr>
                  </a:solidFill>
                  <a:latin typeface="Times New Roman" panose="02020603050405020304" pitchFamily="18" charset="0"/>
                  <a:cs typeface="Times New Roman" panose="02020603050405020304" pitchFamily="18" charset="0"/>
                </a:rPr>
                <a:t>Preprocessing</a:t>
              </a:r>
            </a:p>
          </p:txBody>
        </p:sp>
        <p:sp>
          <p:nvSpPr>
            <p:cNvPr id="11" name="Text Box 105">
              <a:extLst>
                <a:ext uri="{FF2B5EF4-FFF2-40B4-BE49-F238E27FC236}">
                  <a16:creationId xmlns:a16="http://schemas.microsoft.com/office/drawing/2014/main" id="{5B86252E-10FA-EC40-CCAD-1C775693380B}"/>
                </a:ext>
              </a:extLst>
            </p:cNvPr>
            <p:cNvSpPr txBox="1"/>
            <p:nvPr/>
          </p:nvSpPr>
          <p:spPr>
            <a:xfrm>
              <a:off x="6573" y="4759"/>
              <a:ext cx="1686" cy="396"/>
            </a:xfrm>
            <a:prstGeom prst="rect">
              <a:avLst/>
            </a:prstGeom>
            <a:noFill/>
          </p:spPr>
          <p:txBody>
            <a:bodyPr wrap="square" rtlCol="0">
              <a:spAutoFit/>
            </a:bodyPr>
            <a:lstStyle/>
            <a:p>
              <a:pPr>
                <a:lnSpc>
                  <a:spcPct val="150000"/>
                </a:lnSpc>
              </a:pPr>
              <a:r>
                <a:rPr lang="en-US" sz="2400" b="1" dirty="0">
                  <a:solidFill>
                    <a:schemeClr val="accent5">
                      <a:lumMod val="50000"/>
                    </a:schemeClr>
                  </a:solidFill>
                  <a:latin typeface="Times New Roman" panose="02020603050405020304" pitchFamily="18" charset="0"/>
                  <a:cs typeface="Times New Roman" panose="02020603050405020304" pitchFamily="18" charset="0"/>
                </a:rPr>
                <a:t>Modeling</a:t>
              </a:r>
            </a:p>
          </p:txBody>
        </p:sp>
        <p:sp>
          <p:nvSpPr>
            <p:cNvPr id="12" name="Text Box 106">
              <a:extLst>
                <a:ext uri="{FF2B5EF4-FFF2-40B4-BE49-F238E27FC236}">
                  <a16:creationId xmlns:a16="http://schemas.microsoft.com/office/drawing/2014/main" id="{4D5D6D23-F74D-AB1B-1A2D-AB22803936BE}"/>
                </a:ext>
              </a:extLst>
            </p:cNvPr>
            <p:cNvSpPr txBox="1"/>
            <p:nvPr/>
          </p:nvSpPr>
          <p:spPr>
            <a:xfrm>
              <a:off x="7979" y="5466"/>
              <a:ext cx="2200" cy="396"/>
            </a:xfrm>
            <a:prstGeom prst="rect">
              <a:avLst/>
            </a:prstGeom>
            <a:noFill/>
          </p:spPr>
          <p:txBody>
            <a:bodyPr wrap="square" rtlCol="0">
              <a:spAutoFit/>
            </a:bodyPr>
            <a:lstStyle/>
            <a:p>
              <a:pPr>
                <a:lnSpc>
                  <a:spcPct val="150000"/>
                </a:lnSpc>
              </a:pPr>
              <a:r>
                <a:rPr lang="en-US" sz="2400" b="1" dirty="0">
                  <a:solidFill>
                    <a:schemeClr val="accent5">
                      <a:lumMod val="50000"/>
                    </a:schemeClr>
                  </a:solidFill>
                  <a:latin typeface="Times New Roman" panose="02020603050405020304" pitchFamily="18" charset="0"/>
                  <a:cs typeface="Times New Roman" panose="02020603050405020304" pitchFamily="18" charset="0"/>
                </a:rPr>
                <a:t>Optimization</a:t>
              </a:r>
            </a:p>
          </p:txBody>
        </p:sp>
        <p:sp>
          <p:nvSpPr>
            <p:cNvPr id="13" name="Text Box 107">
              <a:extLst>
                <a:ext uri="{FF2B5EF4-FFF2-40B4-BE49-F238E27FC236}">
                  <a16:creationId xmlns:a16="http://schemas.microsoft.com/office/drawing/2014/main" id="{422E17ED-58DB-3331-CC9B-8C2FBBC5D5F3}"/>
                </a:ext>
              </a:extLst>
            </p:cNvPr>
            <p:cNvSpPr txBox="1"/>
            <p:nvPr/>
          </p:nvSpPr>
          <p:spPr>
            <a:xfrm>
              <a:off x="9544" y="4778"/>
              <a:ext cx="1936" cy="396"/>
            </a:xfrm>
            <a:prstGeom prst="rect">
              <a:avLst/>
            </a:prstGeom>
            <a:noFill/>
          </p:spPr>
          <p:txBody>
            <a:bodyPr wrap="square" rtlCol="0">
              <a:spAutoFit/>
            </a:bodyPr>
            <a:lstStyle/>
            <a:p>
              <a:pPr>
                <a:lnSpc>
                  <a:spcPct val="150000"/>
                </a:lnSpc>
              </a:pPr>
              <a:r>
                <a:rPr lang="en-US" sz="2400" b="1" dirty="0">
                  <a:solidFill>
                    <a:schemeClr val="accent5">
                      <a:lumMod val="50000"/>
                    </a:schemeClr>
                  </a:solidFill>
                  <a:latin typeface="Times New Roman" panose="02020603050405020304" pitchFamily="18" charset="0"/>
                  <a:cs typeface="Times New Roman" panose="02020603050405020304" pitchFamily="18" charset="0"/>
                </a:rPr>
                <a:t>Evaluation</a:t>
              </a:r>
            </a:p>
          </p:txBody>
        </p:sp>
        <p:sp>
          <p:nvSpPr>
            <p:cNvPr id="14" name="Text Box 108">
              <a:extLst>
                <a:ext uri="{FF2B5EF4-FFF2-40B4-BE49-F238E27FC236}">
                  <a16:creationId xmlns:a16="http://schemas.microsoft.com/office/drawing/2014/main" id="{B2A4C2EA-8961-CB09-C3C5-0F6CAB345B88}"/>
                </a:ext>
              </a:extLst>
            </p:cNvPr>
            <p:cNvSpPr txBox="1"/>
            <p:nvPr/>
          </p:nvSpPr>
          <p:spPr>
            <a:xfrm>
              <a:off x="10978" y="5456"/>
              <a:ext cx="1992" cy="396"/>
            </a:xfrm>
            <a:prstGeom prst="rect">
              <a:avLst/>
            </a:prstGeom>
            <a:noFill/>
          </p:spPr>
          <p:txBody>
            <a:bodyPr wrap="square" rtlCol="0">
              <a:spAutoFit/>
            </a:bodyPr>
            <a:lstStyle/>
            <a:p>
              <a:pPr>
                <a:lnSpc>
                  <a:spcPct val="150000"/>
                </a:lnSpc>
              </a:pPr>
              <a:r>
                <a:rPr lang="en-US" sz="2400" b="1" dirty="0">
                  <a:solidFill>
                    <a:schemeClr val="accent5">
                      <a:lumMod val="50000"/>
                    </a:schemeClr>
                  </a:solidFill>
                  <a:latin typeface="Times New Roman" panose="02020603050405020304" pitchFamily="18" charset="0"/>
                  <a:cs typeface="Times New Roman" panose="02020603050405020304" pitchFamily="18" charset="0"/>
                </a:rPr>
                <a:t>Visualization</a:t>
              </a:r>
            </a:p>
          </p:txBody>
        </p:sp>
        <p:sp>
          <p:nvSpPr>
            <p:cNvPr id="15" name="Text Box 109">
              <a:extLst>
                <a:ext uri="{FF2B5EF4-FFF2-40B4-BE49-F238E27FC236}">
                  <a16:creationId xmlns:a16="http://schemas.microsoft.com/office/drawing/2014/main" id="{A0EEF7D0-A421-5700-F53F-19A4D0420041}"/>
                </a:ext>
              </a:extLst>
            </p:cNvPr>
            <p:cNvSpPr txBox="1"/>
            <p:nvPr/>
          </p:nvSpPr>
          <p:spPr>
            <a:xfrm>
              <a:off x="2618" y="3287"/>
              <a:ext cx="2841" cy="1154"/>
            </a:xfrm>
            <a:prstGeom prst="rect">
              <a:avLst/>
            </a:prstGeom>
            <a:noFill/>
          </p:spPr>
          <p:txBody>
            <a:bodyPr wrap="square">
              <a:spAutoFit/>
            </a:bodyPr>
            <a:lstStyle/>
            <a:p>
              <a:pPr algn="ctr">
                <a:lnSpc>
                  <a:spcPct val="150000"/>
                </a:lnSpc>
              </a:pPr>
              <a:r>
                <a:rPr sz="2400" dirty="0">
                  <a:solidFill>
                    <a:srgbClr val="4C699C"/>
                  </a:solidFill>
                  <a:latin typeface="Times New Roman" panose="02020603050405020304" pitchFamily="18" charset="0"/>
                  <a:cs typeface="Times New Roman" panose="02020603050405020304" pitchFamily="18" charset="0"/>
                </a:rPr>
                <a:t>Student Dropout </a:t>
              </a:r>
            </a:p>
            <a:p>
              <a:pPr algn="ctr">
                <a:lnSpc>
                  <a:spcPct val="150000"/>
                </a:lnSpc>
              </a:pPr>
              <a:r>
                <a:rPr sz="2400" dirty="0">
                  <a:solidFill>
                    <a:srgbClr val="4C699C"/>
                  </a:solidFill>
                  <a:latin typeface="Times New Roman" panose="02020603050405020304" pitchFamily="18" charset="0"/>
                  <a:cs typeface="Times New Roman" panose="02020603050405020304" pitchFamily="18" charset="0"/>
                </a:rPr>
                <a:t>dataset sourced from </a:t>
              </a:r>
            </a:p>
            <a:p>
              <a:pPr algn="ctr">
                <a:lnSpc>
                  <a:spcPct val="150000"/>
                </a:lnSpc>
              </a:pPr>
              <a:r>
                <a:rPr sz="2400" dirty="0">
                  <a:solidFill>
                    <a:srgbClr val="4C699C"/>
                  </a:solidFill>
                  <a:latin typeface="Times New Roman" panose="02020603050405020304" pitchFamily="18" charset="0"/>
                  <a:cs typeface="Times New Roman" panose="02020603050405020304" pitchFamily="18" charset="0"/>
                </a:rPr>
                <a:t>UCI Repository</a:t>
              </a:r>
            </a:p>
          </p:txBody>
        </p:sp>
        <p:sp>
          <p:nvSpPr>
            <p:cNvPr id="16" name="Text Box 110">
              <a:extLst>
                <a:ext uri="{FF2B5EF4-FFF2-40B4-BE49-F238E27FC236}">
                  <a16:creationId xmlns:a16="http://schemas.microsoft.com/office/drawing/2014/main" id="{21833B9B-C48F-A220-9750-52D9CAEC6D76}"/>
                </a:ext>
              </a:extLst>
            </p:cNvPr>
            <p:cNvSpPr txBox="1"/>
            <p:nvPr/>
          </p:nvSpPr>
          <p:spPr>
            <a:xfrm>
              <a:off x="4168" y="5811"/>
              <a:ext cx="3045" cy="1532"/>
            </a:xfrm>
            <a:prstGeom prst="rect">
              <a:avLst/>
            </a:prstGeom>
          </p:spPr>
          <p:txBody>
            <a:bodyPr wrap="square">
              <a:spAutoFit/>
            </a:bodyPr>
            <a:lstStyle/>
            <a:p>
              <a:pPr algn="ctr">
                <a:lnSpc>
                  <a:spcPct val="150000"/>
                </a:lnSpc>
              </a:pPr>
              <a:r>
                <a:rPr sz="2400" dirty="0">
                  <a:solidFill>
                    <a:srgbClr val="4C699C"/>
                  </a:solidFill>
                  <a:latin typeface="Times New Roman" panose="02020603050405020304" pitchFamily="18" charset="0"/>
                  <a:cs typeface="Times New Roman" panose="02020603050405020304" pitchFamily="18" charset="0"/>
                </a:rPr>
                <a:t>Missing value handling, </a:t>
              </a:r>
            </a:p>
            <a:p>
              <a:pPr algn="ctr">
                <a:lnSpc>
                  <a:spcPct val="150000"/>
                </a:lnSpc>
              </a:pPr>
              <a:r>
                <a:rPr sz="2400" dirty="0">
                  <a:solidFill>
                    <a:srgbClr val="4C699C"/>
                  </a:solidFill>
                  <a:latin typeface="Times New Roman" panose="02020603050405020304" pitchFamily="18" charset="0"/>
                  <a:cs typeface="Times New Roman" panose="02020603050405020304" pitchFamily="18" charset="0"/>
                </a:rPr>
                <a:t>stratified train–test split </a:t>
              </a:r>
            </a:p>
            <a:p>
              <a:pPr algn="ctr">
                <a:lnSpc>
                  <a:spcPct val="150000"/>
                </a:lnSpc>
              </a:pPr>
              <a:r>
                <a:rPr sz="2400" dirty="0">
                  <a:solidFill>
                    <a:srgbClr val="4C699C"/>
                  </a:solidFill>
                  <a:latin typeface="Times New Roman" panose="02020603050405020304" pitchFamily="18" charset="0"/>
                  <a:cs typeface="Times New Roman" panose="02020603050405020304" pitchFamily="18" charset="0"/>
                </a:rPr>
                <a:t>(80–20), feature </a:t>
              </a:r>
            </a:p>
            <a:p>
              <a:pPr algn="ctr">
                <a:lnSpc>
                  <a:spcPct val="150000"/>
                </a:lnSpc>
              </a:pPr>
              <a:r>
                <a:rPr sz="2400" dirty="0">
                  <a:solidFill>
                    <a:srgbClr val="4C699C"/>
                  </a:solidFill>
                  <a:latin typeface="Times New Roman" panose="02020603050405020304" pitchFamily="18" charset="0"/>
                  <a:cs typeface="Times New Roman" panose="02020603050405020304" pitchFamily="18" charset="0"/>
                </a:rPr>
                <a:t>standardization</a:t>
              </a:r>
            </a:p>
          </p:txBody>
        </p:sp>
        <p:sp>
          <p:nvSpPr>
            <p:cNvPr id="17" name="Text Box 111">
              <a:extLst>
                <a:ext uri="{FF2B5EF4-FFF2-40B4-BE49-F238E27FC236}">
                  <a16:creationId xmlns:a16="http://schemas.microsoft.com/office/drawing/2014/main" id="{0140D17A-EB39-4ABD-11FD-8BF6B72DC73B}"/>
                </a:ext>
              </a:extLst>
            </p:cNvPr>
            <p:cNvSpPr txBox="1"/>
            <p:nvPr/>
          </p:nvSpPr>
          <p:spPr>
            <a:xfrm>
              <a:off x="5454" y="3287"/>
              <a:ext cx="3316" cy="1501"/>
            </a:xfrm>
            <a:prstGeom prst="rect">
              <a:avLst/>
            </a:prstGeom>
          </p:spPr>
          <p:txBody>
            <a:bodyPr wrap="square">
              <a:spAutoFit/>
            </a:bodyPr>
            <a:lstStyle/>
            <a:p>
              <a:pPr algn="ctr">
                <a:lnSpc>
                  <a:spcPct val="150000"/>
                </a:lnSpc>
              </a:pPr>
              <a:r>
                <a:rPr sz="2400" dirty="0">
                  <a:solidFill>
                    <a:srgbClr val="4C699C"/>
                  </a:solidFill>
                  <a:latin typeface="Times New Roman" panose="02020603050405020304" pitchFamily="18" charset="0"/>
                  <a:cs typeface="Times New Roman" panose="02020603050405020304" pitchFamily="18" charset="0"/>
                </a:rPr>
                <a:t>Multinomial Logistic</a:t>
              </a:r>
              <a:endParaRPr lang="en-GB" sz="2400" dirty="0">
                <a:solidFill>
                  <a:srgbClr val="4C699C"/>
                </a:solidFill>
                <a:latin typeface="Times New Roman" panose="02020603050405020304" pitchFamily="18" charset="0"/>
                <a:cs typeface="Times New Roman" panose="02020603050405020304" pitchFamily="18" charset="0"/>
              </a:endParaRPr>
            </a:p>
            <a:p>
              <a:pPr algn="ctr">
                <a:lnSpc>
                  <a:spcPct val="150000"/>
                </a:lnSpc>
              </a:pPr>
              <a:r>
                <a:rPr sz="2400" dirty="0">
                  <a:solidFill>
                    <a:srgbClr val="4C699C"/>
                  </a:solidFill>
                  <a:latin typeface="Times New Roman" panose="02020603050405020304" pitchFamily="18" charset="0"/>
                  <a:cs typeface="Times New Roman" panose="02020603050405020304" pitchFamily="18" charset="0"/>
                </a:rPr>
                <a:t>Regression (MLR) and</a:t>
              </a:r>
              <a:r>
                <a:rPr lang="en-GB" sz="2400" dirty="0">
                  <a:solidFill>
                    <a:srgbClr val="4C699C"/>
                  </a:solidFill>
                  <a:latin typeface="Times New Roman" panose="02020603050405020304" pitchFamily="18" charset="0"/>
                  <a:cs typeface="Times New Roman" panose="02020603050405020304" pitchFamily="18" charset="0"/>
                </a:rPr>
                <a:t> </a:t>
              </a:r>
              <a:r>
                <a:rPr sz="2400" dirty="0">
                  <a:solidFill>
                    <a:srgbClr val="4C699C"/>
                  </a:solidFill>
                  <a:latin typeface="Times New Roman" panose="02020603050405020304" pitchFamily="18" charset="0"/>
                  <a:cs typeface="Times New Roman" panose="02020603050405020304" pitchFamily="18" charset="0"/>
                </a:rPr>
                <a:t>Linear Discriminant</a:t>
              </a:r>
              <a:r>
                <a:rPr lang="en-GB" sz="2400" dirty="0">
                  <a:solidFill>
                    <a:srgbClr val="4C699C"/>
                  </a:solidFill>
                  <a:latin typeface="Times New Roman" panose="02020603050405020304" pitchFamily="18" charset="0"/>
                  <a:cs typeface="Times New Roman" panose="02020603050405020304" pitchFamily="18" charset="0"/>
                </a:rPr>
                <a:t> </a:t>
              </a:r>
              <a:r>
                <a:rPr sz="2400" dirty="0">
                  <a:solidFill>
                    <a:srgbClr val="4C699C"/>
                  </a:solidFill>
                  <a:latin typeface="Times New Roman" panose="02020603050405020304" pitchFamily="18" charset="0"/>
                  <a:cs typeface="Times New Roman" panose="02020603050405020304" pitchFamily="18" charset="0"/>
                </a:rPr>
                <a:t>Analysis (LDA)</a:t>
              </a:r>
            </a:p>
          </p:txBody>
        </p:sp>
        <p:sp>
          <p:nvSpPr>
            <p:cNvPr id="18" name="Text Box 112">
              <a:extLst>
                <a:ext uri="{FF2B5EF4-FFF2-40B4-BE49-F238E27FC236}">
                  <a16:creationId xmlns:a16="http://schemas.microsoft.com/office/drawing/2014/main" id="{B0697DA5-24C2-74B4-C252-03B3709CE5A7}"/>
                </a:ext>
              </a:extLst>
            </p:cNvPr>
            <p:cNvSpPr txBox="1"/>
            <p:nvPr/>
          </p:nvSpPr>
          <p:spPr>
            <a:xfrm>
              <a:off x="7453" y="5827"/>
              <a:ext cx="3059" cy="1154"/>
            </a:xfrm>
            <a:prstGeom prst="rect">
              <a:avLst/>
            </a:prstGeom>
          </p:spPr>
          <p:txBody>
            <a:bodyPr wrap="square">
              <a:spAutoFit/>
            </a:bodyPr>
            <a:lstStyle/>
            <a:p>
              <a:pPr algn="ctr">
                <a:lnSpc>
                  <a:spcPct val="150000"/>
                </a:lnSpc>
              </a:pPr>
              <a:r>
                <a:rPr sz="2400" dirty="0">
                  <a:solidFill>
                    <a:srgbClr val="4C699C"/>
                  </a:solidFill>
                  <a:latin typeface="Times New Roman" panose="02020603050405020304" pitchFamily="18" charset="0"/>
                  <a:cs typeface="Times New Roman" panose="02020603050405020304" pitchFamily="18" charset="0"/>
                </a:rPr>
                <a:t>Hyperparameter tuning </a:t>
              </a:r>
            </a:p>
            <a:p>
              <a:pPr algn="ctr">
                <a:lnSpc>
                  <a:spcPct val="150000"/>
                </a:lnSpc>
              </a:pPr>
              <a:r>
                <a:rPr sz="2400" dirty="0">
                  <a:solidFill>
                    <a:srgbClr val="4C699C"/>
                  </a:solidFill>
                  <a:latin typeface="Times New Roman" panose="02020603050405020304" pitchFamily="18" charset="0"/>
                  <a:cs typeface="Times New Roman" panose="02020603050405020304" pitchFamily="18" charset="0"/>
                </a:rPr>
                <a:t>using Grid Search with </a:t>
              </a:r>
            </a:p>
            <a:p>
              <a:pPr algn="ctr">
                <a:lnSpc>
                  <a:spcPct val="150000"/>
                </a:lnSpc>
              </a:pPr>
              <a:r>
                <a:rPr sz="2400" dirty="0">
                  <a:solidFill>
                    <a:srgbClr val="4C699C"/>
                  </a:solidFill>
                  <a:latin typeface="Times New Roman" panose="02020603050405020304" pitchFamily="18" charset="0"/>
                  <a:cs typeface="Times New Roman" panose="02020603050405020304" pitchFamily="18" charset="0"/>
                </a:rPr>
                <a:t>5-fold cross-validation</a:t>
              </a:r>
            </a:p>
          </p:txBody>
        </p:sp>
        <p:sp>
          <p:nvSpPr>
            <p:cNvPr id="19" name="Text Box 113">
              <a:extLst>
                <a:ext uri="{FF2B5EF4-FFF2-40B4-BE49-F238E27FC236}">
                  <a16:creationId xmlns:a16="http://schemas.microsoft.com/office/drawing/2014/main" id="{11171A54-352D-F900-D301-2C01748726DD}"/>
                </a:ext>
              </a:extLst>
            </p:cNvPr>
            <p:cNvSpPr txBox="1"/>
            <p:nvPr/>
          </p:nvSpPr>
          <p:spPr>
            <a:xfrm>
              <a:off x="8876" y="3287"/>
              <a:ext cx="2968" cy="1501"/>
            </a:xfrm>
            <a:prstGeom prst="rect">
              <a:avLst/>
            </a:prstGeom>
          </p:spPr>
          <p:txBody>
            <a:bodyPr wrap="square">
              <a:spAutoFit/>
            </a:bodyPr>
            <a:lstStyle/>
            <a:p>
              <a:pPr algn="ctr">
                <a:lnSpc>
                  <a:spcPct val="150000"/>
                </a:lnSpc>
              </a:pPr>
              <a:r>
                <a:rPr sz="2400" dirty="0">
                  <a:solidFill>
                    <a:srgbClr val="4C699C"/>
                  </a:solidFill>
                  <a:latin typeface="Times New Roman" panose="02020603050405020304" pitchFamily="18" charset="0"/>
                  <a:cs typeface="Times New Roman" panose="02020603050405020304" pitchFamily="18" charset="0"/>
                </a:rPr>
                <a:t> Accuracy, Precision, </a:t>
              </a:r>
            </a:p>
            <a:p>
              <a:pPr algn="ctr">
                <a:lnSpc>
                  <a:spcPct val="150000"/>
                </a:lnSpc>
              </a:pPr>
              <a:r>
                <a:rPr sz="2400" dirty="0">
                  <a:solidFill>
                    <a:srgbClr val="4C699C"/>
                  </a:solidFill>
                  <a:latin typeface="Times New Roman" panose="02020603050405020304" pitchFamily="18" charset="0"/>
                  <a:cs typeface="Times New Roman" panose="02020603050405020304" pitchFamily="18" charset="0"/>
                </a:rPr>
                <a:t>Recall, F1-Score, Log-Loss, and Multi-class</a:t>
              </a:r>
              <a:r>
                <a:rPr lang="en-GB" sz="2400" dirty="0">
                  <a:solidFill>
                    <a:srgbClr val="4C699C"/>
                  </a:solidFill>
                  <a:latin typeface="Times New Roman" panose="02020603050405020304" pitchFamily="18" charset="0"/>
                  <a:cs typeface="Times New Roman" panose="02020603050405020304" pitchFamily="18" charset="0"/>
                </a:rPr>
                <a:t> </a:t>
              </a:r>
              <a:r>
                <a:rPr sz="2400" dirty="0">
                  <a:solidFill>
                    <a:srgbClr val="4C699C"/>
                  </a:solidFill>
                  <a:latin typeface="Times New Roman" panose="02020603050405020304" pitchFamily="18" charset="0"/>
                  <a:cs typeface="Times New Roman" panose="02020603050405020304" pitchFamily="18" charset="0"/>
                </a:rPr>
                <a:t>ROC-AUC</a:t>
              </a:r>
            </a:p>
          </p:txBody>
        </p:sp>
        <p:sp>
          <p:nvSpPr>
            <p:cNvPr id="20" name="Text Box 114">
              <a:extLst>
                <a:ext uri="{FF2B5EF4-FFF2-40B4-BE49-F238E27FC236}">
                  <a16:creationId xmlns:a16="http://schemas.microsoft.com/office/drawing/2014/main" id="{AB8C165A-6B18-1C7B-BCA8-826F2778EFAF}"/>
                </a:ext>
              </a:extLst>
            </p:cNvPr>
            <p:cNvSpPr txBox="1"/>
            <p:nvPr/>
          </p:nvSpPr>
          <p:spPr>
            <a:xfrm>
              <a:off x="10538" y="5811"/>
              <a:ext cx="3045" cy="1532"/>
            </a:xfrm>
            <a:prstGeom prst="rect">
              <a:avLst/>
            </a:prstGeom>
          </p:spPr>
          <p:txBody>
            <a:bodyPr wrap="square">
              <a:spAutoFit/>
            </a:bodyPr>
            <a:lstStyle/>
            <a:p>
              <a:pPr algn="ctr">
                <a:lnSpc>
                  <a:spcPct val="150000"/>
                </a:lnSpc>
              </a:pPr>
              <a:r>
                <a:rPr sz="2400" dirty="0">
                  <a:solidFill>
                    <a:srgbClr val="4C699C"/>
                  </a:solidFill>
                  <a:latin typeface="Times New Roman" panose="02020603050405020304" pitchFamily="18" charset="0"/>
                  <a:cs typeface="Times New Roman" panose="02020603050405020304" pitchFamily="18" charset="0"/>
                </a:rPr>
                <a:t>ROC curves, confusion </a:t>
              </a:r>
            </a:p>
            <a:p>
              <a:pPr algn="ctr">
                <a:lnSpc>
                  <a:spcPct val="150000"/>
                </a:lnSpc>
              </a:pPr>
              <a:r>
                <a:rPr sz="2400" dirty="0">
                  <a:solidFill>
                    <a:srgbClr val="4C699C"/>
                  </a:solidFill>
                  <a:latin typeface="Times New Roman" panose="02020603050405020304" pitchFamily="18" charset="0"/>
                  <a:cs typeface="Times New Roman" panose="02020603050405020304" pitchFamily="18" charset="0"/>
                </a:rPr>
                <a:t>matrices, feature </a:t>
              </a:r>
            </a:p>
            <a:p>
              <a:pPr algn="ctr">
                <a:lnSpc>
                  <a:spcPct val="150000"/>
                </a:lnSpc>
              </a:pPr>
              <a:r>
                <a:rPr sz="2400" dirty="0">
                  <a:solidFill>
                    <a:srgbClr val="4C699C"/>
                  </a:solidFill>
                  <a:latin typeface="Times New Roman" panose="02020603050405020304" pitchFamily="18" charset="0"/>
                  <a:cs typeface="Times New Roman" panose="02020603050405020304" pitchFamily="18" charset="0"/>
                </a:rPr>
                <a:t>importance, decision</a:t>
              </a:r>
            </a:p>
            <a:p>
              <a:pPr algn="ctr">
                <a:lnSpc>
                  <a:spcPct val="150000"/>
                </a:lnSpc>
              </a:pPr>
              <a:r>
                <a:rPr lang="en-US" sz="2400" dirty="0">
                  <a:solidFill>
                    <a:srgbClr val="4C699C"/>
                  </a:solidFill>
                  <a:latin typeface="Times New Roman" panose="02020603050405020304" pitchFamily="18" charset="0"/>
                  <a:cs typeface="Times New Roman" panose="02020603050405020304" pitchFamily="18" charset="0"/>
                </a:rPr>
                <a:t>boundaries</a:t>
              </a:r>
              <a:r>
                <a:rPr sz="2400" dirty="0">
                  <a:solidFill>
                    <a:srgbClr val="4C699C"/>
                  </a:solidFill>
                  <a:latin typeface="Times New Roman" panose="02020603050405020304" pitchFamily="18" charset="0"/>
                  <a:cs typeface="Times New Roman" panose="02020603050405020304" pitchFamily="18" charset="0"/>
                </a:rPr>
                <a:t> </a:t>
              </a:r>
            </a:p>
          </p:txBody>
        </p:sp>
      </p:grpSp>
      <p:sp>
        <p:nvSpPr>
          <p:cNvPr id="22" name="TextBox 21">
            <a:extLst>
              <a:ext uri="{FF2B5EF4-FFF2-40B4-BE49-F238E27FC236}">
                <a16:creationId xmlns:a16="http://schemas.microsoft.com/office/drawing/2014/main" id="{092AAF6A-8CB8-7393-9C10-9693A8200A86}"/>
              </a:ext>
            </a:extLst>
          </p:cNvPr>
          <p:cNvSpPr txBox="1"/>
          <p:nvPr/>
        </p:nvSpPr>
        <p:spPr>
          <a:xfrm>
            <a:off x="157370" y="-116549"/>
            <a:ext cx="6094268" cy="891206"/>
          </a:xfrm>
          <a:prstGeom prst="rect">
            <a:avLst/>
          </a:prstGeom>
          <a:noFill/>
        </p:spPr>
        <p:txBody>
          <a:bodyPr wrap="square">
            <a:spAutoFit/>
          </a:bodyPr>
          <a:lstStyle/>
          <a:p>
            <a:pPr marL="571500" indent="-571500">
              <a:lnSpc>
                <a:spcPct val="150000"/>
              </a:lnSpc>
              <a:buFont typeface="Wingdings" panose="05000000000000000000" pitchFamily="2" charset="2"/>
              <a:buChar char="v"/>
            </a:pPr>
            <a:r>
              <a:rPr lang="en-GB" sz="4000" b="1" dirty="0">
                <a:solidFill>
                  <a:schemeClr val="tx1"/>
                </a:solidFill>
                <a:latin typeface="Verdana" panose="020B0604030504040204" pitchFamily="34" charset="0"/>
                <a:ea typeface="Verdana" panose="020B0604030504040204" pitchFamily="34" charset="0"/>
              </a:rPr>
              <a:t>Methodology</a:t>
            </a:r>
            <a:endParaRPr lang="en-US" altLang="en-US" sz="4000" b="1" dirty="0">
              <a:solidFill>
                <a:schemeClr val="tx1"/>
              </a:solidFill>
              <a:latin typeface="Verdana" panose="020B0604030504040204" pitchFamily="34" charset="0"/>
              <a:ea typeface="Verdana" panose="020B0604030504040204" pitchFamily="34" charset="0"/>
              <a:cs typeface="Times New Roman" panose="02020603050405020304" pitchFamily="18" charset="0"/>
            </a:endParaRPr>
          </a:p>
        </p:txBody>
      </p:sp>
    </p:spTree>
    <p:extLst>
      <p:ext uri="{BB962C8B-B14F-4D97-AF65-F5344CB8AC3E}">
        <p14:creationId xmlns:p14="http://schemas.microsoft.com/office/powerpoint/2010/main" val="133345635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1" name="Rectangle 30">
            <a:extLst>
              <a:ext uri="{FF2B5EF4-FFF2-40B4-BE49-F238E27FC236}">
                <a16:creationId xmlns:a16="http://schemas.microsoft.com/office/drawing/2014/main" id="{B9FF99BD-075F-4761-A995-6FC574BD25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A7B21A54-9BA3-4EA9-B460-5A829ADD905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6FA8F714-B9D8-488A-8CCA-E9948FF913A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466" y="643468"/>
            <a:ext cx="10905067" cy="5571066"/>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2" name="Table 1">
            <a:extLst>
              <a:ext uri="{FF2B5EF4-FFF2-40B4-BE49-F238E27FC236}">
                <a16:creationId xmlns:a16="http://schemas.microsoft.com/office/drawing/2014/main" id="{B34DDB79-84E7-859A-12F8-C6FD57B11186}"/>
              </a:ext>
            </a:extLst>
          </p:cNvPr>
          <p:cNvGraphicFramePr>
            <a:graphicFrameLocks noGrp="1"/>
          </p:cNvGraphicFramePr>
          <p:nvPr>
            <p:extLst>
              <p:ext uri="{D42A27DB-BD31-4B8C-83A1-F6EECF244321}">
                <p14:modId xmlns:p14="http://schemas.microsoft.com/office/powerpoint/2010/main" val="2655091269"/>
              </p:ext>
            </p:extLst>
          </p:nvPr>
        </p:nvGraphicFramePr>
        <p:xfrm>
          <a:off x="1120477" y="861064"/>
          <a:ext cx="9951043" cy="5135872"/>
        </p:xfrm>
        <a:graphic>
          <a:graphicData uri="http://schemas.openxmlformats.org/drawingml/2006/table">
            <a:tbl>
              <a:tblPr firstRow="1" bandRow="1">
                <a:solidFill>
                  <a:schemeClr val="bg1"/>
                </a:solidFill>
              </a:tblPr>
              <a:tblGrid>
                <a:gridCol w="3530992">
                  <a:extLst>
                    <a:ext uri="{9D8B030D-6E8A-4147-A177-3AD203B41FA5}">
                      <a16:colId xmlns:a16="http://schemas.microsoft.com/office/drawing/2014/main" val="2621769540"/>
                    </a:ext>
                  </a:extLst>
                </a:gridCol>
                <a:gridCol w="2773894">
                  <a:extLst>
                    <a:ext uri="{9D8B030D-6E8A-4147-A177-3AD203B41FA5}">
                      <a16:colId xmlns:a16="http://schemas.microsoft.com/office/drawing/2014/main" val="1030065217"/>
                    </a:ext>
                  </a:extLst>
                </a:gridCol>
                <a:gridCol w="3646157">
                  <a:extLst>
                    <a:ext uri="{9D8B030D-6E8A-4147-A177-3AD203B41FA5}">
                      <a16:colId xmlns:a16="http://schemas.microsoft.com/office/drawing/2014/main" val="2589012235"/>
                    </a:ext>
                  </a:extLst>
                </a:gridCol>
              </a:tblGrid>
              <a:tr h="517543">
                <a:tc gridSpan="3">
                  <a:txBody>
                    <a:bodyPr/>
                    <a:lstStyle/>
                    <a:p>
                      <a:pPr algn="ctr">
                        <a:buNone/>
                      </a:pPr>
                      <a:r>
                        <a:rPr lang="en-GB" sz="2800" b="1" cap="none" spc="0" dirty="0">
                          <a:solidFill>
                            <a:schemeClr val="bg1"/>
                          </a:solidFill>
                          <a:latin typeface="Verdana" panose="020B0604030504040204" pitchFamily="34" charset="0"/>
                          <a:ea typeface="Verdana" panose="020B0604030504040204" pitchFamily="34" charset="0"/>
                          <a:cs typeface="Times New Roman" panose="02020603050405020304" pitchFamily="18" charset="0"/>
                        </a:rPr>
                        <a:t>Model Performance Comparison</a:t>
                      </a:r>
                    </a:p>
                  </a:txBody>
                  <a:tcPr marL="115156" marR="86305" marT="88582" marB="88582" anchor="ctr">
                    <a:lnL w="19050" cap="flat" cmpd="sng" algn="ctr">
                      <a:solidFill>
                        <a:schemeClr val="tx1"/>
                      </a:solidFill>
                      <a:prstDash val="solid"/>
                    </a:lnL>
                    <a:lnR w="12700" cmpd="sng">
                      <a:noFill/>
                    </a:lnR>
                    <a:lnT w="19050" cap="flat" cmpd="sng" algn="ctr">
                      <a:solidFill>
                        <a:schemeClr val="tx1"/>
                      </a:solidFill>
                      <a:prstDash val="solid"/>
                    </a:lnT>
                    <a:lnB w="38100" cmpd="sng">
                      <a:noFill/>
                    </a:lnB>
                    <a:solidFill>
                      <a:schemeClr val="tx1"/>
                    </a:solidFill>
                  </a:tcPr>
                </a:tc>
                <a:tc hMerge="1">
                  <a:txBody>
                    <a:bodyPr/>
                    <a:lstStyle/>
                    <a:p>
                      <a:pPr algn="ctr">
                        <a:buNone/>
                      </a:pPr>
                      <a:endParaRPr lang="en-GB" sz="280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tile tx="0" ty="0" sx="100000" sy="100000" flip="none" algn="tl"/>
                    </a:blipFill>
                  </a:tcPr>
                </a:tc>
                <a:tc hMerge="1">
                  <a:txBody>
                    <a:bodyPr/>
                    <a:lstStyle/>
                    <a:p>
                      <a:pPr algn="ctr">
                        <a:buNone/>
                      </a:pPr>
                      <a:endParaRPr lang="en-GB" sz="280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tile tx="0" ty="0" sx="100000" sy="100000" flip="none" algn="tl"/>
                    </a:blipFill>
                  </a:tcPr>
                </a:tc>
                <a:extLst>
                  <a:ext uri="{0D108BD9-81ED-4DB2-BD59-A6C34878D82A}">
                    <a16:rowId xmlns:a16="http://schemas.microsoft.com/office/drawing/2014/main" val="4136589827"/>
                  </a:ext>
                </a:extLst>
              </a:tr>
              <a:tr h="741476">
                <a:tc>
                  <a:txBody>
                    <a:bodyPr/>
                    <a:lstStyle/>
                    <a:p>
                      <a:pPr algn="ctr">
                        <a:buNone/>
                      </a:pPr>
                      <a:r>
                        <a:rPr lang="en-GB" sz="2400" b="1" cap="none" spc="0">
                          <a:solidFill>
                            <a:schemeClr val="tx1"/>
                          </a:solidFill>
                          <a:latin typeface="Times New Roman" panose="02020603050405020304" pitchFamily="18" charset="0"/>
                          <a:cs typeface="Times New Roman" panose="02020603050405020304" pitchFamily="18" charset="0"/>
                        </a:rPr>
                        <a:t>Metric</a:t>
                      </a:r>
                      <a:endParaRPr lang="en-GB" sz="2400" cap="none" spc="0">
                        <a:solidFill>
                          <a:schemeClr val="tx1"/>
                        </a:solidFill>
                        <a:latin typeface="Times New Roman" panose="02020603050405020304" pitchFamily="18" charset="0"/>
                        <a:cs typeface="Times New Roman" panose="02020603050405020304" pitchFamily="18" charset="0"/>
                      </a:endParaRPr>
                    </a:p>
                  </a:txBody>
                  <a:tcPr marL="115156" marR="86305" marT="88582" marB="88582" anchor="ctr">
                    <a:lnL w="19050" cap="flat" cmpd="sng" algn="ctr">
                      <a:solidFill>
                        <a:schemeClr val="tx1"/>
                      </a:solidFill>
                      <a:prstDash val="solid"/>
                    </a:lnL>
                    <a:lnR w="19050" cap="flat" cmpd="sng" algn="ctr">
                      <a:solidFill>
                        <a:schemeClr val="tx1"/>
                      </a:solidFill>
                      <a:prstDash val="solid"/>
                    </a:lnR>
                    <a:lnT w="38100" cmpd="sng">
                      <a:noFill/>
                    </a:lnT>
                    <a:lnB w="6350" cap="flat" cmpd="sng" algn="ctr">
                      <a:solidFill>
                        <a:schemeClr val="tx1">
                          <a:lumMod val="50000"/>
                          <a:lumOff val="50000"/>
                        </a:schemeClr>
                      </a:solidFill>
                      <a:prstDash val="solid"/>
                    </a:lnB>
                    <a:noFill/>
                  </a:tcPr>
                </a:tc>
                <a:tc>
                  <a:txBody>
                    <a:bodyPr/>
                    <a:lstStyle/>
                    <a:p>
                      <a:pPr algn="ctr">
                        <a:buNone/>
                      </a:pPr>
                      <a:r>
                        <a:rPr lang="en-GB" sz="2400" b="1" cap="none" spc="0" dirty="0">
                          <a:solidFill>
                            <a:schemeClr val="tx1"/>
                          </a:solidFill>
                          <a:latin typeface="Times New Roman" panose="02020603050405020304" pitchFamily="18" charset="0"/>
                          <a:cs typeface="Times New Roman" panose="02020603050405020304" pitchFamily="18" charset="0"/>
                        </a:rPr>
                        <a:t>Multinomial Logistic Regression</a:t>
                      </a:r>
                      <a:endParaRPr lang="en-GB" sz="2400" cap="none" spc="0" dirty="0">
                        <a:solidFill>
                          <a:schemeClr val="tx1"/>
                        </a:solidFill>
                        <a:latin typeface="Times New Roman" panose="02020603050405020304" pitchFamily="18" charset="0"/>
                        <a:cs typeface="Times New Roman" panose="02020603050405020304" pitchFamily="18" charset="0"/>
                      </a:endParaRPr>
                    </a:p>
                  </a:txBody>
                  <a:tcPr marL="115156" marR="86305" marT="88582" marB="88582" anchor="ctr">
                    <a:lnL w="19050" cap="flat" cmpd="sng" algn="ctr">
                      <a:solidFill>
                        <a:schemeClr val="tx1"/>
                      </a:solidFill>
                      <a:prstDash val="solid"/>
                    </a:lnL>
                    <a:lnR w="19050" cap="flat" cmpd="sng" algn="ctr">
                      <a:solidFill>
                        <a:schemeClr val="tx1"/>
                      </a:solidFill>
                      <a:prstDash val="solid"/>
                    </a:lnR>
                    <a:lnT w="38100" cmpd="sng">
                      <a:noFill/>
                    </a:lnT>
                    <a:lnB w="6350" cap="flat" cmpd="sng" algn="ctr">
                      <a:solidFill>
                        <a:schemeClr val="tx1">
                          <a:lumMod val="50000"/>
                          <a:lumOff val="50000"/>
                        </a:schemeClr>
                      </a:solidFill>
                      <a:prstDash val="solid"/>
                    </a:lnB>
                    <a:noFill/>
                  </a:tcPr>
                </a:tc>
                <a:tc>
                  <a:txBody>
                    <a:bodyPr/>
                    <a:lstStyle/>
                    <a:p>
                      <a:pPr algn="ctr">
                        <a:buNone/>
                      </a:pPr>
                      <a:r>
                        <a:rPr lang="en-GB" sz="2400" b="1" cap="none" spc="0">
                          <a:solidFill>
                            <a:schemeClr val="tx1"/>
                          </a:solidFill>
                          <a:latin typeface="Times New Roman" panose="02020603050405020304" pitchFamily="18" charset="0"/>
                          <a:cs typeface="Times New Roman" panose="02020603050405020304" pitchFamily="18" charset="0"/>
                        </a:rPr>
                        <a:t>Linear Discriminant Analysis (LDA)</a:t>
                      </a:r>
                      <a:endParaRPr lang="en-GB" sz="2400" cap="none" spc="0">
                        <a:solidFill>
                          <a:schemeClr val="tx1"/>
                        </a:solidFill>
                        <a:latin typeface="Times New Roman" panose="02020603050405020304" pitchFamily="18" charset="0"/>
                        <a:cs typeface="Times New Roman" panose="02020603050405020304" pitchFamily="18" charset="0"/>
                      </a:endParaRPr>
                    </a:p>
                  </a:txBody>
                  <a:tcPr marL="115156" marR="86305" marT="88582" marB="88582" anchor="ctr">
                    <a:lnL w="19050" cap="flat" cmpd="sng" algn="ctr">
                      <a:solidFill>
                        <a:schemeClr val="tx1"/>
                      </a:solidFill>
                      <a:prstDash val="solid"/>
                    </a:lnL>
                    <a:lnR w="19050" cap="flat" cmpd="sng" algn="ctr">
                      <a:solidFill>
                        <a:schemeClr val="tx1"/>
                      </a:solidFill>
                      <a:prstDash val="solid"/>
                    </a:lnR>
                    <a:lnT w="38100" cmpd="sng">
                      <a:noFill/>
                    </a:lnT>
                    <a:lnB w="6350" cap="flat" cmpd="sng" algn="ctr">
                      <a:solidFill>
                        <a:schemeClr val="tx1">
                          <a:lumMod val="50000"/>
                          <a:lumOff val="50000"/>
                        </a:schemeClr>
                      </a:solidFill>
                      <a:prstDash val="solid"/>
                    </a:lnB>
                    <a:noFill/>
                  </a:tcPr>
                </a:tc>
                <a:extLst>
                  <a:ext uri="{0D108BD9-81ED-4DB2-BD59-A6C34878D82A}">
                    <a16:rowId xmlns:a16="http://schemas.microsoft.com/office/drawing/2014/main" val="2192607516"/>
                  </a:ext>
                </a:extLst>
              </a:tr>
              <a:tr h="472756">
                <a:tc>
                  <a:txBody>
                    <a:bodyPr/>
                    <a:lstStyle/>
                    <a:p>
                      <a:pPr algn="ctr">
                        <a:buNone/>
                      </a:pPr>
                      <a:r>
                        <a:rPr lang="en-GB" sz="2400" b="1" cap="none" spc="0">
                          <a:solidFill>
                            <a:schemeClr val="tx1"/>
                          </a:solidFill>
                          <a:latin typeface="Times New Roman" panose="02020603050405020304" pitchFamily="18" charset="0"/>
                          <a:cs typeface="Times New Roman" panose="02020603050405020304" pitchFamily="18" charset="0"/>
                        </a:rPr>
                        <a:t>Test Accuracy</a:t>
                      </a:r>
                      <a:endParaRPr lang="en-GB" sz="2400" cap="none" spc="0">
                        <a:solidFill>
                          <a:schemeClr val="tx1"/>
                        </a:solidFill>
                        <a:latin typeface="Times New Roman" panose="02020603050405020304" pitchFamily="18" charset="0"/>
                        <a:cs typeface="Times New Roman" panose="02020603050405020304" pitchFamily="18" charset="0"/>
                      </a:endParaRPr>
                    </a:p>
                  </a:txBody>
                  <a:tcPr marL="115156" marR="86305" marT="88582" marB="88582"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12700" cmpd="sng">
                      <a:noFill/>
                      <a:prstDash val="solid"/>
                    </a:lnB>
                    <a:solidFill>
                      <a:schemeClr val="bg1">
                        <a:lumMod val="85000"/>
                      </a:schemeClr>
                    </a:solidFill>
                  </a:tcPr>
                </a:tc>
                <a:tc>
                  <a:txBody>
                    <a:bodyPr/>
                    <a:lstStyle/>
                    <a:p>
                      <a:pPr algn="ctr">
                        <a:buNone/>
                      </a:pPr>
                      <a:r>
                        <a:rPr lang="en-GB" sz="2400" b="1" cap="none" spc="0">
                          <a:solidFill>
                            <a:schemeClr val="tx1"/>
                          </a:solidFill>
                          <a:latin typeface="Times New Roman" panose="02020603050405020304" pitchFamily="18" charset="0"/>
                          <a:cs typeface="Times New Roman" panose="02020603050405020304" pitchFamily="18" charset="0"/>
                        </a:rPr>
                        <a:t>0.77</a:t>
                      </a:r>
                      <a:endParaRPr lang="en-GB" sz="2400" cap="none" spc="0">
                        <a:solidFill>
                          <a:schemeClr val="tx1"/>
                        </a:solidFill>
                        <a:latin typeface="Times New Roman" panose="02020603050405020304" pitchFamily="18" charset="0"/>
                        <a:cs typeface="Times New Roman" panose="02020603050405020304" pitchFamily="18" charset="0"/>
                      </a:endParaRPr>
                    </a:p>
                  </a:txBody>
                  <a:tcPr marL="115156" marR="86305" marT="88582" marB="88582"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12700" cmpd="sng">
                      <a:noFill/>
                      <a:prstDash val="solid"/>
                    </a:lnB>
                    <a:solidFill>
                      <a:schemeClr val="bg1">
                        <a:lumMod val="85000"/>
                      </a:schemeClr>
                    </a:solidFill>
                  </a:tcPr>
                </a:tc>
                <a:tc>
                  <a:txBody>
                    <a:bodyPr/>
                    <a:lstStyle/>
                    <a:p>
                      <a:pPr algn="ctr">
                        <a:buNone/>
                      </a:pPr>
                      <a:r>
                        <a:rPr lang="en-GB" sz="2400" cap="none" spc="0">
                          <a:solidFill>
                            <a:schemeClr val="tx1"/>
                          </a:solidFill>
                          <a:latin typeface="Times New Roman" panose="02020603050405020304" pitchFamily="18" charset="0"/>
                          <a:cs typeface="Times New Roman" panose="02020603050405020304" pitchFamily="18" charset="0"/>
                        </a:rPr>
                        <a:t>0.76</a:t>
                      </a:r>
                    </a:p>
                  </a:txBody>
                  <a:tcPr marL="115156" marR="86305" marT="88582" marB="88582" anchor="ctr">
                    <a:lnL w="19050" cap="flat" cmpd="sng" algn="ctr">
                      <a:solidFill>
                        <a:schemeClr val="tx1"/>
                      </a:solidFill>
                      <a:prstDash val="solid"/>
                    </a:lnL>
                    <a:lnR w="12700" cmpd="sng">
                      <a:noFill/>
                      <a:prstDash val="solid"/>
                    </a:lnR>
                    <a:lnT w="6350" cap="flat" cmpd="sng" algn="ctr">
                      <a:solidFill>
                        <a:schemeClr val="tx1">
                          <a:lumMod val="50000"/>
                          <a:lumOff val="50000"/>
                        </a:schemeClr>
                      </a:solidFill>
                      <a:prstDash val="solid"/>
                    </a:lnT>
                    <a:lnB w="12700" cmpd="sng">
                      <a:noFill/>
                      <a:prstDash val="solid"/>
                    </a:lnB>
                    <a:solidFill>
                      <a:schemeClr val="bg1">
                        <a:lumMod val="85000"/>
                      </a:schemeClr>
                    </a:solidFill>
                  </a:tcPr>
                </a:tc>
                <a:extLst>
                  <a:ext uri="{0D108BD9-81ED-4DB2-BD59-A6C34878D82A}">
                    <a16:rowId xmlns:a16="http://schemas.microsoft.com/office/drawing/2014/main" val="4068344953"/>
                  </a:ext>
                </a:extLst>
              </a:tr>
              <a:tr h="472756">
                <a:tc>
                  <a:txBody>
                    <a:bodyPr/>
                    <a:lstStyle/>
                    <a:p>
                      <a:pPr algn="ctr">
                        <a:buNone/>
                      </a:pPr>
                      <a:r>
                        <a:rPr lang="en-GB" sz="2400" b="1" cap="none" spc="0" dirty="0">
                          <a:solidFill>
                            <a:schemeClr val="tx1"/>
                          </a:solidFill>
                          <a:latin typeface="Times New Roman" panose="02020603050405020304" pitchFamily="18" charset="0"/>
                          <a:cs typeface="Times New Roman" panose="02020603050405020304" pitchFamily="18" charset="0"/>
                        </a:rPr>
                        <a:t>Mean CV Accuracy (5-Fold)</a:t>
                      </a:r>
                      <a:endParaRPr lang="en-GB" sz="2400" cap="none" spc="0" dirty="0">
                        <a:solidFill>
                          <a:schemeClr val="tx1"/>
                        </a:solidFill>
                        <a:latin typeface="Times New Roman" panose="02020603050405020304" pitchFamily="18" charset="0"/>
                        <a:cs typeface="Times New Roman" panose="02020603050405020304" pitchFamily="18" charset="0"/>
                      </a:endParaRPr>
                    </a:p>
                  </a:txBody>
                  <a:tcPr marL="115156" marR="86305" marT="88582" marB="88582" anchor="ctr">
                    <a:lnL w="19050" cap="flat" cmpd="sng" algn="ctr">
                      <a:solidFill>
                        <a:schemeClr val="tx1"/>
                      </a:solidFill>
                      <a:prstDash val="solid"/>
                    </a:lnL>
                    <a:lnR w="19050" cap="flat" cmpd="sng" algn="ctr">
                      <a:solidFill>
                        <a:schemeClr val="tx1"/>
                      </a:solidFill>
                      <a:prstDash val="solid"/>
                    </a:lnR>
                    <a:lnT w="12700" cmpd="sng">
                      <a:noFill/>
                      <a:prstDash val="solid"/>
                    </a:lnT>
                    <a:lnB w="6350" cap="flat" cmpd="sng" algn="ctr">
                      <a:solidFill>
                        <a:schemeClr val="tx1">
                          <a:lumMod val="50000"/>
                          <a:lumOff val="50000"/>
                        </a:schemeClr>
                      </a:solidFill>
                      <a:prstDash val="solid"/>
                    </a:lnB>
                    <a:noFill/>
                  </a:tcPr>
                </a:tc>
                <a:tc>
                  <a:txBody>
                    <a:bodyPr/>
                    <a:lstStyle/>
                    <a:p>
                      <a:pPr algn="ctr">
                        <a:buNone/>
                      </a:pPr>
                      <a:r>
                        <a:rPr lang="en-GB" sz="2400" b="1" cap="none" spc="0" dirty="0">
                          <a:solidFill>
                            <a:schemeClr val="tx1"/>
                          </a:solidFill>
                          <a:latin typeface="Times New Roman" panose="02020603050405020304" pitchFamily="18" charset="0"/>
                          <a:cs typeface="Times New Roman" panose="02020603050405020304" pitchFamily="18" charset="0"/>
                        </a:rPr>
                        <a:t>0.7652 ± 0.0174</a:t>
                      </a:r>
                    </a:p>
                  </a:txBody>
                  <a:tcPr marL="115156" marR="86305" marT="88582" marB="88582" anchor="ctr">
                    <a:lnL w="19050" cap="flat" cmpd="sng" algn="ctr">
                      <a:solidFill>
                        <a:schemeClr val="tx1"/>
                      </a:solidFill>
                      <a:prstDash val="solid"/>
                    </a:lnL>
                    <a:lnR w="19050" cap="flat" cmpd="sng" algn="ctr">
                      <a:solidFill>
                        <a:schemeClr val="tx1"/>
                      </a:solidFill>
                      <a:prstDash val="solid"/>
                    </a:lnR>
                    <a:lnT w="12700" cmpd="sng">
                      <a:noFill/>
                      <a:prstDash val="solid"/>
                    </a:lnT>
                    <a:lnB w="6350" cap="flat" cmpd="sng" algn="ctr">
                      <a:solidFill>
                        <a:schemeClr val="tx1">
                          <a:lumMod val="50000"/>
                          <a:lumOff val="50000"/>
                        </a:schemeClr>
                      </a:solidFill>
                      <a:prstDash val="solid"/>
                    </a:lnB>
                    <a:noFill/>
                  </a:tcPr>
                </a:tc>
                <a:tc>
                  <a:txBody>
                    <a:bodyPr/>
                    <a:lstStyle/>
                    <a:p>
                      <a:pPr algn="ctr">
                        <a:buNone/>
                      </a:pPr>
                      <a:r>
                        <a:rPr lang="en-GB" sz="2400" b="0" cap="none" spc="0" dirty="0">
                          <a:solidFill>
                            <a:schemeClr val="tx1"/>
                          </a:solidFill>
                          <a:latin typeface="Times New Roman" panose="02020603050405020304" pitchFamily="18" charset="0"/>
                          <a:cs typeface="Times New Roman" panose="02020603050405020304" pitchFamily="18" charset="0"/>
                        </a:rPr>
                        <a:t>0.7584 ± 0.0132</a:t>
                      </a:r>
                    </a:p>
                  </a:txBody>
                  <a:tcPr marL="115156" marR="86305" marT="88582" marB="88582" anchor="ctr">
                    <a:lnL w="19050" cap="flat" cmpd="sng" algn="ctr">
                      <a:solidFill>
                        <a:schemeClr val="tx1"/>
                      </a:solidFill>
                      <a:prstDash val="solid"/>
                    </a:lnL>
                    <a:lnR w="19050" cap="flat" cmpd="sng" algn="ctr">
                      <a:solidFill>
                        <a:schemeClr val="tx1"/>
                      </a:solidFill>
                      <a:prstDash val="solid"/>
                    </a:lnR>
                    <a:lnT w="12700" cmpd="sng">
                      <a:noFill/>
                      <a:prstDash val="solid"/>
                    </a:lnT>
                    <a:lnB w="6350" cap="flat" cmpd="sng" algn="ctr">
                      <a:solidFill>
                        <a:schemeClr val="tx1">
                          <a:lumMod val="50000"/>
                          <a:lumOff val="50000"/>
                        </a:schemeClr>
                      </a:solidFill>
                      <a:prstDash val="solid"/>
                    </a:lnB>
                    <a:noFill/>
                  </a:tcPr>
                </a:tc>
                <a:extLst>
                  <a:ext uri="{0D108BD9-81ED-4DB2-BD59-A6C34878D82A}">
                    <a16:rowId xmlns:a16="http://schemas.microsoft.com/office/drawing/2014/main" val="3182434770"/>
                  </a:ext>
                </a:extLst>
              </a:tr>
              <a:tr h="472756">
                <a:tc>
                  <a:txBody>
                    <a:bodyPr/>
                    <a:lstStyle/>
                    <a:p>
                      <a:pPr algn="ctr">
                        <a:buNone/>
                      </a:pPr>
                      <a:r>
                        <a:rPr lang="en-GB" sz="2400" b="1" cap="none" spc="0">
                          <a:solidFill>
                            <a:schemeClr val="tx1"/>
                          </a:solidFill>
                          <a:latin typeface="Times New Roman" panose="02020603050405020304" pitchFamily="18" charset="0"/>
                          <a:cs typeface="Times New Roman" panose="02020603050405020304" pitchFamily="18" charset="0"/>
                        </a:rPr>
                        <a:t>Log Loss</a:t>
                      </a:r>
                      <a:r>
                        <a:rPr lang="en-GB" sz="2400" cap="none" spc="0">
                          <a:solidFill>
                            <a:schemeClr val="tx1"/>
                          </a:solidFill>
                          <a:latin typeface="Times New Roman" panose="02020603050405020304" pitchFamily="18" charset="0"/>
                          <a:cs typeface="Times New Roman" panose="02020603050405020304" pitchFamily="18" charset="0"/>
                        </a:rPr>
                        <a:t> (↓ better)</a:t>
                      </a:r>
                    </a:p>
                  </a:txBody>
                  <a:tcPr marL="115156" marR="86305" marT="88582" marB="88582"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12700" cmpd="sng">
                      <a:noFill/>
                      <a:prstDash val="solid"/>
                    </a:lnB>
                    <a:solidFill>
                      <a:schemeClr val="bg1">
                        <a:lumMod val="85000"/>
                      </a:schemeClr>
                    </a:solidFill>
                  </a:tcPr>
                </a:tc>
                <a:tc>
                  <a:txBody>
                    <a:bodyPr/>
                    <a:lstStyle/>
                    <a:p>
                      <a:pPr algn="ctr">
                        <a:buNone/>
                      </a:pPr>
                      <a:r>
                        <a:rPr lang="en-GB" sz="2400" b="1" cap="none" spc="0" dirty="0">
                          <a:solidFill>
                            <a:schemeClr val="tx1"/>
                          </a:solidFill>
                          <a:latin typeface="Times New Roman" panose="02020603050405020304" pitchFamily="18" charset="0"/>
                          <a:cs typeface="Times New Roman" panose="02020603050405020304" pitchFamily="18" charset="0"/>
                        </a:rPr>
                        <a:t>0.5846</a:t>
                      </a:r>
                      <a:endParaRPr lang="en-GB" sz="2400" cap="none" spc="0" dirty="0">
                        <a:solidFill>
                          <a:schemeClr val="tx1"/>
                        </a:solidFill>
                        <a:latin typeface="Times New Roman" panose="02020603050405020304" pitchFamily="18" charset="0"/>
                        <a:cs typeface="Times New Roman" panose="02020603050405020304" pitchFamily="18" charset="0"/>
                      </a:endParaRPr>
                    </a:p>
                  </a:txBody>
                  <a:tcPr marL="115156" marR="86305" marT="88582" marB="88582"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12700" cmpd="sng">
                      <a:noFill/>
                      <a:prstDash val="solid"/>
                    </a:lnB>
                    <a:solidFill>
                      <a:schemeClr val="bg1">
                        <a:lumMod val="85000"/>
                      </a:schemeClr>
                    </a:solidFill>
                  </a:tcPr>
                </a:tc>
                <a:tc>
                  <a:txBody>
                    <a:bodyPr/>
                    <a:lstStyle/>
                    <a:p>
                      <a:pPr algn="ctr">
                        <a:buNone/>
                      </a:pPr>
                      <a:r>
                        <a:rPr lang="en-GB" sz="2400" cap="none" spc="0">
                          <a:solidFill>
                            <a:schemeClr val="tx1"/>
                          </a:solidFill>
                          <a:latin typeface="Times New Roman" panose="02020603050405020304" pitchFamily="18" charset="0"/>
                          <a:cs typeface="Times New Roman" panose="02020603050405020304" pitchFamily="18" charset="0"/>
                        </a:rPr>
                        <a:t>0.6409</a:t>
                      </a:r>
                    </a:p>
                  </a:txBody>
                  <a:tcPr marL="115156" marR="86305" marT="88582" marB="88582" anchor="ctr">
                    <a:lnL w="19050" cap="flat" cmpd="sng" algn="ctr">
                      <a:solidFill>
                        <a:schemeClr val="tx1"/>
                      </a:solidFill>
                      <a:prstDash val="solid"/>
                    </a:lnL>
                    <a:lnR w="12700" cmpd="sng">
                      <a:noFill/>
                      <a:prstDash val="solid"/>
                    </a:lnR>
                    <a:lnT w="6350" cap="flat" cmpd="sng" algn="ctr">
                      <a:solidFill>
                        <a:schemeClr val="tx1">
                          <a:lumMod val="50000"/>
                          <a:lumOff val="50000"/>
                        </a:schemeClr>
                      </a:solidFill>
                      <a:prstDash val="solid"/>
                    </a:lnT>
                    <a:lnB w="12700" cmpd="sng">
                      <a:noFill/>
                      <a:prstDash val="solid"/>
                    </a:lnB>
                    <a:solidFill>
                      <a:schemeClr val="bg1">
                        <a:lumMod val="85000"/>
                      </a:schemeClr>
                    </a:solidFill>
                  </a:tcPr>
                </a:tc>
                <a:extLst>
                  <a:ext uri="{0D108BD9-81ED-4DB2-BD59-A6C34878D82A}">
                    <a16:rowId xmlns:a16="http://schemas.microsoft.com/office/drawing/2014/main" val="227435229"/>
                  </a:ext>
                </a:extLst>
              </a:tr>
              <a:tr h="472756">
                <a:tc>
                  <a:txBody>
                    <a:bodyPr/>
                    <a:lstStyle/>
                    <a:p>
                      <a:pPr algn="ctr">
                        <a:buNone/>
                      </a:pPr>
                      <a:r>
                        <a:rPr lang="en-GB" sz="2400" b="1" cap="none" spc="0">
                          <a:solidFill>
                            <a:schemeClr val="tx1"/>
                          </a:solidFill>
                          <a:latin typeface="Times New Roman" panose="02020603050405020304" pitchFamily="18" charset="0"/>
                          <a:cs typeface="Times New Roman" panose="02020603050405020304" pitchFamily="18" charset="0"/>
                        </a:rPr>
                        <a:t>ROC–AUC (OvR)</a:t>
                      </a:r>
                      <a:endParaRPr lang="en-GB" sz="2400" cap="none" spc="0">
                        <a:solidFill>
                          <a:schemeClr val="tx1"/>
                        </a:solidFill>
                        <a:latin typeface="Times New Roman" panose="02020603050405020304" pitchFamily="18" charset="0"/>
                        <a:cs typeface="Times New Roman" panose="02020603050405020304" pitchFamily="18" charset="0"/>
                      </a:endParaRPr>
                    </a:p>
                  </a:txBody>
                  <a:tcPr marL="115156" marR="86305" marT="88582" marB="88582" anchor="ctr">
                    <a:lnL w="19050" cap="flat" cmpd="sng" algn="ctr">
                      <a:solidFill>
                        <a:schemeClr val="tx1"/>
                      </a:solidFill>
                      <a:prstDash val="solid"/>
                    </a:lnL>
                    <a:lnR w="19050" cap="flat" cmpd="sng" algn="ctr">
                      <a:solidFill>
                        <a:schemeClr val="tx1"/>
                      </a:solidFill>
                      <a:prstDash val="solid"/>
                    </a:lnR>
                    <a:lnT w="12700" cmpd="sng">
                      <a:noFill/>
                      <a:prstDash val="solid"/>
                    </a:lnT>
                    <a:lnB w="6350" cap="flat" cmpd="sng" algn="ctr">
                      <a:solidFill>
                        <a:schemeClr val="tx1">
                          <a:lumMod val="50000"/>
                          <a:lumOff val="50000"/>
                        </a:schemeClr>
                      </a:solidFill>
                      <a:prstDash val="solid"/>
                    </a:lnB>
                    <a:noFill/>
                  </a:tcPr>
                </a:tc>
                <a:tc>
                  <a:txBody>
                    <a:bodyPr/>
                    <a:lstStyle/>
                    <a:p>
                      <a:pPr algn="ctr">
                        <a:buNone/>
                      </a:pPr>
                      <a:r>
                        <a:rPr lang="en-GB" sz="2400" b="1" cap="none" spc="0">
                          <a:solidFill>
                            <a:schemeClr val="tx1"/>
                          </a:solidFill>
                          <a:latin typeface="Times New Roman" panose="02020603050405020304" pitchFamily="18" charset="0"/>
                          <a:cs typeface="Times New Roman" panose="02020603050405020304" pitchFamily="18" charset="0"/>
                        </a:rPr>
                        <a:t>0.8779</a:t>
                      </a:r>
                      <a:endParaRPr lang="en-GB" sz="2400" cap="none" spc="0">
                        <a:solidFill>
                          <a:schemeClr val="tx1"/>
                        </a:solidFill>
                        <a:latin typeface="Times New Roman" panose="02020603050405020304" pitchFamily="18" charset="0"/>
                        <a:cs typeface="Times New Roman" panose="02020603050405020304" pitchFamily="18" charset="0"/>
                      </a:endParaRPr>
                    </a:p>
                  </a:txBody>
                  <a:tcPr marL="115156" marR="86305" marT="88582" marB="88582" anchor="ctr">
                    <a:lnL w="19050" cap="flat" cmpd="sng" algn="ctr">
                      <a:solidFill>
                        <a:schemeClr val="tx1"/>
                      </a:solidFill>
                      <a:prstDash val="solid"/>
                    </a:lnL>
                    <a:lnR w="19050" cap="flat" cmpd="sng" algn="ctr">
                      <a:solidFill>
                        <a:schemeClr val="tx1"/>
                      </a:solidFill>
                      <a:prstDash val="solid"/>
                    </a:lnR>
                    <a:lnT w="12700" cmpd="sng">
                      <a:noFill/>
                      <a:prstDash val="solid"/>
                    </a:lnT>
                    <a:lnB w="6350" cap="flat" cmpd="sng" algn="ctr">
                      <a:solidFill>
                        <a:schemeClr val="tx1">
                          <a:lumMod val="50000"/>
                          <a:lumOff val="50000"/>
                        </a:schemeClr>
                      </a:solidFill>
                      <a:prstDash val="solid"/>
                    </a:lnB>
                    <a:noFill/>
                  </a:tcPr>
                </a:tc>
                <a:tc>
                  <a:txBody>
                    <a:bodyPr/>
                    <a:lstStyle/>
                    <a:p>
                      <a:pPr algn="ctr">
                        <a:buNone/>
                      </a:pPr>
                      <a:r>
                        <a:rPr lang="en-GB" sz="2400" cap="none" spc="0">
                          <a:solidFill>
                            <a:schemeClr val="tx1"/>
                          </a:solidFill>
                          <a:latin typeface="Times New Roman" panose="02020603050405020304" pitchFamily="18" charset="0"/>
                          <a:cs typeface="Times New Roman" panose="02020603050405020304" pitchFamily="18" charset="0"/>
                        </a:rPr>
                        <a:t>0.8696</a:t>
                      </a:r>
                    </a:p>
                  </a:txBody>
                  <a:tcPr marL="115156" marR="86305" marT="88582" marB="88582" anchor="ctr">
                    <a:lnL w="19050" cap="flat" cmpd="sng" algn="ctr">
                      <a:solidFill>
                        <a:schemeClr val="tx1"/>
                      </a:solidFill>
                      <a:prstDash val="solid"/>
                    </a:lnL>
                    <a:lnR w="19050" cap="flat" cmpd="sng" algn="ctr">
                      <a:solidFill>
                        <a:schemeClr val="tx1"/>
                      </a:solidFill>
                      <a:prstDash val="solid"/>
                    </a:lnR>
                    <a:lnT w="12700" cmpd="sng">
                      <a:noFill/>
                      <a:prstDash val="solid"/>
                    </a:lnT>
                    <a:lnB w="6350" cap="flat" cmpd="sng" algn="ctr">
                      <a:solidFill>
                        <a:schemeClr val="tx1">
                          <a:lumMod val="50000"/>
                          <a:lumOff val="50000"/>
                        </a:schemeClr>
                      </a:solidFill>
                      <a:prstDash val="solid"/>
                    </a:lnB>
                    <a:noFill/>
                  </a:tcPr>
                </a:tc>
                <a:extLst>
                  <a:ext uri="{0D108BD9-81ED-4DB2-BD59-A6C34878D82A}">
                    <a16:rowId xmlns:a16="http://schemas.microsoft.com/office/drawing/2014/main" val="1651485319"/>
                  </a:ext>
                </a:extLst>
              </a:tr>
              <a:tr h="472756">
                <a:tc>
                  <a:txBody>
                    <a:bodyPr/>
                    <a:lstStyle/>
                    <a:p>
                      <a:pPr algn="ctr">
                        <a:buNone/>
                      </a:pPr>
                      <a:r>
                        <a:rPr lang="en-GB" sz="2400" b="1" cap="none" spc="0">
                          <a:solidFill>
                            <a:schemeClr val="tx1"/>
                          </a:solidFill>
                          <a:latin typeface="Times New Roman" panose="02020603050405020304" pitchFamily="18" charset="0"/>
                          <a:cs typeface="Times New Roman" panose="02020603050405020304" pitchFamily="18" charset="0"/>
                        </a:rPr>
                        <a:t>Training Time (seconds)</a:t>
                      </a:r>
                      <a:endParaRPr lang="en-GB" sz="2400" cap="none" spc="0">
                        <a:solidFill>
                          <a:schemeClr val="tx1"/>
                        </a:solidFill>
                        <a:latin typeface="Times New Roman" panose="02020603050405020304" pitchFamily="18" charset="0"/>
                        <a:cs typeface="Times New Roman" panose="02020603050405020304" pitchFamily="18" charset="0"/>
                      </a:endParaRPr>
                    </a:p>
                  </a:txBody>
                  <a:tcPr marL="115156" marR="86305" marT="88582" marB="88582"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12700" cmpd="sng">
                      <a:noFill/>
                      <a:prstDash val="solid"/>
                    </a:lnB>
                    <a:solidFill>
                      <a:schemeClr val="bg1">
                        <a:lumMod val="85000"/>
                      </a:schemeClr>
                    </a:solidFill>
                  </a:tcPr>
                </a:tc>
                <a:tc>
                  <a:txBody>
                    <a:bodyPr/>
                    <a:lstStyle/>
                    <a:p>
                      <a:pPr algn="ctr">
                        <a:buNone/>
                      </a:pPr>
                      <a:r>
                        <a:rPr lang="en-GB" sz="2400" cap="none" spc="0">
                          <a:solidFill>
                            <a:schemeClr val="tx1"/>
                          </a:solidFill>
                          <a:latin typeface="Times New Roman" panose="02020603050405020304" pitchFamily="18" charset="0"/>
                          <a:cs typeface="Times New Roman" panose="02020603050405020304" pitchFamily="18" charset="0"/>
                        </a:rPr>
                        <a:t>0.055 s</a:t>
                      </a:r>
                    </a:p>
                  </a:txBody>
                  <a:tcPr marL="115156" marR="86305" marT="88582" marB="88582"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12700" cmpd="sng">
                      <a:noFill/>
                      <a:prstDash val="solid"/>
                    </a:lnB>
                    <a:solidFill>
                      <a:schemeClr val="bg1">
                        <a:lumMod val="85000"/>
                      </a:schemeClr>
                    </a:solidFill>
                  </a:tcPr>
                </a:tc>
                <a:tc>
                  <a:txBody>
                    <a:bodyPr/>
                    <a:lstStyle/>
                    <a:p>
                      <a:pPr algn="ctr">
                        <a:buNone/>
                      </a:pPr>
                      <a:r>
                        <a:rPr lang="en-GB" sz="2400" b="1" cap="none" spc="0">
                          <a:solidFill>
                            <a:schemeClr val="tx1"/>
                          </a:solidFill>
                          <a:latin typeface="Times New Roman" panose="02020603050405020304" pitchFamily="18" charset="0"/>
                          <a:cs typeface="Times New Roman" panose="02020603050405020304" pitchFamily="18" charset="0"/>
                        </a:rPr>
                        <a:t>0.013 s</a:t>
                      </a:r>
                      <a:endParaRPr lang="en-GB" sz="2400" cap="none" spc="0">
                        <a:solidFill>
                          <a:schemeClr val="tx1"/>
                        </a:solidFill>
                        <a:latin typeface="Times New Roman" panose="02020603050405020304" pitchFamily="18" charset="0"/>
                        <a:cs typeface="Times New Roman" panose="02020603050405020304" pitchFamily="18" charset="0"/>
                      </a:endParaRPr>
                    </a:p>
                  </a:txBody>
                  <a:tcPr marL="115156" marR="86305" marT="88582" marB="88582" anchor="ctr">
                    <a:lnL w="19050" cap="flat" cmpd="sng" algn="ctr">
                      <a:solidFill>
                        <a:schemeClr val="tx1"/>
                      </a:solidFill>
                      <a:prstDash val="solid"/>
                    </a:lnL>
                    <a:lnR w="12700" cmpd="sng">
                      <a:noFill/>
                      <a:prstDash val="solid"/>
                    </a:lnR>
                    <a:lnT w="6350" cap="flat" cmpd="sng" algn="ctr">
                      <a:solidFill>
                        <a:schemeClr val="tx1">
                          <a:lumMod val="50000"/>
                          <a:lumOff val="50000"/>
                        </a:schemeClr>
                      </a:solidFill>
                      <a:prstDash val="solid"/>
                    </a:lnT>
                    <a:lnB w="12700" cmpd="sng">
                      <a:noFill/>
                      <a:prstDash val="solid"/>
                    </a:lnB>
                    <a:solidFill>
                      <a:schemeClr val="bg1">
                        <a:lumMod val="85000"/>
                      </a:schemeClr>
                    </a:solidFill>
                  </a:tcPr>
                </a:tc>
                <a:extLst>
                  <a:ext uri="{0D108BD9-81ED-4DB2-BD59-A6C34878D82A}">
                    <a16:rowId xmlns:a16="http://schemas.microsoft.com/office/drawing/2014/main" val="839162085"/>
                  </a:ext>
                </a:extLst>
              </a:tr>
              <a:tr h="472756">
                <a:tc>
                  <a:txBody>
                    <a:bodyPr/>
                    <a:lstStyle/>
                    <a:p>
                      <a:pPr algn="ctr">
                        <a:buNone/>
                      </a:pPr>
                      <a:r>
                        <a:rPr lang="en-GB" sz="2400" b="1" cap="none" spc="0">
                          <a:solidFill>
                            <a:schemeClr val="tx1"/>
                          </a:solidFill>
                          <a:latin typeface="Times New Roman" panose="02020603050405020304" pitchFamily="18" charset="0"/>
                          <a:cs typeface="Times New Roman" panose="02020603050405020304" pitchFamily="18" charset="0"/>
                        </a:rPr>
                        <a:t>Weighted Avg F1-Score</a:t>
                      </a:r>
                      <a:endParaRPr lang="en-GB" sz="2400" cap="none" spc="0">
                        <a:solidFill>
                          <a:schemeClr val="tx1"/>
                        </a:solidFill>
                        <a:latin typeface="Times New Roman" panose="02020603050405020304" pitchFamily="18" charset="0"/>
                        <a:cs typeface="Times New Roman" panose="02020603050405020304" pitchFamily="18" charset="0"/>
                      </a:endParaRPr>
                    </a:p>
                  </a:txBody>
                  <a:tcPr marL="115156" marR="86305" marT="88582" marB="88582" anchor="ctr">
                    <a:lnL w="19050" cap="flat" cmpd="sng" algn="ctr">
                      <a:solidFill>
                        <a:schemeClr val="tx1"/>
                      </a:solidFill>
                      <a:prstDash val="solid"/>
                    </a:lnL>
                    <a:lnR w="19050" cap="flat" cmpd="sng" algn="ctr">
                      <a:solidFill>
                        <a:schemeClr val="tx1"/>
                      </a:solidFill>
                      <a:prstDash val="solid"/>
                    </a:lnR>
                    <a:lnT w="12700" cmpd="sng">
                      <a:noFill/>
                      <a:prstDash val="solid"/>
                    </a:lnT>
                    <a:lnB w="19050" cap="flat" cmpd="sng" algn="ctr">
                      <a:solidFill>
                        <a:schemeClr val="tx1"/>
                      </a:solidFill>
                      <a:prstDash val="solid"/>
                    </a:lnB>
                    <a:noFill/>
                  </a:tcPr>
                </a:tc>
                <a:tc>
                  <a:txBody>
                    <a:bodyPr/>
                    <a:lstStyle/>
                    <a:p>
                      <a:pPr algn="ctr">
                        <a:buNone/>
                      </a:pPr>
                      <a:r>
                        <a:rPr lang="en-GB" sz="2400" b="1" cap="none" spc="0">
                          <a:solidFill>
                            <a:schemeClr val="tx1"/>
                          </a:solidFill>
                          <a:latin typeface="Times New Roman" panose="02020603050405020304" pitchFamily="18" charset="0"/>
                          <a:cs typeface="Times New Roman" panose="02020603050405020304" pitchFamily="18" charset="0"/>
                        </a:rPr>
                        <a:t>0.75</a:t>
                      </a:r>
                      <a:endParaRPr lang="en-GB" sz="2400" cap="none" spc="0">
                        <a:solidFill>
                          <a:schemeClr val="tx1"/>
                        </a:solidFill>
                        <a:latin typeface="Times New Roman" panose="02020603050405020304" pitchFamily="18" charset="0"/>
                        <a:cs typeface="Times New Roman" panose="02020603050405020304" pitchFamily="18" charset="0"/>
                      </a:endParaRPr>
                    </a:p>
                  </a:txBody>
                  <a:tcPr marL="115156" marR="86305" marT="88582" marB="88582" anchor="ctr">
                    <a:lnL w="19050" cap="flat" cmpd="sng" algn="ctr">
                      <a:solidFill>
                        <a:schemeClr val="tx1"/>
                      </a:solidFill>
                      <a:prstDash val="solid"/>
                    </a:lnL>
                    <a:lnR w="19050" cap="flat" cmpd="sng" algn="ctr">
                      <a:solidFill>
                        <a:schemeClr val="tx1"/>
                      </a:solidFill>
                      <a:prstDash val="solid"/>
                    </a:lnR>
                    <a:lnT w="12700" cmpd="sng">
                      <a:noFill/>
                      <a:prstDash val="solid"/>
                    </a:lnT>
                    <a:lnB w="19050" cap="flat" cmpd="sng" algn="ctr">
                      <a:solidFill>
                        <a:schemeClr val="tx1"/>
                      </a:solidFill>
                      <a:prstDash val="solid"/>
                    </a:lnB>
                    <a:noFill/>
                  </a:tcPr>
                </a:tc>
                <a:tc>
                  <a:txBody>
                    <a:bodyPr/>
                    <a:lstStyle/>
                    <a:p>
                      <a:pPr algn="ctr">
                        <a:buNone/>
                      </a:pPr>
                      <a:r>
                        <a:rPr lang="en-GB" sz="2400" cap="none" spc="0" dirty="0">
                          <a:solidFill>
                            <a:schemeClr val="tx1"/>
                          </a:solidFill>
                          <a:latin typeface="Times New Roman" panose="02020603050405020304" pitchFamily="18" charset="0"/>
                          <a:cs typeface="Times New Roman" panose="02020603050405020304" pitchFamily="18" charset="0"/>
                        </a:rPr>
                        <a:t>0.75</a:t>
                      </a:r>
                    </a:p>
                  </a:txBody>
                  <a:tcPr marL="115156" marR="86305" marT="88582" marB="88582" anchor="ctr">
                    <a:lnL w="19050" cap="flat" cmpd="sng" algn="ctr">
                      <a:solidFill>
                        <a:schemeClr val="tx1"/>
                      </a:solidFill>
                      <a:prstDash val="solid"/>
                    </a:lnL>
                    <a:lnR w="19050" cap="flat" cmpd="sng" algn="ctr">
                      <a:solidFill>
                        <a:schemeClr val="tx1"/>
                      </a:solidFill>
                      <a:prstDash val="solid"/>
                    </a:lnR>
                    <a:lnT w="12700" cmpd="sng">
                      <a:noFill/>
                      <a:prstDash val="solid"/>
                    </a:lnT>
                    <a:lnB w="19050" cap="flat" cmpd="sng" algn="ctr">
                      <a:solidFill>
                        <a:schemeClr val="tx1"/>
                      </a:solidFill>
                      <a:prstDash val="solid"/>
                    </a:lnB>
                    <a:noFill/>
                  </a:tcPr>
                </a:tc>
                <a:extLst>
                  <a:ext uri="{0D108BD9-81ED-4DB2-BD59-A6C34878D82A}">
                    <a16:rowId xmlns:a16="http://schemas.microsoft.com/office/drawing/2014/main" val="963622499"/>
                  </a:ext>
                </a:extLst>
              </a:tr>
            </a:tbl>
          </a:graphicData>
        </a:graphic>
      </p:graphicFrame>
    </p:spTree>
    <p:extLst>
      <p:ext uri="{BB962C8B-B14F-4D97-AF65-F5344CB8AC3E}">
        <p14:creationId xmlns:p14="http://schemas.microsoft.com/office/powerpoint/2010/main" val="16974876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B9FF99BD-075F-4761-A995-6FC574BD25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A7B21A54-9BA3-4EA9-B460-5A829ADD905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6FA8F714-B9D8-488A-8CCA-E9948FF913A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466" y="643468"/>
            <a:ext cx="10905067" cy="5571066"/>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3" name="Table 2">
            <a:extLst>
              <a:ext uri="{FF2B5EF4-FFF2-40B4-BE49-F238E27FC236}">
                <a16:creationId xmlns:a16="http://schemas.microsoft.com/office/drawing/2014/main" id="{8B04810D-7B1E-C920-E8ED-6E1D4A4E110A}"/>
              </a:ext>
            </a:extLst>
          </p:cNvPr>
          <p:cNvGraphicFramePr>
            <a:graphicFrameLocks noGrp="1"/>
          </p:cNvGraphicFramePr>
          <p:nvPr>
            <p:extLst>
              <p:ext uri="{D42A27DB-BD31-4B8C-83A1-F6EECF244321}">
                <p14:modId xmlns:p14="http://schemas.microsoft.com/office/powerpoint/2010/main" val="1782030391"/>
              </p:ext>
            </p:extLst>
          </p:nvPr>
        </p:nvGraphicFramePr>
        <p:xfrm>
          <a:off x="1120477" y="1222686"/>
          <a:ext cx="9951043" cy="4406485"/>
        </p:xfrm>
        <a:graphic>
          <a:graphicData uri="http://schemas.openxmlformats.org/drawingml/2006/table">
            <a:tbl>
              <a:tblPr firstRow="1" bandRow="1">
                <a:noFill/>
              </a:tblPr>
              <a:tblGrid>
                <a:gridCol w="2129114">
                  <a:extLst>
                    <a:ext uri="{9D8B030D-6E8A-4147-A177-3AD203B41FA5}">
                      <a16:colId xmlns:a16="http://schemas.microsoft.com/office/drawing/2014/main" val="2677045060"/>
                    </a:ext>
                  </a:extLst>
                </a:gridCol>
                <a:gridCol w="3744024">
                  <a:extLst>
                    <a:ext uri="{9D8B030D-6E8A-4147-A177-3AD203B41FA5}">
                      <a16:colId xmlns:a16="http://schemas.microsoft.com/office/drawing/2014/main" val="1981533462"/>
                    </a:ext>
                  </a:extLst>
                </a:gridCol>
                <a:gridCol w="1355723">
                  <a:extLst>
                    <a:ext uri="{9D8B030D-6E8A-4147-A177-3AD203B41FA5}">
                      <a16:colId xmlns:a16="http://schemas.microsoft.com/office/drawing/2014/main" val="1921389275"/>
                    </a:ext>
                  </a:extLst>
                </a:gridCol>
                <a:gridCol w="2722182">
                  <a:extLst>
                    <a:ext uri="{9D8B030D-6E8A-4147-A177-3AD203B41FA5}">
                      <a16:colId xmlns:a16="http://schemas.microsoft.com/office/drawing/2014/main" val="3808830256"/>
                    </a:ext>
                  </a:extLst>
                </a:gridCol>
              </a:tblGrid>
              <a:tr h="1040769">
                <a:tc gridSpan="4">
                  <a:txBody>
                    <a:bodyPr/>
                    <a:lstStyle/>
                    <a:p>
                      <a:pPr algn="ctr">
                        <a:buNone/>
                      </a:pPr>
                      <a:r>
                        <a:rPr lang="en-GB" sz="3200" b="1" cap="none" spc="0" dirty="0">
                          <a:solidFill>
                            <a:schemeClr val="bg1"/>
                          </a:solidFill>
                          <a:latin typeface="Verdana" panose="020B0604030504040204" pitchFamily="34" charset="0"/>
                          <a:ea typeface="Verdana" panose="020B0604030504040204" pitchFamily="34" charset="0"/>
                          <a:cs typeface="Times New Roman" panose="02020603050405020304" pitchFamily="18" charset="0"/>
                        </a:rPr>
                        <a:t>Class-wise Performance (F1-Score)</a:t>
                      </a:r>
                    </a:p>
                  </a:txBody>
                  <a:tcPr marL="161571" marR="115408" marT="230816" marB="2308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tc hMerge="1">
                  <a:txBody>
                    <a:bodyPr/>
                    <a:lstStyle/>
                    <a:p>
                      <a:pPr algn="ctr">
                        <a:buNone/>
                      </a:pPr>
                      <a:endParaRPr lang="en-GB" sz="320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tile tx="0" ty="0" sx="100000" sy="100000" flip="none" algn="tl"/>
                    </a:blipFill>
                  </a:tcPr>
                </a:tc>
                <a:tc hMerge="1">
                  <a:txBody>
                    <a:bodyPr/>
                    <a:lstStyle/>
                    <a:p>
                      <a:pPr algn="ctr">
                        <a:buNone/>
                      </a:pPr>
                      <a:endParaRPr lang="en-GB" sz="320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tile tx="0" ty="0" sx="100000" sy="100000" flip="none" algn="tl"/>
                    </a:blipFill>
                  </a:tcPr>
                </a:tc>
                <a:tc hMerge="1">
                  <a:txBody>
                    <a:bodyPr/>
                    <a:lstStyle/>
                    <a:p>
                      <a:pPr algn="ctr">
                        <a:buNone/>
                      </a:pPr>
                      <a:endParaRPr lang="en-GB" sz="320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tile tx="0" ty="0" sx="100000" sy="100000" flip="none" algn="tl"/>
                    </a:blipFill>
                  </a:tcPr>
                </a:tc>
                <a:extLst>
                  <a:ext uri="{0D108BD9-81ED-4DB2-BD59-A6C34878D82A}">
                    <a16:rowId xmlns:a16="http://schemas.microsoft.com/office/drawing/2014/main" val="955707099"/>
                  </a:ext>
                </a:extLst>
              </a:tr>
              <a:tr h="841429">
                <a:tc>
                  <a:txBody>
                    <a:bodyPr/>
                    <a:lstStyle/>
                    <a:p>
                      <a:pPr algn="ctr">
                        <a:buNone/>
                      </a:pPr>
                      <a:r>
                        <a:rPr lang="en-GB" sz="2800" b="1" cap="none" spc="0">
                          <a:solidFill>
                            <a:schemeClr val="tx1"/>
                          </a:solidFill>
                          <a:latin typeface="Times New Roman" panose="02020603050405020304" pitchFamily="18" charset="0"/>
                          <a:cs typeface="Times New Roman" panose="02020603050405020304" pitchFamily="18" charset="0"/>
                        </a:rPr>
                        <a:t>Class</a:t>
                      </a:r>
                      <a:endParaRPr lang="en-GB" sz="2800" cap="none" spc="0">
                        <a:solidFill>
                          <a:schemeClr val="tx1"/>
                        </a:solidFill>
                        <a:latin typeface="Times New Roman" panose="02020603050405020304" pitchFamily="18" charset="0"/>
                        <a:cs typeface="Times New Roman" panose="02020603050405020304" pitchFamily="18" charset="0"/>
                      </a:endParaRPr>
                    </a:p>
                  </a:txBody>
                  <a:tcPr marL="161571" marR="115408" marT="115408" marB="2308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GB" sz="2800" b="1" cap="none" spc="0">
                          <a:solidFill>
                            <a:schemeClr val="tx1"/>
                          </a:solidFill>
                          <a:latin typeface="Times New Roman" panose="02020603050405020304" pitchFamily="18" charset="0"/>
                          <a:cs typeface="Times New Roman" panose="02020603050405020304" pitchFamily="18" charset="0"/>
                        </a:rPr>
                        <a:t>Logistic Regression</a:t>
                      </a:r>
                      <a:endParaRPr lang="en-GB" sz="2800" cap="none" spc="0">
                        <a:solidFill>
                          <a:schemeClr val="tx1"/>
                        </a:solidFill>
                        <a:latin typeface="Times New Roman" panose="02020603050405020304" pitchFamily="18" charset="0"/>
                        <a:cs typeface="Times New Roman" panose="02020603050405020304" pitchFamily="18" charset="0"/>
                      </a:endParaRPr>
                    </a:p>
                  </a:txBody>
                  <a:tcPr marL="161571" marR="115408" marT="115408" marB="2308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GB" sz="2800" b="1" cap="none" spc="0">
                          <a:solidFill>
                            <a:schemeClr val="tx1"/>
                          </a:solidFill>
                          <a:latin typeface="Times New Roman" panose="02020603050405020304" pitchFamily="18" charset="0"/>
                          <a:cs typeface="Times New Roman" panose="02020603050405020304" pitchFamily="18" charset="0"/>
                        </a:rPr>
                        <a:t>LDA</a:t>
                      </a:r>
                      <a:endParaRPr lang="en-GB" sz="2800" cap="none" spc="0">
                        <a:solidFill>
                          <a:schemeClr val="tx1"/>
                        </a:solidFill>
                        <a:latin typeface="Times New Roman" panose="02020603050405020304" pitchFamily="18" charset="0"/>
                        <a:cs typeface="Times New Roman" panose="02020603050405020304" pitchFamily="18" charset="0"/>
                      </a:endParaRPr>
                    </a:p>
                  </a:txBody>
                  <a:tcPr marL="161571" marR="115408" marT="115408" marB="2308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GB" sz="2800" b="1" cap="none" spc="0">
                          <a:solidFill>
                            <a:schemeClr val="tx1"/>
                          </a:solidFill>
                          <a:latin typeface="Times New Roman" panose="02020603050405020304" pitchFamily="18" charset="0"/>
                          <a:cs typeface="Times New Roman" panose="02020603050405020304" pitchFamily="18" charset="0"/>
                        </a:rPr>
                        <a:t>Better Model</a:t>
                      </a:r>
                      <a:endParaRPr lang="en-GB" sz="2800" cap="none" spc="0">
                        <a:solidFill>
                          <a:schemeClr val="tx1"/>
                        </a:solidFill>
                        <a:latin typeface="Times New Roman" panose="02020603050405020304" pitchFamily="18" charset="0"/>
                        <a:cs typeface="Times New Roman" panose="02020603050405020304" pitchFamily="18" charset="0"/>
                      </a:endParaRPr>
                    </a:p>
                  </a:txBody>
                  <a:tcPr marL="161571" marR="115408" marT="115408" marB="2308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34957512"/>
                  </a:ext>
                </a:extLst>
              </a:tr>
              <a:tr h="841429">
                <a:tc>
                  <a:txBody>
                    <a:bodyPr/>
                    <a:lstStyle/>
                    <a:p>
                      <a:pPr algn="ctr">
                        <a:buNone/>
                      </a:pPr>
                      <a:r>
                        <a:rPr lang="en-GB" sz="2800" b="1" cap="none" spc="0">
                          <a:solidFill>
                            <a:schemeClr val="tx1"/>
                          </a:solidFill>
                          <a:latin typeface="Times New Roman" panose="02020603050405020304" pitchFamily="18" charset="0"/>
                          <a:cs typeface="Times New Roman" panose="02020603050405020304" pitchFamily="18" charset="0"/>
                        </a:rPr>
                        <a:t>Dropout</a:t>
                      </a:r>
                      <a:endParaRPr lang="en-GB" sz="2800" cap="none" spc="0">
                        <a:solidFill>
                          <a:schemeClr val="tx1"/>
                        </a:solidFill>
                        <a:latin typeface="Times New Roman" panose="02020603050405020304" pitchFamily="18" charset="0"/>
                        <a:cs typeface="Times New Roman" panose="02020603050405020304" pitchFamily="18" charset="0"/>
                      </a:endParaRPr>
                    </a:p>
                  </a:txBody>
                  <a:tcPr marL="161571" marR="115408" marT="115408" marB="2308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buNone/>
                      </a:pPr>
                      <a:r>
                        <a:rPr lang="en-GB" sz="2800" b="1" cap="none" spc="0">
                          <a:solidFill>
                            <a:schemeClr val="tx1"/>
                          </a:solidFill>
                          <a:latin typeface="Times New Roman" panose="02020603050405020304" pitchFamily="18" charset="0"/>
                          <a:cs typeface="Times New Roman" panose="02020603050405020304" pitchFamily="18" charset="0"/>
                        </a:rPr>
                        <a:t>0.78</a:t>
                      </a:r>
                      <a:endParaRPr lang="en-GB" sz="2800" cap="none" spc="0">
                        <a:solidFill>
                          <a:schemeClr val="tx1"/>
                        </a:solidFill>
                        <a:latin typeface="Times New Roman" panose="02020603050405020304" pitchFamily="18" charset="0"/>
                        <a:cs typeface="Times New Roman" panose="02020603050405020304" pitchFamily="18" charset="0"/>
                      </a:endParaRPr>
                    </a:p>
                  </a:txBody>
                  <a:tcPr marL="161571" marR="115408" marT="115408" marB="2308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buNone/>
                      </a:pPr>
                      <a:r>
                        <a:rPr lang="en-GB" sz="2800" cap="none" spc="0">
                          <a:solidFill>
                            <a:schemeClr val="tx1"/>
                          </a:solidFill>
                          <a:latin typeface="Times New Roman" panose="02020603050405020304" pitchFamily="18" charset="0"/>
                          <a:cs typeface="Times New Roman" panose="02020603050405020304" pitchFamily="18" charset="0"/>
                        </a:rPr>
                        <a:t>0.77</a:t>
                      </a:r>
                    </a:p>
                  </a:txBody>
                  <a:tcPr marL="161571" marR="115408" marT="115408" marB="2308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buNone/>
                      </a:pPr>
                      <a:r>
                        <a:rPr lang="en-GB" sz="2800" cap="none" spc="0" dirty="0">
                          <a:solidFill>
                            <a:schemeClr val="tx1"/>
                          </a:solidFill>
                          <a:latin typeface="Times New Roman" panose="02020603050405020304" pitchFamily="18" charset="0"/>
                          <a:cs typeface="Times New Roman" panose="02020603050405020304" pitchFamily="18" charset="0"/>
                        </a:rPr>
                        <a:t>Logit</a:t>
                      </a:r>
                    </a:p>
                  </a:txBody>
                  <a:tcPr marL="161571" marR="115408" marT="115408" marB="2308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319557166"/>
                  </a:ext>
                </a:extLst>
              </a:tr>
              <a:tr h="841429">
                <a:tc>
                  <a:txBody>
                    <a:bodyPr/>
                    <a:lstStyle/>
                    <a:p>
                      <a:pPr algn="ctr">
                        <a:buNone/>
                      </a:pPr>
                      <a:r>
                        <a:rPr lang="en-GB" sz="2800" b="1" cap="none" spc="0">
                          <a:solidFill>
                            <a:schemeClr val="tx1"/>
                          </a:solidFill>
                          <a:latin typeface="Times New Roman" panose="02020603050405020304" pitchFamily="18" charset="0"/>
                          <a:cs typeface="Times New Roman" panose="02020603050405020304" pitchFamily="18" charset="0"/>
                        </a:rPr>
                        <a:t>Enrolled</a:t>
                      </a:r>
                      <a:endParaRPr lang="en-GB" sz="2800" cap="none" spc="0">
                        <a:solidFill>
                          <a:schemeClr val="tx1"/>
                        </a:solidFill>
                        <a:latin typeface="Times New Roman" panose="02020603050405020304" pitchFamily="18" charset="0"/>
                        <a:cs typeface="Times New Roman" panose="02020603050405020304" pitchFamily="18" charset="0"/>
                      </a:endParaRPr>
                    </a:p>
                  </a:txBody>
                  <a:tcPr marL="161571" marR="115408" marT="115408" marB="2308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GB" sz="2800" cap="none" spc="0" dirty="0">
                          <a:solidFill>
                            <a:schemeClr val="tx1"/>
                          </a:solidFill>
                          <a:latin typeface="Times New Roman" panose="02020603050405020304" pitchFamily="18" charset="0"/>
                          <a:cs typeface="Times New Roman" panose="02020603050405020304" pitchFamily="18" charset="0"/>
                        </a:rPr>
                        <a:t>0.41</a:t>
                      </a:r>
                    </a:p>
                  </a:txBody>
                  <a:tcPr marL="161571" marR="115408" marT="115408" marB="2308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GB" sz="2800" b="1" cap="none" spc="0">
                          <a:solidFill>
                            <a:schemeClr val="tx1"/>
                          </a:solidFill>
                          <a:latin typeface="Times New Roman" panose="02020603050405020304" pitchFamily="18" charset="0"/>
                          <a:cs typeface="Times New Roman" panose="02020603050405020304" pitchFamily="18" charset="0"/>
                        </a:rPr>
                        <a:t>0.44</a:t>
                      </a:r>
                      <a:endParaRPr lang="en-GB" sz="2800" cap="none" spc="0">
                        <a:solidFill>
                          <a:schemeClr val="tx1"/>
                        </a:solidFill>
                        <a:latin typeface="Times New Roman" panose="02020603050405020304" pitchFamily="18" charset="0"/>
                        <a:cs typeface="Times New Roman" panose="02020603050405020304" pitchFamily="18" charset="0"/>
                      </a:endParaRPr>
                    </a:p>
                  </a:txBody>
                  <a:tcPr marL="161571" marR="115408" marT="115408" marB="2308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GB" sz="2800" cap="none" spc="0" dirty="0">
                          <a:solidFill>
                            <a:schemeClr val="tx1"/>
                          </a:solidFill>
                          <a:latin typeface="Times New Roman" panose="02020603050405020304" pitchFamily="18" charset="0"/>
                          <a:cs typeface="Times New Roman" panose="02020603050405020304" pitchFamily="18" charset="0"/>
                        </a:rPr>
                        <a:t>LDA</a:t>
                      </a:r>
                    </a:p>
                  </a:txBody>
                  <a:tcPr marL="161571" marR="115408" marT="115408" marB="2308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23862133"/>
                  </a:ext>
                </a:extLst>
              </a:tr>
              <a:tr h="841429">
                <a:tc>
                  <a:txBody>
                    <a:bodyPr/>
                    <a:lstStyle/>
                    <a:p>
                      <a:pPr algn="ctr">
                        <a:buNone/>
                      </a:pPr>
                      <a:r>
                        <a:rPr lang="en-GB" sz="2800" b="1" cap="none" spc="0">
                          <a:solidFill>
                            <a:schemeClr val="tx1"/>
                          </a:solidFill>
                          <a:latin typeface="Times New Roman" panose="02020603050405020304" pitchFamily="18" charset="0"/>
                          <a:cs typeface="Times New Roman" panose="02020603050405020304" pitchFamily="18" charset="0"/>
                        </a:rPr>
                        <a:t>Graduate</a:t>
                      </a:r>
                      <a:endParaRPr lang="en-GB" sz="2800" cap="none" spc="0">
                        <a:solidFill>
                          <a:schemeClr val="tx1"/>
                        </a:solidFill>
                        <a:latin typeface="Times New Roman" panose="02020603050405020304" pitchFamily="18" charset="0"/>
                        <a:cs typeface="Times New Roman" panose="02020603050405020304" pitchFamily="18" charset="0"/>
                      </a:endParaRPr>
                    </a:p>
                  </a:txBody>
                  <a:tcPr marL="161571" marR="115408" marT="115408" marB="2308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buNone/>
                      </a:pPr>
                      <a:r>
                        <a:rPr lang="en-GB" sz="2800" b="1" cap="none" spc="0">
                          <a:solidFill>
                            <a:schemeClr val="tx1"/>
                          </a:solidFill>
                          <a:latin typeface="Times New Roman" panose="02020603050405020304" pitchFamily="18" charset="0"/>
                          <a:cs typeface="Times New Roman" panose="02020603050405020304" pitchFamily="18" charset="0"/>
                        </a:rPr>
                        <a:t>0.86</a:t>
                      </a:r>
                      <a:endParaRPr lang="en-GB" sz="2800" cap="none" spc="0">
                        <a:solidFill>
                          <a:schemeClr val="tx1"/>
                        </a:solidFill>
                        <a:latin typeface="Times New Roman" panose="02020603050405020304" pitchFamily="18" charset="0"/>
                        <a:cs typeface="Times New Roman" panose="02020603050405020304" pitchFamily="18" charset="0"/>
                      </a:endParaRPr>
                    </a:p>
                  </a:txBody>
                  <a:tcPr marL="161571" marR="115408" marT="115408" marB="2308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buNone/>
                      </a:pPr>
                      <a:r>
                        <a:rPr lang="en-GB" sz="2800" cap="none" spc="0">
                          <a:solidFill>
                            <a:schemeClr val="tx1"/>
                          </a:solidFill>
                          <a:latin typeface="Times New Roman" panose="02020603050405020304" pitchFamily="18" charset="0"/>
                          <a:cs typeface="Times New Roman" panose="02020603050405020304" pitchFamily="18" charset="0"/>
                        </a:rPr>
                        <a:t>0.85</a:t>
                      </a:r>
                    </a:p>
                  </a:txBody>
                  <a:tcPr marL="161571" marR="115408" marT="115408" marB="2308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buNone/>
                      </a:pPr>
                      <a:r>
                        <a:rPr lang="en-GB" sz="2800" cap="none" spc="0" dirty="0">
                          <a:solidFill>
                            <a:schemeClr val="tx1"/>
                          </a:solidFill>
                          <a:latin typeface="Times New Roman" panose="02020603050405020304" pitchFamily="18" charset="0"/>
                          <a:cs typeface="Times New Roman" panose="02020603050405020304" pitchFamily="18" charset="0"/>
                        </a:rPr>
                        <a:t>Logit</a:t>
                      </a:r>
                    </a:p>
                  </a:txBody>
                  <a:tcPr marL="161571" marR="115408" marT="115408" marB="2308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427701799"/>
                  </a:ext>
                </a:extLst>
              </a:tr>
            </a:tbl>
          </a:graphicData>
        </a:graphic>
      </p:graphicFrame>
    </p:spTree>
    <p:extLst>
      <p:ext uri="{BB962C8B-B14F-4D97-AF65-F5344CB8AC3E}">
        <p14:creationId xmlns:p14="http://schemas.microsoft.com/office/powerpoint/2010/main" val="173470433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90" name="Rectangle 3089">
            <a:extLst>
              <a:ext uri="{FF2B5EF4-FFF2-40B4-BE49-F238E27FC236}">
                <a16:creationId xmlns:a16="http://schemas.microsoft.com/office/drawing/2014/main" id="{B9FF99BD-075F-4761-A995-6FC574BD25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92" name="Rectangle 3091">
            <a:extLst>
              <a:ext uri="{FF2B5EF4-FFF2-40B4-BE49-F238E27FC236}">
                <a16:creationId xmlns:a16="http://schemas.microsoft.com/office/drawing/2014/main" id="{A7B21A54-9BA3-4EA9-B460-5A829ADD905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94" name="Rectangle 3093">
            <a:extLst>
              <a:ext uri="{FF2B5EF4-FFF2-40B4-BE49-F238E27FC236}">
                <a16:creationId xmlns:a16="http://schemas.microsoft.com/office/drawing/2014/main" id="{6FA8F714-B9D8-488A-8CCA-E9948FF913A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466" y="643468"/>
            <a:ext cx="10905067" cy="5571066"/>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074" name="Picture 2">
            <a:extLst>
              <a:ext uri="{FF2B5EF4-FFF2-40B4-BE49-F238E27FC236}">
                <a16:creationId xmlns:a16="http://schemas.microsoft.com/office/drawing/2014/main" id="{480A067D-B6EF-83D4-1394-2BCB1C428688}"/>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976745" y="789709"/>
            <a:ext cx="10359737" cy="518506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205826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103" name="Rectangle 4102">
            <a:extLst>
              <a:ext uri="{FF2B5EF4-FFF2-40B4-BE49-F238E27FC236}">
                <a16:creationId xmlns:a16="http://schemas.microsoft.com/office/drawing/2014/main" id="{B9FF99BD-075F-4761-A995-6FC574BD25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05" name="Rectangle 4104">
            <a:extLst>
              <a:ext uri="{FF2B5EF4-FFF2-40B4-BE49-F238E27FC236}">
                <a16:creationId xmlns:a16="http://schemas.microsoft.com/office/drawing/2014/main" id="{A7B21A54-9BA3-4EA9-B460-5A829ADD905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07" name="Rectangle 4106">
            <a:extLst>
              <a:ext uri="{FF2B5EF4-FFF2-40B4-BE49-F238E27FC236}">
                <a16:creationId xmlns:a16="http://schemas.microsoft.com/office/drawing/2014/main" id="{6FA8F714-B9D8-488A-8CCA-E9948FF913A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466" y="643468"/>
            <a:ext cx="10905067" cy="5571066"/>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098" name="Picture 2">
            <a:extLst>
              <a:ext uri="{FF2B5EF4-FFF2-40B4-BE49-F238E27FC236}">
                <a16:creationId xmlns:a16="http://schemas.microsoft.com/office/drawing/2014/main" id="{ABBE44B8-07C9-2657-6A7C-9AF9035F1A10}"/>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841665" y="748145"/>
            <a:ext cx="10598726" cy="52785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8273794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7" name="Rectangle 5126">
            <a:extLst>
              <a:ext uri="{FF2B5EF4-FFF2-40B4-BE49-F238E27FC236}">
                <a16:creationId xmlns:a16="http://schemas.microsoft.com/office/drawing/2014/main" id="{B9FF99BD-075F-4761-A995-6FC574BD25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29" name="Rectangle 5128">
            <a:extLst>
              <a:ext uri="{FF2B5EF4-FFF2-40B4-BE49-F238E27FC236}">
                <a16:creationId xmlns:a16="http://schemas.microsoft.com/office/drawing/2014/main" id="{A7B21A54-9BA3-4EA9-B460-5A829ADD905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31" name="Rectangle 5130">
            <a:extLst>
              <a:ext uri="{FF2B5EF4-FFF2-40B4-BE49-F238E27FC236}">
                <a16:creationId xmlns:a16="http://schemas.microsoft.com/office/drawing/2014/main" id="{6FA8F714-B9D8-488A-8CCA-E9948FF913A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466" y="643468"/>
            <a:ext cx="10905067" cy="5571066"/>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122" name="Picture 2">
            <a:extLst>
              <a:ext uri="{FF2B5EF4-FFF2-40B4-BE49-F238E27FC236}">
                <a16:creationId xmlns:a16="http://schemas.microsoft.com/office/drawing/2014/main" id="{C543F775-264F-ED08-AF32-E71B3B4BB022}"/>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820883" y="779318"/>
            <a:ext cx="10577944" cy="54352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0123343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AC17DE74-01C9-4859-B65A-85CF999E85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068C0432-0E90-4CC1-8CD3-D44A90DF07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347414"/>
          </a:xfrm>
          <a:custGeom>
            <a:avLst/>
            <a:gdLst>
              <a:gd name="connsiteX0" fmla="*/ 0 w 12192000"/>
              <a:gd name="connsiteY0" fmla="*/ 0 h 2347414"/>
              <a:gd name="connsiteX1" fmla="*/ 12192000 w 12192000"/>
              <a:gd name="connsiteY1" fmla="*/ 0 h 2347414"/>
              <a:gd name="connsiteX2" fmla="*/ 12192000 w 12192000"/>
              <a:gd name="connsiteY2" fmla="*/ 1736458 h 2347414"/>
              <a:gd name="connsiteX3" fmla="*/ 11967601 w 12192000"/>
              <a:gd name="connsiteY3" fmla="*/ 1784034 h 2347414"/>
              <a:gd name="connsiteX4" fmla="*/ 10829000 w 12192000"/>
              <a:gd name="connsiteY4" fmla="*/ 1983294 h 2347414"/>
              <a:gd name="connsiteX5" fmla="*/ 10743779 w 12192000"/>
              <a:gd name="connsiteY5" fmla="*/ 1996027 h 2347414"/>
              <a:gd name="connsiteX6" fmla="*/ 10829254 w 12192000"/>
              <a:gd name="connsiteY6" fmla="*/ 1987751 h 2347414"/>
              <a:gd name="connsiteX7" fmla="*/ 10847162 w 12192000"/>
              <a:gd name="connsiteY7" fmla="*/ 1988388 h 2347414"/>
              <a:gd name="connsiteX8" fmla="*/ 11575155 w 12192000"/>
              <a:gd name="connsiteY8" fmla="*/ 1921415 h 2347414"/>
              <a:gd name="connsiteX9" fmla="*/ 12192000 w 12192000"/>
              <a:gd name="connsiteY9" fmla="*/ 1851213 h 2347414"/>
              <a:gd name="connsiteX10" fmla="*/ 12192000 w 12192000"/>
              <a:gd name="connsiteY10" fmla="*/ 1907356 h 2347414"/>
              <a:gd name="connsiteX11" fmla="*/ 12035532 w 12192000"/>
              <a:gd name="connsiteY11" fmla="*/ 1927033 h 2347414"/>
              <a:gd name="connsiteX12" fmla="*/ 11576932 w 12192000"/>
              <a:gd name="connsiteY12" fmla="*/ 1976291 h 2347414"/>
              <a:gd name="connsiteX13" fmla="*/ 10627316 w 12192000"/>
              <a:gd name="connsiteY13" fmla="*/ 2061470 h 2347414"/>
              <a:gd name="connsiteX14" fmla="*/ 9804196 w 12192000"/>
              <a:gd name="connsiteY14" fmla="*/ 2123478 h 2347414"/>
              <a:gd name="connsiteX15" fmla="*/ 9243851 w 12192000"/>
              <a:gd name="connsiteY15" fmla="*/ 2180008 h 2347414"/>
              <a:gd name="connsiteX16" fmla="*/ 8731259 w 12192000"/>
              <a:gd name="connsiteY16" fmla="*/ 2225081 h 2347414"/>
              <a:gd name="connsiteX17" fmla="*/ 8065752 w 12192000"/>
              <a:gd name="connsiteY17" fmla="*/ 2271681 h 2347414"/>
              <a:gd name="connsiteX18" fmla="*/ 7658065 w 12192000"/>
              <a:gd name="connsiteY18" fmla="*/ 2292562 h 2347414"/>
              <a:gd name="connsiteX19" fmla="*/ 6531024 w 12192000"/>
              <a:gd name="connsiteY19" fmla="*/ 2324138 h 2347414"/>
              <a:gd name="connsiteX20" fmla="*/ 6178331 w 12192000"/>
              <a:gd name="connsiteY20" fmla="*/ 2345655 h 2347414"/>
              <a:gd name="connsiteX21" fmla="*/ 5977282 w 12192000"/>
              <a:gd name="connsiteY21" fmla="*/ 2344127 h 2347414"/>
              <a:gd name="connsiteX22" fmla="*/ 5367658 w 12192000"/>
              <a:gd name="connsiteY22" fmla="*/ 2329230 h 2347414"/>
              <a:gd name="connsiteX23" fmla="*/ 4387306 w 12192000"/>
              <a:gd name="connsiteY23" fmla="*/ 2288614 h 2347414"/>
              <a:gd name="connsiteX24" fmla="*/ 4180287 w 12192000"/>
              <a:gd name="connsiteY24" fmla="*/ 2280211 h 2347414"/>
              <a:gd name="connsiteX25" fmla="*/ 3842199 w 12192000"/>
              <a:gd name="connsiteY25" fmla="*/ 2257039 h 2347414"/>
              <a:gd name="connsiteX26" fmla="*/ 3730309 w 12192000"/>
              <a:gd name="connsiteY26" fmla="*/ 2251182 h 2347414"/>
              <a:gd name="connsiteX27" fmla="*/ 3425496 w 12192000"/>
              <a:gd name="connsiteY27" fmla="*/ 2231320 h 2347414"/>
              <a:gd name="connsiteX28" fmla="*/ 3076106 w 12192000"/>
              <a:gd name="connsiteY28" fmla="*/ 2201781 h 2347414"/>
              <a:gd name="connsiteX29" fmla="*/ 2819682 w 12192000"/>
              <a:gd name="connsiteY29" fmla="*/ 2182427 h 2347414"/>
              <a:gd name="connsiteX30" fmla="*/ 2525539 w 12192000"/>
              <a:gd name="connsiteY30" fmla="*/ 2152888 h 2347414"/>
              <a:gd name="connsiteX31" fmla="*/ 2311915 w 12192000"/>
              <a:gd name="connsiteY31" fmla="*/ 2133536 h 2347414"/>
              <a:gd name="connsiteX32" fmla="*/ 2054223 w 12192000"/>
              <a:gd name="connsiteY32" fmla="*/ 2104760 h 2347414"/>
              <a:gd name="connsiteX33" fmla="*/ 1865367 w 12192000"/>
              <a:gd name="connsiteY33" fmla="*/ 2084770 h 2347414"/>
              <a:gd name="connsiteX34" fmla="*/ 1629263 w 12192000"/>
              <a:gd name="connsiteY34" fmla="*/ 2055996 h 2347414"/>
              <a:gd name="connsiteX35" fmla="*/ 1458823 w 12192000"/>
              <a:gd name="connsiteY35" fmla="*/ 2035751 h 2347414"/>
              <a:gd name="connsiteX36" fmla="*/ 1241390 w 12192000"/>
              <a:gd name="connsiteY36" fmla="*/ 2007103 h 2347414"/>
              <a:gd name="connsiteX37" fmla="*/ 1047453 w 12192000"/>
              <a:gd name="connsiteY37" fmla="*/ 1980748 h 2347414"/>
              <a:gd name="connsiteX38" fmla="*/ 814907 w 12192000"/>
              <a:gd name="connsiteY38" fmla="*/ 1949045 h 2347414"/>
              <a:gd name="connsiteX39" fmla="*/ 592649 w 12192000"/>
              <a:gd name="connsiteY39" fmla="*/ 1913776 h 2347414"/>
              <a:gd name="connsiteX40" fmla="*/ 343591 w 12192000"/>
              <a:gd name="connsiteY40" fmla="*/ 1872650 h 2347414"/>
              <a:gd name="connsiteX41" fmla="*/ 35731 w 12192000"/>
              <a:gd name="connsiteY41" fmla="*/ 1821722 h 2347414"/>
              <a:gd name="connsiteX42" fmla="*/ 0 w 12192000"/>
              <a:gd name="connsiteY42" fmla="*/ 1814848 h 2347414"/>
              <a:gd name="connsiteX43" fmla="*/ 0 w 12192000"/>
              <a:gd name="connsiteY43" fmla="*/ 1758489 h 2347414"/>
              <a:gd name="connsiteX44" fmla="*/ 274248 w 12192000"/>
              <a:gd name="connsiteY44" fmla="*/ 1808735 h 2347414"/>
              <a:gd name="connsiteX45" fmla="*/ 498157 w 12192000"/>
              <a:gd name="connsiteY45" fmla="*/ 1846167 h 2347414"/>
              <a:gd name="connsiteX46" fmla="*/ 722828 w 12192000"/>
              <a:gd name="connsiteY46" fmla="*/ 1878635 h 2347414"/>
              <a:gd name="connsiteX47" fmla="*/ 949913 w 12192000"/>
              <a:gd name="connsiteY47" fmla="*/ 1912375 h 2347414"/>
              <a:gd name="connsiteX48" fmla="*/ 1195414 w 12192000"/>
              <a:gd name="connsiteY48" fmla="*/ 1947516 h 2347414"/>
              <a:gd name="connsiteX49" fmla="*/ 1342867 w 12192000"/>
              <a:gd name="connsiteY49" fmla="*/ 1968397 h 2347414"/>
              <a:gd name="connsiteX50" fmla="*/ 1518007 w 12192000"/>
              <a:gd name="connsiteY50" fmla="*/ 1988006 h 2347414"/>
              <a:gd name="connsiteX51" fmla="*/ 1701403 w 12192000"/>
              <a:gd name="connsiteY51" fmla="*/ 2010669 h 2347414"/>
              <a:gd name="connsiteX52" fmla="*/ 1879210 w 12192000"/>
              <a:gd name="connsiteY52" fmla="*/ 2031167 h 2347414"/>
              <a:gd name="connsiteX53" fmla="*/ 2068702 w 12192000"/>
              <a:gd name="connsiteY53" fmla="*/ 2052940 h 2347414"/>
              <a:gd name="connsiteX54" fmla="*/ 2212090 w 12192000"/>
              <a:gd name="connsiteY54" fmla="*/ 2067583 h 2347414"/>
              <a:gd name="connsiteX55" fmla="*/ 2416949 w 12192000"/>
              <a:gd name="connsiteY55" fmla="*/ 2089609 h 2347414"/>
              <a:gd name="connsiteX56" fmla="*/ 2582055 w 12192000"/>
              <a:gd name="connsiteY56" fmla="*/ 2105397 h 2347414"/>
              <a:gd name="connsiteX57" fmla="*/ 2802282 w 12192000"/>
              <a:gd name="connsiteY57" fmla="*/ 2126405 h 2347414"/>
              <a:gd name="connsiteX58" fmla="*/ 2984916 w 12192000"/>
              <a:gd name="connsiteY58" fmla="*/ 2141684 h 2347414"/>
              <a:gd name="connsiteX59" fmla="*/ 3241847 w 12192000"/>
              <a:gd name="connsiteY59" fmla="*/ 2164094 h 2347414"/>
              <a:gd name="connsiteX60" fmla="*/ 3439848 w 12192000"/>
              <a:gd name="connsiteY60" fmla="*/ 2176826 h 2347414"/>
              <a:gd name="connsiteX61" fmla="*/ 3658678 w 12192000"/>
              <a:gd name="connsiteY61" fmla="*/ 2194523 h 2347414"/>
              <a:gd name="connsiteX62" fmla="*/ 3881317 w 12192000"/>
              <a:gd name="connsiteY62" fmla="*/ 2206491 h 2347414"/>
              <a:gd name="connsiteX63" fmla="*/ 4148916 w 12192000"/>
              <a:gd name="connsiteY63" fmla="*/ 2225081 h 2347414"/>
              <a:gd name="connsiteX64" fmla="*/ 4468337 w 12192000"/>
              <a:gd name="connsiteY64" fmla="*/ 2237813 h 2347414"/>
              <a:gd name="connsiteX65" fmla="*/ 4605375 w 12192000"/>
              <a:gd name="connsiteY65" fmla="*/ 2240232 h 2347414"/>
              <a:gd name="connsiteX66" fmla="*/ 4527647 w 12192000"/>
              <a:gd name="connsiteY66" fmla="*/ 2236412 h 2347414"/>
              <a:gd name="connsiteX67" fmla="*/ 4175589 w 12192000"/>
              <a:gd name="connsiteY67" fmla="*/ 2212985 h 2347414"/>
              <a:gd name="connsiteX68" fmla="*/ 3988255 w 12192000"/>
              <a:gd name="connsiteY68" fmla="*/ 2200253 h 2347414"/>
              <a:gd name="connsiteX69" fmla="*/ 3686492 w 12192000"/>
              <a:gd name="connsiteY69" fmla="*/ 2176062 h 2347414"/>
              <a:gd name="connsiteX70" fmla="*/ 3517320 w 12192000"/>
              <a:gd name="connsiteY70" fmla="*/ 2163330 h 2347414"/>
              <a:gd name="connsiteX71" fmla="*/ 3258357 w 12192000"/>
              <a:gd name="connsiteY71" fmla="*/ 2139519 h 2347414"/>
              <a:gd name="connsiteX72" fmla="*/ 3101506 w 12192000"/>
              <a:gd name="connsiteY72" fmla="*/ 2126787 h 2347414"/>
              <a:gd name="connsiteX73" fmla="*/ 2809395 w 12192000"/>
              <a:gd name="connsiteY73" fmla="*/ 2097502 h 2347414"/>
              <a:gd name="connsiteX74" fmla="*/ 2598566 w 12192000"/>
              <a:gd name="connsiteY74" fmla="*/ 2078532 h 2347414"/>
              <a:gd name="connsiteX75" fmla="*/ 2337444 w 12192000"/>
              <a:gd name="connsiteY75" fmla="*/ 2048611 h 2347414"/>
              <a:gd name="connsiteX76" fmla="*/ 2091054 w 12192000"/>
              <a:gd name="connsiteY76" fmla="*/ 2023146 h 2347414"/>
              <a:gd name="connsiteX77" fmla="*/ 1755761 w 12192000"/>
              <a:gd name="connsiteY77" fmla="*/ 1981384 h 2347414"/>
              <a:gd name="connsiteX78" fmla="*/ 1441169 w 12192000"/>
              <a:gd name="connsiteY78" fmla="*/ 1943824 h 2347414"/>
              <a:gd name="connsiteX79" fmla="*/ 1017607 w 12192000"/>
              <a:gd name="connsiteY79" fmla="*/ 1883345 h 2347414"/>
              <a:gd name="connsiteX80" fmla="*/ 594427 w 12192000"/>
              <a:gd name="connsiteY80" fmla="*/ 1821849 h 2347414"/>
              <a:gd name="connsiteX81" fmla="*/ 200711 w 12192000"/>
              <a:gd name="connsiteY81" fmla="*/ 1755132 h 2347414"/>
              <a:gd name="connsiteX82" fmla="*/ 0 w 12192000"/>
              <a:gd name="connsiteY82" fmla="*/ 1718743 h 2347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12192000" h="2347414">
                <a:moveTo>
                  <a:pt x="0" y="0"/>
                </a:moveTo>
                <a:lnTo>
                  <a:pt x="12192000" y="0"/>
                </a:lnTo>
                <a:lnTo>
                  <a:pt x="12192000" y="1736458"/>
                </a:lnTo>
                <a:lnTo>
                  <a:pt x="11967601" y="1784034"/>
                </a:lnTo>
                <a:cubicBezTo>
                  <a:pt x="11589888" y="1859409"/>
                  <a:pt x="11209762" y="1923961"/>
                  <a:pt x="10829000" y="1983294"/>
                </a:cubicBezTo>
                <a:lnTo>
                  <a:pt x="10743779" y="1996027"/>
                </a:lnTo>
                <a:cubicBezTo>
                  <a:pt x="10772495" y="1996778"/>
                  <a:pt x="10801211" y="1993989"/>
                  <a:pt x="10829254" y="1987751"/>
                </a:cubicBezTo>
                <a:cubicBezTo>
                  <a:pt x="10835198" y="1988337"/>
                  <a:pt x="10841180" y="1988553"/>
                  <a:pt x="10847162" y="1988388"/>
                </a:cubicBezTo>
                <a:cubicBezTo>
                  <a:pt x="11090123" y="1968907"/>
                  <a:pt x="11332703" y="1945734"/>
                  <a:pt x="11575155" y="1921415"/>
                </a:cubicBezTo>
                <a:lnTo>
                  <a:pt x="12192000" y="1851213"/>
                </a:lnTo>
                <a:lnTo>
                  <a:pt x="12192000" y="1907356"/>
                </a:lnTo>
                <a:lnTo>
                  <a:pt x="12035532" y="1927033"/>
                </a:lnTo>
                <a:cubicBezTo>
                  <a:pt x="11882793" y="1944747"/>
                  <a:pt x="11729910" y="1961077"/>
                  <a:pt x="11576932" y="1976291"/>
                </a:cubicBezTo>
                <a:cubicBezTo>
                  <a:pt x="11260690" y="2008122"/>
                  <a:pt x="10944193" y="2037279"/>
                  <a:pt x="10627316" y="2061470"/>
                </a:cubicBezTo>
                <a:cubicBezTo>
                  <a:pt x="10352985" y="2082351"/>
                  <a:pt x="10078401" y="2100431"/>
                  <a:pt x="9804196" y="2123478"/>
                </a:cubicBezTo>
                <a:cubicBezTo>
                  <a:pt x="9617118" y="2139137"/>
                  <a:pt x="9430675" y="2161674"/>
                  <a:pt x="9243851" y="2180008"/>
                </a:cubicBezTo>
                <a:cubicBezTo>
                  <a:pt x="9073157" y="2196433"/>
                  <a:pt x="8902207" y="2211966"/>
                  <a:pt x="8731259" y="2225081"/>
                </a:cubicBezTo>
                <a:cubicBezTo>
                  <a:pt x="8509507" y="2242054"/>
                  <a:pt x="8287667" y="2257586"/>
                  <a:pt x="8065752" y="2271681"/>
                </a:cubicBezTo>
                <a:cubicBezTo>
                  <a:pt x="7929984" y="2280466"/>
                  <a:pt x="7793961" y="2285814"/>
                  <a:pt x="7658065" y="2292562"/>
                </a:cubicBezTo>
                <a:cubicBezTo>
                  <a:pt x="7282640" y="2311661"/>
                  <a:pt x="6906704" y="2314208"/>
                  <a:pt x="6531024" y="2324138"/>
                </a:cubicBezTo>
                <a:cubicBezTo>
                  <a:pt x="6413417" y="2327322"/>
                  <a:pt x="6295937" y="2338399"/>
                  <a:pt x="6178331" y="2345655"/>
                </a:cubicBezTo>
                <a:cubicBezTo>
                  <a:pt x="6111271" y="2349730"/>
                  <a:pt x="6044342" y="2345655"/>
                  <a:pt x="5977282" y="2344127"/>
                </a:cubicBezTo>
                <a:cubicBezTo>
                  <a:pt x="5774073" y="2338908"/>
                  <a:pt x="5570866" y="2334960"/>
                  <a:pt x="5367658" y="2329230"/>
                </a:cubicBezTo>
                <a:cubicBezTo>
                  <a:pt x="5040746" y="2319809"/>
                  <a:pt x="4713963" y="2306274"/>
                  <a:pt x="4387306" y="2288614"/>
                </a:cubicBezTo>
                <a:cubicBezTo>
                  <a:pt x="4318342" y="2284796"/>
                  <a:pt x="4249253" y="2284286"/>
                  <a:pt x="4180287" y="2280211"/>
                </a:cubicBezTo>
                <a:cubicBezTo>
                  <a:pt x="4067634" y="2273463"/>
                  <a:pt x="3954980" y="2265060"/>
                  <a:pt x="3842199" y="2257039"/>
                </a:cubicBezTo>
                <a:cubicBezTo>
                  <a:pt x="3804988" y="2254492"/>
                  <a:pt x="3767648" y="2254620"/>
                  <a:pt x="3730309" y="2251182"/>
                </a:cubicBezTo>
                <a:cubicBezTo>
                  <a:pt x="3628704" y="2242142"/>
                  <a:pt x="3527101" y="2238449"/>
                  <a:pt x="3425496" y="2231320"/>
                </a:cubicBezTo>
                <a:cubicBezTo>
                  <a:pt x="3308906" y="2222534"/>
                  <a:pt x="3192569" y="2211330"/>
                  <a:pt x="3076106" y="2201781"/>
                </a:cubicBezTo>
                <a:cubicBezTo>
                  <a:pt x="2990757" y="2194905"/>
                  <a:pt x="2905157" y="2190067"/>
                  <a:pt x="2819682" y="2182427"/>
                </a:cubicBezTo>
                <a:cubicBezTo>
                  <a:pt x="2721507" y="2173515"/>
                  <a:pt x="2623586" y="2162311"/>
                  <a:pt x="2525539" y="2152888"/>
                </a:cubicBezTo>
                <a:cubicBezTo>
                  <a:pt x="2454289" y="2145886"/>
                  <a:pt x="2383038" y="2140920"/>
                  <a:pt x="2311915" y="2133536"/>
                </a:cubicBezTo>
                <a:cubicBezTo>
                  <a:pt x="2225933" y="2124749"/>
                  <a:pt x="2140204" y="2114182"/>
                  <a:pt x="2054223" y="2104760"/>
                </a:cubicBezTo>
                <a:cubicBezTo>
                  <a:pt x="1990719" y="2097758"/>
                  <a:pt x="1928233" y="2092028"/>
                  <a:pt x="1865367" y="2084770"/>
                </a:cubicBezTo>
                <a:cubicBezTo>
                  <a:pt x="1786622" y="2075603"/>
                  <a:pt x="1708006" y="2065545"/>
                  <a:pt x="1629263" y="2055996"/>
                </a:cubicBezTo>
                <a:cubicBezTo>
                  <a:pt x="1572492" y="2049120"/>
                  <a:pt x="1515595" y="2043264"/>
                  <a:pt x="1458823" y="2035751"/>
                </a:cubicBezTo>
                <a:cubicBezTo>
                  <a:pt x="1386303" y="2026585"/>
                  <a:pt x="1313784" y="2016780"/>
                  <a:pt x="1241390" y="2007103"/>
                </a:cubicBezTo>
                <a:lnTo>
                  <a:pt x="1047453" y="1980748"/>
                </a:lnTo>
                <a:cubicBezTo>
                  <a:pt x="969980" y="1970180"/>
                  <a:pt x="892254" y="1960377"/>
                  <a:pt x="814907" y="1949045"/>
                </a:cubicBezTo>
                <a:cubicBezTo>
                  <a:pt x="740609" y="1938094"/>
                  <a:pt x="666692" y="1925744"/>
                  <a:pt x="592649" y="1913776"/>
                </a:cubicBezTo>
                <a:cubicBezTo>
                  <a:pt x="509587" y="1900280"/>
                  <a:pt x="426653" y="1886274"/>
                  <a:pt x="343591" y="1872650"/>
                </a:cubicBezTo>
                <a:cubicBezTo>
                  <a:pt x="240972" y="1855716"/>
                  <a:pt x="138225" y="1839673"/>
                  <a:pt x="35731" y="1821722"/>
                </a:cubicBezTo>
                <a:lnTo>
                  <a:pt x="0" y="1814848"/>
                </a:lnTo>
                <a:lnTo>
                  <a:pt x="0" y="1758489"/>
                </a:lnTo>
                <a:lnTo>
                  <a:pt x="274248" y="1808735"/>
                </a:lnTo>
                <a:cubicBezTo>
                  <a:pt x="348926" y="1821467"/>
                  <a:pt x="423604" y="1832798"/>
                  <a:pt x="498157" y="1846167"/>
                </a:cubicBezTo>
                <a:cubicBezTo>
                  <a:pt x="572708" y="1859536"/>
                  <a:pt x="647896" y="1867813"/>
                  <a:pt x="722828" y="1878635"/>
                </a:cubicBezTo>
                <a:cubicBezTo>
                  <a:pt x="797762" y="1889457"/>
                  <a:pt x="874219" y="1901426"/>
                  <a:pt x="949913" y="1912375"/>
                </a:cubicBezTo>
                <a:cubicBezTo>
                  <a:pt x="1031704" y="1924343"/>
                  <a:pt x="1113496" y="1935802"/>
                  <a:pt x="1195414" y="1947516"/>
                </a:cubicBezTo>
                <a:cubicBezTo>
                  <a:pt x="1244566" y="1954519"/>
                  <a:pt x="1293589" y="1962285"/>
                  <a:pt x="1342867" y="1968397"/>
                </a:cubicBezTo>
                <a:cubicBezTo>
                  <a:pt x="1401162" y="1975656"/>
                  <a:pt x="1459712" y="1981130"/>
                  <a:pt x="1518007" y="1988006"/>
                </a:cubicBezTo>
                <a:cubicBezTo>
                  <a:pt x="1579224" y="1995263"/>
                  <a:pt x="1640186" y="2003411"/>
                  <a:pt x="1701403" y="2010669"/>
                </a:cubicBezTo>
                <a:cubicBezTo>
                  <a:pt x="1762618" y="2017926"/>
                  <a:pt x="1820279" y="2024292"/>
                  <a:pt x="1879210" y="2031167"/>
                </a:cubicBezTo>
                <a:cubicBezTo>
                  <a:pt x="1942712" y="2038425"/>
                  <a:pt x="2006214" y="2046064"/>
                  <a:pt x="2068702" y="2052940"/>
                </a:cubicBezTo>
                <a:cubicBezTo>
                  <a:pt x="2116455" y="2058160"/>
                  <a:pt x="2164335" y="2062362"/>
                  <a:pt x="2212090" y="2067583"/>
                </a:cubicBezTo>
                <a:cubicBezTo>
                  <a:pt x="2280419" y="2074967"/>
                  <a:pt x="2348493" y="2085152"/>
                  <a:pt x="2416949" y="2089609"/>
                </a:cubicBezTo>
                <a:cubicBezTo>
                  <a:pt x="2472070" y="2093302"/>
                  <a:pt x="2526936" y="2099540"/>
                  <a:pt x="2582055" y="2105397"/>
                </a:cubicBezTo>
                <a:cubicBezTo>
                  <a:pt x="2655337" y="2113291"/>
                  <a:pt x="2729001" y="2119785"/>
                  <a:pt x="2802282" y="2126405"/>
                </a:cubicBezTo>
                <a:cubicBezTo>
                  <a:pt x="2862991" y="2131753"/>
                  <a:pt x="2924207" y="2136337"/>
                  <a:pt x="2984916" y="2141684"/>
                </a:cubicBezTo>
                <a:cubicBezTo>
                  <a:pt x="3070516" y="2149324"/>
                  <a:pt x="3156373" y="2152888"/>
                  <a:pt x="3241847" y="2164094"/>
                </a:cubicBezTo>
                <a:cubicBezTo>
                  <a:pt x="3307255" y="2172624"/>
                  <a:pt x="3374060" y="2169822"/>
                  <a:pt x="3439848" y="2176826"/>
                </a:cubicBezTo>
                <a:cubicBezTo>
                  <a:pt x="3512622" y="2184592"/>
                  <a:pt x="3585777" y="2186247"/>
                  <a:pt x="3658678" y="2194523"/>
                </a:cubicBezTo>
                <a:cubicBezTo>
                  <a:pt x="3731578" y="2202800"/>
                  <a:pt x="3807019" y="2201781"/>
                  <a:pt x="3881317" y="2206491"/>
                </a:cubicBezTo>
                <a:cubicBezTo>
                  <a:pt x="3970222" y="2212094"/>
                  <a:pt x="4059124" y="2223552"/>
                  <a:pt x="4148916" y="2225081"/>
                </a:cubicBezTo>
                <a:cubicBezTo>
                  <a:pt x="4255600" y="2226736"/>
                  <a:pt x="4361779" y="2236539"/>
                  <a:pt x="4468337" y="2237813"/>
                </a:cubicBezTo>
                <a:cubicBezTo>
                  <a:pt x="4511390" y="2238577"/>
                  <a:pt x="4554190" y="2246852"/>
                  <a:pt x="4605375" y="2240232"/>
                </a:cubicBezTo>
                <a:cubicBezTo>
                  <a:pt x="4574131" y="2238704"/>
                  <a:pt x="4550762" y="2237940"/>
                  <a:pt x="4527647" y="2236412"/>
                </a:cubicBezTo>
                <a:cubicBezTo>
                  <a:pt x="4410293" y="2228773"/>
                  <a:pt x="4292942" y="2220751"/>
                  <a:pt x="4175589" y="2212985"/>
                </a:cubicBezTo>
                <a:cubicBezTo>
                  <a:pt x="4113101" y="2208783"/>
                  <a:pt x="4050615" y="2205219"/>
                  <a:pt x="3988255" y="2200253"/>
                </a:cubicBezTo>
                <a:cubicBezTo>
                  <a:pt x="3887668" y="2192487"/>
                  <a:pt x="3787079" y="2184082"/>
                  <a:pt x="3686492" y="2176062"/>
                </a:cubicBezTo>
                <a:cubicBezTo>
                  <a:pt x="3630102" y="2171605"/>
                  <a:pt x="3573711" y="2168040"/>
                  <a:pt x="3517320" y="2163330"/>
                </a:cubicBezTo>
                <a:cubicBezTo>
                  <a:pt x="3430958" y="2155689"/>
                  <a:pt x="3344721" y="2147159"/>
                  <a:pt x="3258357" y="2139519"/>
                </a:cubicBezTo>
                <a:cubicBezTo>
                  <a:pt x="3206031" y="2134809"/>
                  <a:pt x="3153705" y="2131371"/>
                  <a:pt x="3101506" y="2126787"/>
                </a:cubicBezTo>
                <a:cubicBezTo>
                  <a:pt x="3004220" y="2117365"/>
                  <a:pt x="2907061" y="2106798"/>
                  <a:pt x="2809395" y="2097502"/>
                </a:cubicBezTo>
                <a:cubicBezTo>
                  <a:pt x="2739161" y="2090628"/>
                  <a:pt x="2668673" y="2085916"/>
                  <a:pt x="2598566" y="2078532"/>
                </a:cubicBezTo>
                <a:cubicBezTo>
                  <a:pt x="2511441" y="2069365"/>
                  <a:pt x="2424569" y="2058160"/>
                  <a:pt x="2337444" y="2048611"/>
                </a:cubicBezTo>
                <a:cubicBezTo>
                  <a:pt x="2255399" y="2039699"/>
                  <a:pt x="2173099" y="2032950"/>
                  <a:pt x="2091054" y="2023146"/>
                </a:cubicBezTo>
                <a:cubicBezTo>
                  <a:pt x="1979162" y="2010414"/>
                  <a:pt x="1867524" y="1995008"/>
                  <a:pt x="1755761" y="1981384"/>
                </a:cubicBezTo>
                <a:cubicBezTo>
                  <a:pt x="1650982" y="1968652"/>
                  <a:pt x="1545821" y="1957830"/>
                  <a:pt x="1441169" y="1943824"/>
                </a:cubicBezTo>
                <a:cubicBezTo>
                  <a:pt x="1299813" y="1924980"/>
                  <a:pt x="1158837" y="1903718"/>
                  <a:pt x="1017607" y="1883345"/>
                </a:cubicBezTo>
                <a:cubicBezTo>
                  <a:pt x="876378" y="1862974"/>
                  <a:pt x="735402" y="1844003"/>
                  <a:pt x="594427" y="1821849"/>
                </a:cubicBezTo>
                <a:cubicBezTo>
                  <a:pt x="462850" y="1801222"/>
                  <a:pt x="331526" y="1778304"/>
                  <a:pt x="200711" y="1755132"/>
                </a:cubicBezTo>
                <a:lnTo>
                  <a:pt x="0" y="1718743"/>
                </a:lnTo>
                <a:close/>
              </a:path>
            </a:pathLst>
          </a:custGeom>
          <a:solidFill>
            <a:schemeClr val="accent2"/>
          </a:solidFill>
          <a:ln w="8199" cap="flat">
            <a:noFill/>
            <a:prstDash val="solid"/>
            <a:miter/>
          </a:ln>
        </p:spPr>
        <p:txBody>
          <a:bodyPr rtlCol="0" anchor="ctr"/>
          <a:lstStyle/>
          <a:p>
            <a:endParaRPr lang="en-US"/>
          </a:p>
        </p:txBody>
      </p:sp>
      <p:sp>
        <p:nvSpPr>
          <p:cNvPr id="2" name="TextBox 1">
            <a:extLst>
              <a:ext uri="{FF2B5EF4-FFF2-40B4-BE49-F238E27FC236}">
                <a16:creationId xmlns:a16="http://schemas.microsoft.com/office/drawing/2014/main" id="{8C11063A-2B48-A386-E75C-79686533B874}"/>
              </a:ext>
            </a:extLst>
          </p:cNvPr>
          <p:cNvSpPr txBox="1"/>
          <p:nvPr/>
        </p:nvSpPr>
        <p:spPr>
          <a:xfrm>
            <a:off x="838200" y="401221"/>
            <a:ext cx="10515600" cy="1348065"/>
          </a:xfrm>
          <a:prstGeom prst="rect">
            <a:avLst/>
          </a:prstGeom>
        </p:spPr>
        <p:txBody>
          <a:bodyPr vert="horz" lIns="91440" tIns="45720" rIns="91440" bIns="45720" rtlCol="0" anchor="ctr">
            <a:normAutofit/>
          </a:bodyPr>
          <a:lstStyle/>
          <a:p>
            <a:pPr marL="285750" indent="-285750">
              <a:lnSpc>
                <a:spcPct val="90000"/>
              </a:lnSpc>
              <a:spcBef>
                <a:spcPct val="0"/>
              </a:spcBef>
              <a:spcAft>
                <a:spcPts val="600"/>
              </a:spcAft>
            </a:pPr>
            <a:r>
              <a:rPr lang="en-US" sz="4000" b="1" kern="1200" dirty="0">
                <a:solidFill>
                  <a:srgbClr val="FFFFFF"/>
                </a:solidFill>
                <a:latin typeface="Verdana" panose="020B0604030504040204" pitchFamily="34" charset="0"/>
                <a:ea typeface="Verdana" panose="020B0604030504040204" pitchFamily="34" charset="0"/>
                <a:cs typeface="+mj-cs"/>
              </a:rPr>
              <a:t>Key </a:t>
            </a:r>
            <a:r>
              <a:rPr lang="en-US" sz="4000" b="1" kern="1200" dirty="0">
                <a:solidFill>
                  <a:srgbClr val="FFFFFF"/>
                </a:solidFill>
                <a:latin typeface="Verdana" panose="020B0604030504040204" pitchFamily="34" charset="0"/>
                <a:ea typeface="Verdana" panose="020B0604030504040204" pitchFamily="34" charset="0"/>
                <a:cs typeface="Times New Roman" panose="02020603050405020304" pitchFamily="18" charset="0"/>
              </a:rPr>
              <a:t>Findings</a:t>
            </a:r>
          </a:p>
        </p:txBody>
      </p:sp>
      <p:sp>
        <p:nvSpPr>
          <p:cNvPr id="5" name="TextBox 4">
            <a:extLst>
              <a:ext uri="{FF2B5EF4-FFF2-40B4-BE49-F238E27FC236}">
                <a16:creationId xmlns:a16="http://schemas.microsoft.com/office/drawing/2014/main" id="{80DEEA0C-FAF8-7A6C-5ED7-673F394C0187}"/>
              </a:ext>
            </a:extLst>
          </p:cNvPr>
          <p:cNvSpPr txBox="1"/>
          <p:nvPr/>
        </p:nvSpPr>
        <p:spPr>
          <a:xfrm>
            <a:off x="838200" y="2586789"/>
            <a:ext cx="10515600" cy="3590174"/>
          </a:xfrm>
          <a:prstGeom prst="rect">
            <a:avLst/>
          </a:prstGeom>
        </p:spPr>
        <p:txBody>
          <a:bodyPr vert="horz" lIns="91440" tIns="45720" rIns="91440" bIns="45720" rtlCol="0">
            <a:normAutofit fontScale="92500" lnSpcReduction="10000"/>
          </a:bodyPr>
          <a:lstStyle/>
          <a:p>
            <a:pPr marL="457200" lvl="0" indent="-228600" algn="just" fontAlgn="base">
              <a:lnSpc>
                <a:spcPct val="150000"/>
              </a:lnSpc>
              <a:spcBef>
                <a:spcPct val="0"/>
              </a:spcBef>
              <a:spcAft>
                <a:spcPts val="600"/>
              </a:spcAft>
              <a:buFont typeface="Arial" panose="020B0604020202020204" pitchFamily="34" charset="0"/>
              <a:buChar char="•"/>
            </a:pPr>
            <a:r>
              <a:rPr lang="en-US" altLang="en-US" sz="3200" dirty="0">
                <a:latin typeface="Times New Roman" panose="02020603050405020304" pitchFamily="18" charset="0"/>
                <a:cs typeface="Times New Roman" panose="02020603050405020304" pitchFamily="18" charset="0"/>
              </a:rPr>
              <a:t>Logistic Regression achieved </a:t>
            </a:r>
            <a:r>
              <a:rPr lang="en-US" altLang="en-US" sz="3200" b="1" dirty="0">
                <a:latin typeface="Times New Roman" panose="02020603050405020304" pitchFamily="18" charset="0"/>
                <a:cs typeface="Times New Roman" panose="02020603050405020304" pitchFamily="18" charset="0"/>
              </a:rPr>
              <a:t>higher ROC-AUC and lower Log Loss</a:t>
            </a:r>
            <a:r>
              <a:rPr lang="en-US" altLang="en-US" sz="3200" dirty="0">
                <a:latin typeface="Times New Roman" panose="02020603050405020304" pitchFamily="18" charset="0"/>
                <a:cs typeface="Times New Roman" panose="02020603050405020304" pitchFamily="18" charset="0"/>
              </a:rPr>
              <a:t> </a:t>
            </a:r>
          </a:p>
          <a:p>
            <a:pPr marL="457200" lvl="0" indent="-228600" fontAlgn="base">
              <a:lnSpc>
                <a:spcPct val="150000"/>
              </a:lnSpc>
              <a:spcBef>
                <a:spcPct val="0"/>
              </a:spcBef>
              <a:spcAft>
                <a:spcPts val="600"/>
              </a:spcAft>
              <a:buFont typeface="Arial" panose="020B0604020202020204" pitchFamily="34" charset="0"/>
              <a:buChar char="•"/>
            </a:pPr>
            <a:r>
              <a:rPr lang="en-US" altLang="en-US" sz="3200" dirty="0">
                <a:latin typeface="Times New Roman" panose="02020603050405020304" pitchFamily="18" charset="0"/>
                <a:cs typeface="Times New Roman" panose="02020603050405020304" pitchFamily="18" charset="0"/>
              </a:rPr>
              <a:t>LDA showed </a:t>
            </a:r>
            <a:r>
              <a:rPr lang="en-US" altLang="en-US" sz="3200" b="1" dirty="0">
                <a:latin typeface="Times New Roman" panose="02020603050405020304" pitchFamily="18" charset="0"/>
                <a:cs typeface="Times New Roman" panose="02020603050405020304" pitchFamily="18" charset="0"/>
              </a:rPr>
              <a:t>faster computation and better stability</a:t>
            </a:r>
            <a:r>
              <a:rPr lang="en-US" altLang="en-US" sz="3200" dirty="0">
                <a:latin typeface="Times New Roman" panose="02020603050405020304" pitchFamily="18" charset="0"/>
                <a:cs typeface="Times New Roman" panose="02020603050405020304" pitchFamily="18" charset="0"/>
              </a:rPr>
              <a:t> </a:t>
            </a:r>
          </a:p>
          <a:p>
            <a:pPr marL="457200" lvl="0" indent="-228600" fontAlgn="base">
              <a:lnSpc>
                <a:spcPct val="150000"/>
              </a:lnSpc>
              <a:spcBef>
                <a:spcPct val="0"/>
              </a:spcBef>
              <a:spcAft>
                <a:spcPts val="600"/>
              </a:spcAft>
              <a:buFont typeface="Arial" panose="020B0604020202020204" pitchFamily="34" charset="0"/>
              <a:buChar char="•"/>
            </a:pPr>
            <a:r>
              <a:rPr lang="en-US" altLang="en-US" sz="3200" dirty="0">
                <a:latin typeface="Times New Roman" panose="02020603050405020304" pitchFamily="18" charset="0"/>
                <a:cs typeface="Times New Roman" panose="02020603050405020304" pitchFamily="18" charset="0"/>
              </a:rPr>
              <a:t>Logistic Regression is better for </a:t>
            </a:r>
            <a:r>
              <a:rPr lang="en-US" altLang="en-US" sz="3200" b="1" dirty="0">
                <a:latin typeface="Times New Roman" panose="02020603050405020304" pitchFamily="18" charset="0"/>
                <a:cs typeface="Times New Roman" panose="02020603050405020304" pitchFamily="18" charset="0"/>
              </a:rPr>
              <a:t>critical dropout prediction</a:t>
            </a:r>
            <a:r>
              <a:rPr lang="en-US" altLang="en-US" sz="3200" dirty="0">
                <a:latin typeface="Times New Roman" panose="02020603050405020304" pitchFamily="18" charset="0"/>
                <a:cs typeface="Times New Roman" panose="02020603050405020304" pitchFamily="18" charset="0"/>
              </a:rPr>
              <a:t> </a:t>
            </a:r>
          </a:p>
          <a:p>
            <a:pPr marL="457200" lvl="0" indent="-228600" fontAlgn="base">
              <a:lnSpc>
                <a:spcPct val="150000"/>
              </a:lnSpc>
              <a:spcBef>
                <a:spcPct val="0"/>
              </a:spcBef>
              <a:spcAft>
                <a:spcPts val="600"/>
              </a:spcAft>
              <a:buFont typeface="Arial" panose="020B0604020202020204" pitchFamily="34" charset="0"/>
              <a:buChar char="•"/>
            </a:pPr>
            <a:r>
              <a:rPr lang="en-US" altLang="en-US" sz="3200" dirty="0">
                <a:latin typeface="Times New Roman" panose="02020603050405020304" pitchFamily="18" charset="0"/>
                <a:cs typeface="Times New Roman" panose="02020603050405020304" pitchFamily="18" charset="0"/>
              </a:rPr>
              <a:t>LDA is suitable for </a:t>
            </a:r>
            <a:r>
              <a:rPr lang="en-US" altLang="en-US" sz="3200" b="1" dirty="0">
                <a:latin typeface="Times New Roman" panose="02020603050405020304" pitchFamily="18" charset="0"/>
                <a:cs typeface="Times New Roman" panose="02020603050405020304" pitchFamily="18" charset="0"/>
              </a:rPr>
              <a:t>fast and stable applications</a:t>
            </a:r>
            <a:r>
              <a:rPr lang="en-US" altLang="en-US" sz="3200" dirty="0">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283134611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C5E9373E-1D75-1CDC-36DB-BA570D08EDE1}"/>
              </a:ext>
            </a:extLst>
          </p:cNvPr>
          <p:cNvSpPr txBox="1"/>
          <p:nvPr/>
        </p:nvSpPr>
        <p:spPr>
          <a:xfrm>
            <a:off x="345931" y="1319012"/>
            <a:ext cx="11500138" cy="5185522"/>
          </a:xfrm>
          <a:prstGeom prst="rect">
            <a:avLst/>
          </a:prstGeom>
          <a:noFill/>
        </p:spPr>
        <p:txBody>
          <a:bodyPr wrap="square">
            <a:spAutoFit/>
          </a:bodyPr>
          <a:lstStyle/>
          <a:p>
            <a:pPr marL="457200" indent="-457200" algn="just">
              <a:lnSpc>
                <a:spcPct val="150000"/>
              </a:lnSpc>
              <a:buFont typeface="Arial" panose="020B0604020202020204" pitchFamily="34" charset="0"/>
              <a:buChar char="•"/>
            </a:pPr>
            <a:r>
              <a:rPr lang="en-GB" sz="2800" dirty="0">
                <a:latin typeface="Times New Roman" panose="02020603050405020304" pitchFamily="18" charset="0"/>
                <a:cs typeface="Times New Roman" panose="02020603050405020304" pitchFamily="18" charset="0"/>
              </a:rPr>
              <a:t>Both models effectively predict student dropout. </a:t>
            </a:r>
            <a:r>
              <a:rPr lang="en-GB" sz="2800" b="1" dirty="0">
                <a:latin typeface="Times New Roman" panose="02020603050405020304" pitchFamily="18" charset="0"/>
                <a:cs typeface="Times New Roman" panose="02020603050405020304" pitchFamily="18" charset="0"/>
              </a:rPr>
              <a:t>Logistic Regression demonstrates slightly higher accuracy and better predictive performance</a:t>
            </a:r>
            <a:r>
              <a:rPr lang="en-GB" sz="2800" dirty="0">
                <a:latin typeface="Times New Roman" panose="02020603050405020304" pitchFamily="18" charset="0"/>
                <a:cs typeface="Times New Roman" panose="02020603050405020304" pitchFamily="18" charset="0"/>
              </a:rPr>
              <a:t>, while </a:t>
            </a:r>
            <a:r>
              <a:rPr lang="en-GB" sz="2800" b="1" dirty="0">
                <a:latin typeface="Times New Roman" panose="02020603050405020304" pitchFamily="18" charset="0"/>
                <a:cs typeface="Times New Roman" panose="02020603050405020304" pitchFamily="18" charset="0"/>
              </a:rPr>
              <a:t>LDA is faster and more computationally efficient</a:t>
            </a:r>
            <a:r>
              <a:rPr lang="en-GB" sz="2800" dirty="0">
                <a:latin typeface="Times New Roman" panose="02020603050405020304" pitchFamily="18" charset="0"/>
                <a:cs typeface="Times New Roman" panose="02020603050405020304" pitchFamily="18" charset="0"/>
              </a:rPr>
              <a:t>.</a:t>
            </a:r>
          </a:p>
          <a:p>
            <a:pPr marL="457200" indent="-457200" algn="just">
              <a:lnSpc>
                <a:spcPct val="150000"/>
              </a:lnSpc>
              <a:buFont typeface="Arial" panose="020B0604020202020204" pitchFamily="34" charset="0"/>
              <a:buChar char="•"/>
            </a:pPr>
            <a:r>
              <a:rPr lang="en-GB" sz="2800" dirty="0">
                <a:latin typeface="Times New Roman" panose="02020603050405020304" pitchFamily="18" charset="0"/>
                <a:cs typeface="Times New Roman" panose="02020603050405020304" pitchFamily="18" charset="0"/>
              </a:rPr>
              <a:t>The results indicate that </a:t>
            </a:r>
            <a:r>
              <a:rPr lang="en-GB" sz="2800" b="1" dirty="0">
                <a:latin typeface="Times New Roman" panose="02020603050405020304" pitchFamily="18" charset="0"/>
                <a:cs typeface="Times New Roman" panose="02020603050405020304" pitchFamily="18" charset="0"/>
              </a:rPr>
              <a:t>academic performance, particularly second-semester progress, is the most significant factor influencing dropout</a:t>
            </a:r>
            <a:r>
              <a:rPr lang="en-GB" sz="2800" dirty="0">
                <a:latin typeface="Times New Roman" panose="02020603050405020304" pitchFamily="18" charset="0"/>
                <a:cs typeface="Times New Roman" panose="02020603050405020304" pitchFamily="18" charset="0"/>
              </a:rPr>
              <a:t>, followed by financial and demographic factors.</a:t>
            </a:r>
          </a:p>
          <a:p>
            <a:pPr marL="457200" indent="-457200" algn="just">
              <a:lnSpc>
                <a:spcPct val="150000"/>
              </a:lnSpc>
              <a:buFont typeface="Arial" panose="020B0604020202020204" pitchFamily="34" charset="0"/>
              <a:buChar char="•"/>
            </a:pPr>
            <a:r>
              <a:rPr lang="en-GB" sz="2800" dirty="0">
                <a:latin typeface="Times New Roman" panose="02020603050405020304" pitchFamily="18" charset="0"/>
                <a:cs typeface="Times New Roman" panose="02020603050405020304" pitchFamily="18" charset="0"/>
              </a:rPr>
              <a:t>Overall, Logistic Regression is more suitable for accurate prediction, whereas LDA is preferable for faster and scalable applications.</a:t>
            </a:r>
          </a:p>
        </p:txBody>
      </p:sp>
      <p:sp>
        <p:nvSpPr>
          <p:cNvPr id="6" name="TextBox 5">
            <a:extLst>
              <a:ext uri="{FF2B5EF4-FFF2-40B4-BE49-F238E27FC236}">
                <a16:creationId xmlns:a16="http://schemas.microsoft.com/office/drawing/2014/main" id="{763960B4-939D-14B4-A36D-21DFF6BCBFB8}"/>
              </a:ext>
            </a:extLst>
          </p:cNvPr>
          <p:cNvSpPr txBox="1"/>
          <p:nvPr/>
        </p:nvSpPr>
        <p:spPr>
          <a:xfrm>
            <a:off x="345931" y="353466"/>
            <a:ext cx="6094268" cy="707886"/>
          </a:xfrm>
          <a:prstGeom prst="rect">
            <a:avLst/>
          </a:prstGeom>
          <a:noFill/>
        </p:spPr>
        <p:txBody>
          <a:bodyPr wrap="square">
            <a:spAutoFit/>
          </a:bodyPr>
          <a:lstStyle/>
          <a:p>
            <a:pPr marL="571500" indent="-571500">
              <a:buFont typeface="Wingdings" panose="05000000000000000000" pitchFamily="2" charset="2"/>
              <a:buChar char="v"/>
            </a:pPr>
            <a:r>
              <a:rPr lang="en-GB" sz="4000" b="1" dirty="0">
                <a:latin typeface="Verdana" panose="020B0604030504040204" pitchFamily="34" charset="0"/>
                <a:ea typeface="Verdana" panose="020B0604030504040204" pitchFamily="34" charset="0"/>
                <a:cs typeface="Times New Roman" panose="02020603050405020304" pitchFamily="18" charset="0"/>
              </a:rPr>
              <a:t>Conclusion</a:t>
            </a:r>
            <a:endParaRPr lang="en-GB" sz="4000" dirty="0">
              <a:latin typeface="Verdana" panose="020B0604030504040204" pitchFamily="34" charset="0"/>
              <a:ea typeface="Verdana" panose="020B0604030504040204" pitchFamily="34" charset="0"/>
              <a:cs typeface="Times New Roman" panose="02020603050405020304" pitchFamily="18" charset="0"/>
            </a:endParaRPr>
          </a:p>
        </p:txBody>
      </p:sp>
    </p:spTree>
    <p:extLst>
      <p:ext uri="{BB962C8B-B14F-4D97-AF65-F5344CB8AC3E}">
        <p14:creationId xmlns:p14="http://schemas.microsoft.com/office/powerpoint/2010/main" val="4121769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anim calcmode="lin" valueType="num">
                                      <p:cBhvr>
                                        <p:cTn id="8"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9" dur="500" fill="hold"/>
                                        <p:tgtEl>
                                          <p:spTgt spid="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4">
                                            <p:txEl>
                                              <p:pRg st="1" end="1"/>
                                            </p:txEl>
                                          </p:spTgt>
                                        </p:tgtEl>
                                        <p:attrNameLst>
                                          <p:attrName>style.visibility</p:attrName>
                                        </p:attrNameLst>
                                      </p:cBhvr>
                                      <p:to>
                                        <p:strVal val="visible"/>
                                      </p:to>
                                    </p:set>
                                    <p:animEffect transition="in" filter="fade">
                                      <p:cBhvr>
                                        <p:cTn id="14" dur="500"/>
                                        <p:tgtEl>
                                          <p:spTgt spid="4">
                                            <p:txEl>
                                              <p:pRg st="1" end="1"/>
                                            </p:txEl>
                                          </p:spTgt>
                                        </p:tgtEl>
                                      </p:cBhvr>
                                    </p:animEffect>
                                    <p:anim calcmode="lin" valueType="num">
                                      <p:cBhvr>
                                        <p:cTn id="15"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16" dur="500" fill="hold"/>
                                        <p:tgtEl>
                                          <p:spTgt spid="4">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4">
                                            <p:txEl>
                                              <p:pRg st="2" end="2"/>
                                            </p:txEl>
                                          </p:spTgt>
                                        </p:tgtEl>
                                        <p:attrNameLst>
                                          <p:attrName>style.visibility</p:attrName>
                                        </p:attrNameLst>
                                      </p:cBhvr>
                                      <p:to>
                                        <p:strVal val="visible"/>
                                      </p:to>
                                    </p:set>
                                    <p:animEffect transition="in" filter="fade">
                                      <p:cBhvr>
                                        <p:cTn id="21" dur="1000"/>
                                        <p:tgtEl>
                                          <p:spTgt spid="4">
                                            <p:txEl>
                                              <p:pRg st="2" end="2"/>
                                            </p:txEl>
                                          </p:spTgt>
                                        </p:tgtEl>
                                      </p:cBhvr>
                                    </p:animEffect>
                                    <p:anim calcmode="lin" valueType="num">
                                      <p:cBhvr>
                                        <p:cTn id="22"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4">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6" name="Rectangle 25">
            <a:extLst>
              <a:ext uri="{FF2B5EF4-FFF2-40B4-BE49-F238E27FC236}">
                <a16:creationId xmlns:a16="http://schemas.microsoft.com/office/drawing/2014/main" id="{955A2079-FA98-4876-80F0-72364A7D2E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98FC87F4-CD62-91FC-B12F-BFDE345F82E0}"/>
              </a:ext>
            </a:extLst>
          </p:cNvPr>
          <p:cNvSpPr txBox="1"/>
          <p:nvPr/>
        </p:nvSpPr>
        <p:spPr>
          <a:xfrm>
            <a:off x="838200" y="173825"/>
            <a:ext cx="10515600" cy="1133499"/>
          </a:xfrm>
          <a:prstGeom prst="rect">
            <a:avLst/>
          </a:prstGeom>
        </p:spPr>
        <p:txBody>
          <a:bodyPr vert="horz" lIns="91440" tIns="45720" rIns="91440" bIns="45720" rtlCol="0" anchor="ctr">
            <a:normAutofit/>
          </a:bodyPr>
          <a:lstStyle/>
          <a:p>
            <a:pPr marL="685800" indent="-685800">
              <a:lnSpc>
                <a:spcPct val="90000"/>
              </a:lnSpc>
              <a:spcBef>
                <a:spcPct val="0"/>
              </a:spcBef>
              <a:spcAft>
                <a:spcPts val="600"/>
              </a:spcAft>
              <a:buFont typeface="Wingdings" panose="05000000000000000000" pitchFamily="2" charset="2"/>
              <a:buChar char="v"/>
            </a:pPr>
            <a:r>
              <a:rPr lang="en-US" sz="4800" b="1" kern="1200" dirty="0">
                <a:solidFill>
                  <a:schemeClr val="tx1"/>
                </a:solidFill>
                <a:latin typeface="Verdana" panose="020B0604030504040204" pitchFamily="34" charset="0"/>
                <a:ea typeface="Verdana" panose="020B0604030504040204" pitchFamily="34" charset="0"/>
                <a:cs typeface="+mj-cs"/>
              </a:rPr>
              <a:t>Future Scope</a:t>
            </a:r>
            <a:endParaRPr lang="en-US" sz="4800" kern="1200" dirty="0">
              <a:solidFill>
                <a:schemeClr val="tx1"/>
              </a:solidFill>
              <a:latin typeface="Verdana" panose="020B0604030504040204" pitchFamily="34" charset="0"/>
              <a:ea typeface="Verdana" panose="020B0604030504040204" pitchFamily="34" charset="0"/>
              <a:cs typeface="+mj-cs"/>
            </a:endParaRPr>
          </a:p>
        </p:txBody>
      </p:sp>
      <p:graphicFrame>
        <p:nvGraphicFramePr>
          <p:cNvPr id="7" name="TextBox 2">
            <a:extLst>
              <a:ext uri="{FF2B5EF4-FFF2-40B4-BE49-F238E27FC236}">
                <a16:creationId xmlns:a16="http://schemas.microsoft.com/office/drawing/2014/main" id="{7E6A6DDB-BE7A-0DED-E424-920F4EF9B5F0}"/>
              </a:ext>
            </a:extLst>
          </p:cNvPr>
          <p:cNvGraphicFramePr/>
          <p:nvPr>
            <p:extLst>
              <p:ext uri="{D42A27DB-BD31-4B8C-83A1-F6EECF244321}">
                <p14:modId xmlns:p14="http://schemas.microsoft.com/office/powerpoint/2010/main" val="1858691987"/>
              </p:ext>
            </p:extLst>
          </p:nvPr>
        </p:nvGraphicFramePr>
        <p:xfrm>
          <a:off x="838200" y="1481149"/>
          <a:ext cx="10515600" cy="495082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9486336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7" grpId="0">
        <p:bldAsOne/>
      </p:bldGraphic>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411CEE4-9E6A-7C7D-A784-503EF4755119}"/>
              </a:ext>
            </a:extLst>
          </p:cNvPr>
          <p:cNvSpPr txBox="1"/>
          <p:nvPr/>
        </p:nvSpPr>
        <p:spPr>
          <a:xfrm>
            <a:off x="415636" y="1284008"/>
            <a:ext cx="11284527" cy="4539191"/>
          </a:xfrm>
          <a:prstGeom prst="rect">
            <a:avLst/>
          </a:prstGeom>
          <a:noFill/>
        </p:spPr>
        <p:txBody>
          <a:bodyPr wrap="square">
            <a:spAutoFit/>
          </a:bodyPr>
          <a:lstStyle/>
          <a:p>
            <a:pPr marL="514350" indent="-514350" algn="just">
              <a:lnSpc>
                <a:spcPct val="150000"/>
              </a:lnSpc>
              <a:buFont typeface="+mj-lt"/>
              <a:buAutoNum type="arabicPeriod"/>
            </a:pPr>
            <a:r>
              <a:rPr lang="en-GB" sz="2800" dirty="0" err="1">
                <a:latin typeface="Times New Roman" panose="02020603050405020304" pitchFamily="18" charset="0"/>
                <a:cs typeface="Times New Roman" panose="02020603050405020304" pitchFamily="18" charset="0"/>
              </a:rPr>
              <a:t>Ujkani</a:t>
            </a:r>
            <a:r>
              <a:rPr lang="en-GB" sz="2800" dirty="0">
                <a:latin typeface="Times New Roman" panose="02020603050405020304" pitchFamily="18" charset="0"/>
                <a:cs typeface="Times New Roman" panose="02020603050405020304" pitchFamily="18" charset="0"/>
              </a:rPr>
              <a:t>, B., </a:t>
            </a:r>
            <a:r>
              <a:rPr lang="en-GB" sz="2800" dirty="0" err="1">
                <a:latin typeface="Times New Roman" panose="02020603050405020304" pitchFamily="18" charset="0"/>
                <a:cs typeface="Times New Roman" panose="02020603050405020304" pitchFamily="18" charset="0"/>
              </a:rPr>
              <a:t>Minkovska</a:t>
            </a:r>
            <a:r>
              <a:rPr lang="en-GB" sz="2800" dirty="0">
                <a:latin typeface="Times New Roman" panose="02020603050405020304" pitchFamily="18" charset="0"/>
                <a:cs typeface="Times New Roman" panose="02020603050405020304" pitchFamily="18" charset="0"/>
              </a:rPr>
              <a:t>, D., &amp; Stoyanova, L. (2022). </a:t>
            </a:r>
            <a:r>
              <a:rPr lang="en-GB" sz="2800" i="1" dirty="0">
                <a:latin typeface="Times New Roman" panose="02020603050405020304" pitchFamily="18" charset="0"/>
                <a:cs typeface="Times New Roman" panose="02020603050405020304" pitchFamily="18" charset="0"/>
              </a:rPr>
              <a:t>Application of Logistic Regression Technique for Predicting Student Dropout</a:t>
            </a:r>
            <a:r>
              <a:rPr lang="en-GB" sz="2800" dirty="0">
                <a:latin typeface="Times New Roman" panose="02020603050405020304" pitchFamily="18" charset="0"/>
                <a:cs typeface="Times New Roman" panose="02020603050405020304" pitchFamily="18" charset="0"/>
              </a:rPr>
              <a:t>. IEEE Conference.</a:t>
            </a:r>
          </a:p>
          <a:p>
            <a:pPr marL="514350" indent="-514350" algn="just">
              <a:lnSpc>
                <a:spcPct val="150000"/>
              </a:lnSpc>
              <a:buFont typeface="+mj-lt"/>
              <a:buAutoNum type="arabicPeriod"/>
            </a:pPr>
            <a:r>
              <a:rPr lang="en-GB" sz="2800" dirty="0">
                <a:latin typeface="Times New Roman" panose="02020603050405020304" pitchFamily="18" charset="0"/>
                <a:cs typeface="Times New Roman" panose="02020603050405020304" pitchFamily="18" charset="0"/>
              </a:rPr>
              <a:t>Hasan, R., et al. (2021). </a:t>
            </a:r>
            <a:r>
              <a:rPr lang="en-GB" sz="2800" i="1" dirty="0">
                <a:latin typeface="Times New Roman" panose="02020603050405020304" pitchFamily="18" charset="0"/>
                <a:cs typeface="Times New Roman" panose="02020603050405020304" pitchFamily="18" charset="0"/>
              </a:rPr>
              <a:t>Student Dropout Prediction using Machine Learning Techniques</a:t>
            </a:r>
            <a:r>
              <a:rPr lang="en-GB" sz="2800" dirty="0">
                <a:latin typeface="Times New Roman" panose="02020603050405020304" pitchFamily="18" charset="0"/>
                <a:cs typeface="Times New Roman" panose="02020603050405020304" pitchFamily="18" charset="0"/>
              </a:rPr>
              <a:t>. IEEE Access.</a:t>
            </a:r>
          </a:p>
          <a:p>
            <a:pPr marL="514350" indent="-514350" algn="just">
              <a:lnSpc>
                <a:spcPct val="150000"/>
              </a:lnSpc>
              <a:buFont typeface="+mj-lt"/>
              <a:buAutoNum type="arabicPeriod"/>
            </a:pPr>
            <a:r>
              <a:rPr lang="en-GB" sz="2800" dirty="0">
                <a:latin typeface="Times New Roman" panose="02020603050405020304" pitchFamily="18" charset="0"/>
                <a:cs typeface="Times New Roman" panose="02020603050405020304" pitchFamily="18" charset="0"/>
              </a:rPr>
              <a:t>Maldonado, S., et al. (2020). </a:t>
            </a:r>
            <a:r>
              <a:rPr lang="en-GB" sz="2800" i="1" dirty="0">
                <a:latin typeface="Times New Roman" panose="02020603050405020304" pitchFamily="18" charset="0"/>
                <a:cs typeface="Times New Roman" panose="02020603050405020304" pitchFamily="18" charset="0"/>
              </a:rPr>
              <a:t>Predicting student retention using classification models</a:t>
            </a:r>
            <a:r>
              <a:rPr lang="en-GB" sz="2800" dirty="0">
                <a:latin typeface="Times New Roman" panose="02020603050405020304" pitchFamily="18" charset="0"/>
                <a:cs typeface="Times New Roman" panose="02020603050405020304" pitchFamily="18" charset="0"/>
              </a:rPr>
              <a:t>. Expert Systems with Applications.</a:t>
            </a:r>
          </a:p>
        </p:txBody>
      </p:sp>
      <p:sp>
        <p:nvSpPr>
          <p:cNvPr id="5" name="TextBox 4">
            <a:extLst>
              <a:ext uri="{FF2B5EF4-FFF2-40B4-BE49-F238E27FC236}">
                <a16:creationId xmlns:a16="http://schemas.microsoft.com/office/drawing/2014/main" id="{6330B1E7-76FA-E38C-62F9-B67A2060B3AB}"/>
              </a:ext>
            </a:extLst>
          </p:cNvPr>
          <p:cNvSpPr txBox="1"/>
          <p:nvPr/>
        </p:nvSpPr>
        <p:spPr>
          <a:xfrm>
            <a:off x="210416" y="326915"/>
            <a:ext cx="6094268" cy="707886"/>
          </a:xfrm>
          <a:prstGeom prst="rect">
            <a:avLst/>
          </a:prstGeom>
          <a:noFill/>
        </p:spPr>
        <p:txBody>
          <a:bodyPr wrap="square">
            <a:spAutoFit/>
          </a:bodyPr>
          <a:lstStyle/>
          <a:p>
            <a:pPr marL="571500" indent="-571500">
              <a:buFont typeface="Wingdings" panose="05000000000000000000" pitchFamily="2" charset="2"/>
              <a:buChar char="v"/>
            </a:pPr>
            <a:r>
              <a:rPr lang="en-GB" sz="4000" b="1" dirty="0">
                <a:latin typeface="Verdana" panose="020B0604030504040204" pitchFamily="34" charset="0"/>
                <a:ea typeface="Verdana" panose="020B0604030504040204" pitchFamily="34" charset="0"/>
              </a:rPr>
              <a:t>References</a:t>
            </a:r>
            <a:endParaRPr lang="en-GB" sz="4000" dirty="0"/>
          </a:p>
        </p:txBody>
      </p:sp>
    </p:spTree>
    <p:extLst>
      <p:ext uri="{BB962C8B-B14F-4D97-AF65-F5344CB8AC3E}">
        <p14:creationId xmlns:p14="http://schemas.microsoft.com/office/powerpoint/2010/main" val="45386603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7457</TotalTime>
  <Words>976</Words>
  <Application>Microsoft Office PowerPoint</Application>
  <PresentationFormat>Widescreen</PresentationFormat>
  <Paragraphs>137</Paragraphs>
  <Slides>21</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21</vt:i4>
      </vt:variant>
    </vt:vector>
  </HeadingPairs>
  <TitlesOfParts>
    <vt:vector size="29" baseType="lpstr">
      <vt:lpstr>Aptos</vt:lpstr>
      <vt:lpstr>Aptos Display</vt:lpstr>
      <vt:lpstr>Arial</vt:lpstr>
      <vt:lpstr>Times New Roman</vt:lpstr>
      <vt:lpstr>Vani</vt:lpstr>
      <vt:lpstr>Verdana</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patel.prem3001@gmail.com</dc:creator>
  <cp:lastModifiedBy>patel.prem3001@gmail.com</cp:lastModifiedBy>
  <cp:revision>14</cp:revision>
  <dcterms:created xsi:type="dcterms:W3CDTF">2026-03-11T06:15:21Z</dcterms:created>
  <dcterms:modified xsi:type="dcterms:W3CDTF">2026-03-27T06:02:09Z</dcterms:modified>
</cp:coreProperties>
</file>